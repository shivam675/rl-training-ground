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Default Extension="mp4" ContentType="video/mp4"/>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2"/>
    <p:sldId id="258" r:id="rId3"/>
    <p:sldId id="259" r:id="rId4"/>
    <p:sldId id="260" r:id="rId33"/>
    <p:sldId id="261" r:id="rId5"/>
    <p:sldId id="262" r:id="rId6"/>
    <p:sldId id="263" r:id="rId7"/>
    <p:sldId id="264" r:id="rId8"/>
    <p:sldId id="265" r:id="rId9"/>
    <p:sldId id="266" r:id="rId10"/>
    <p:sldId id="267" r:id="rId11"/>
    <p:sldId id="268" r:id="rId22"/>
    <p:sldId id="269" r:id="rId23"/>
    <p:sldId id="270" r:id="rId24"/>
    <p:sldId id="271" r:id="rId31"/>
    <p:sldId id="272" r:id="rId25"/>
    <p:sldId id="273" r:id="rId30"/>
    <p:sldId id="274" r:id="rId12"/>
    <p:sldId id="275" r:id="rId26"/>
    <p:sldId id="276" r:id="rId27"/>
    <p:sldId id="277" r:id="rId34"/>
    <p:sldId id="278" r:id="rId35"/>
    <p:sldId id="279" r:id="rId36"/>
    <p:sldId id="280" r:id="rId37"/>
    <p:sldId id="281" r:id="rId29"/>
    <p:sldId id="282" r:id="rId28"/>
    <p:sldId id="283" r:id="rId38"/>
    <p:sldId id="284" r:id="rId39"/>
    <p:sldId id="285" r:id="rId40"/>
    <p:sldId id="286" r:id="rId13"/>
    <p:sldId id="287" r:id="rId14"/>
    <p:sldId id="288" r:id="rId15"/>
    <p:sldId id="28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0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FPS</c:v>
          </c:tx>
          <c:spPr>
            <a:solidFill>
              <a:srgbClr val="0B6B64"/>
            </a:solidFill>
          </c:spPr>
          <c:invertIfNegative val="1"/>
          <c:dLbls>
            <c:spPr>
              <a:noFill/>
              <a:ln>
                <a:noFill/>
              </a:ln>
              <a:effectLst/>
            </c:spPr>
            <c:txPr>
              <a:bodyPr anchorCtr="1"/>
              <a:lstStyle/>
              <a:p>
                <a:pPr>
                  <a:defRPr sz="1200" b="1">
                    <a:solidFill>
                      <a:srgbClr val="18232F"/>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CPU · normal</c:v>
              </c:pt>
              <c:pt idx="1">
                <c:v>CPU · parallel</c:v>
              </c:pt>
              <c:pt idx="2">
                <c:v>Go1 · 4,096</c:v>
              </c:pt>
              <c:pt idx="3">
                <c:v>Valkyrie · 4,096</c:v>
              </c:pt>
            </c:strLit>
          </c:cat>
          <c:val>
            <c:numLit>
              <c:formatCode>General</c:formatCode>
              <c:ptCount val="4"/>
              <c:pt idx="0">
                <c:v>240</c:v>
              </c:pt>
              <c:pt idx="1">
                <c:v>1750</c:v>
              </c:pt>
              <c:pt idx="2">
                <c:v>23539</c:v>
              </c:pt>
              <c:pt idx="3">
                <c:v>14140</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A2F6-440E-9638-770D9265E882}"/>
            </c:ext>
          </c:extLst>
        </c:ser>
        <c:dLbls>
          <c:dLblPos val="outEnd"/>
          <c:showLegendKey val="0"/>
          <c:showVal val="1"/>
          <c:showCatName val="0"/>
          <c:showSerName val="0"/>
          <c:showPercent val="0"/>
          <c:showBubbleSize val="0"/>
        </c:dLbls>
        <c:gapWidth val="44"/>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5DAD6"/>
            </a:solidFill>
            <a:prstDash val="solid"/>
          </a:ln>
        </c:spPr>
        <c:txPr>
          <a:bodyPr anchorCtr="1"/>
          <a:lstStyle/>
          <a:p>
            <a:pPr>
              <a:defRPr sz="1200">
                <a:solidFill>
                  <a:srgbClr val="18232F"/>
                </a:solidFill>
              </a:defRPr>
            </a:pPr>
            <a:endParaRPr lang="en-US"/>
          </a:p>
        </c:txPr>
        <c:crossAx val="48650112"/>
        <c:crosses val="autoZero"/>
        <c:crossBetween val="between"/>
      </c:valAx>
    </c:plotArea>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8B83D-8B6B-422A-A34A-C53CD5301FB8}" type="datetimeFigureOut">
              <a:rPr lang="en-IN" smtClean="0"/>
              <a:t>11-08-2026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597E2-7008-4694-9E00-C34CEE728A78}" type="slidenum">
              <a:rPr lang="en-IN" smtClean="0"/>
              <a:t>‹#›</a:t>
            </a:fld>
            <a:endParaRPr lang="en-IN"/>
          </a:p>
        </p:txBody>
      </p:sp>
    </p:spTree>
    <p:extLst>
      <p:ext uri="{BB962C8B-B14F-4D97-AF65-F5344CB8AC3E}">
        <p14:creationId xmlns:p14="http://schemas.microsoft.com/office/powerpoint/2010/main" val="2723450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8B597E2-7008-4694-9E00-C34CEE728A78}" type="slidenum">
              <a:rPr lang="en-IN" smtClean="0"/>
              <a:t>1</a:t>
            </a:fld>
            <a:endParaRPr lang="en-IN"/>
          </a:p>
        </p:txBody>
      </p:sp>
    </p:spTree>
    <p:extLst>
      <p:ext uri="{BB962C8B-B14F-4D97-AF65-F5344CB8AC3E}">
        <p14:creationId xmlns:p14="http://schemas.microsoft.com/office/powerpoint/2010/main" val="8971137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 Id="rId9" Type="http://schemas.openxmlformats.org/officeDocument/2006/relationships/image" Target="../media/chart_cpu.png"/></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hart_collapse.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hart_throughput.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hart_learning.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hart_all_runs.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hart_curves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hart_behaviour.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hart_efficiency.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walk_ppo.png"/><Relationship Id="rId3" Type="http://schemas.openxmlformats.org/officeDocument/2006/relationships/video" Target="../media/walk_ppo.mp4"/><Relationship Id="rId4" Type="http://schemas.microsoft.com/office/2007/relationships/media" Target="../media/walk_ppo.mp4"/><Relationship Id="rId5" Type="http://schemas.openxmlformats.org/officeDocument/2006/relationships/image" Target="../media/walk_sac.png"/><Relationship Id="rId6" Type="http://schemas.openxmlformats.org/officeDocument/2006/relationships/video" Target="../media/walk_sac.mp4"/><Relationship Id="rId7" Type="http://schemas.microsoft.com/office/2007/relationships/media" Target="../media/walk_sac.mp4"/><Relationship Id="rId8" Type="http://schemas.openxmlformats.org/officeDocument/2006/relationships/image" Target="../media/walk_td3.png"/><Relationship Id="rId9" Type="http://schemas.openxmlformats.org/officeDocument/2006/relationships/video" Target="../media/walk_td3.mp4"/><Relationship Id="rId10" Type="http://schemas.microsoft.com/office/2007/relationships/media" Target="../media/walk_td3.mp4"/></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gait_ppo.png"/><Relationship Id="rId3" Type="http://schemas.openxmlformats.org/officeDocument/2006/relationships/video" Target="../media/gait_ppo.mp4"/><Relationship Id="rId4" Type="http://schemas.microsoft.com/office/2007/relationships/media" Target="../media/gait_ppo.mp4"/><Relationship Id="rId5" Type="http://schemas.openxmlformats.org/officeDocument/2006/relationships/image" Target="../media/gait_sac.png"/><Relationship Id="rId6" Type="http://schemas.openxmlformats.org/officeDocument/2006/relationships/video" Target="../media/gait_sac.mp4"/><Relationship Id="rId7" Type="http://schemas.microsoft.com/office/2007/relationships/media" Target="../media/gait_sac.mp4"/><Relationship Id="rId8" Type="http://schemas.openxmlformats.org/officeDocument/2006/relationships/image" Target="../media/gait_td3.png"/><Relationship Id="rId9" Type="http://schemas.openxmlformats.org/officeDocument/2006/relationships/video" Target="../media/gait_td3.mp4"/><Relationship Id="rId10" Type="http://schemas.microsoft.com/office/2007/relationships/media" Target="../media/gait_td3.mp4"/></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alk_ppo.png"/><Relationship Id="rId3" Type="http://schemas.openxmlformats.org/officeDocument/2006/relationships/video" Target="../media/valk_ppo.mp4"/><Relationship Id="rId4" Type="http://schemas.microsoft.com/office/2007/relationships/media" Target="../media/valk_ppo.mp4"/><Relationship Id="rId5" Type="http://schemas.openxmlformats.org/officeDocument/2006/relationships/image" Target="../media/valk_sac.png"/><Relationship Id="rId6" Type="http://schemas.openxmlformats.org/officeDocument/2006/relationships/video" Target="../media/valk_sac.mp4"/><Relationship Id="rId7" Type="http://schemas.microsoft.com/office/2007/relationships/media" Target="../media/valk_sac.mp4"/><Relationship Id="rId8" Type="http://schemas.openxmlformats.org/officeDocument/2006/relationships/image" Target="../media/valk_td3.png"/><Relationship Id="rId9" Type="http://schemas.openxmlformats.org/officeDocument/2006/relationships/video" Target="../media/valk_td3.mp4"/><Relationship Id="rId10" Type="http://schemas.microsoft.com/office/2007/relationships/media" Target="../media/valk_td3.mp4"/></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hart_cpu.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08E943E-BEB0-46A4-9CB4-C5B1097C37E2}"/>
              </a:ext>
            </a:extLst>
          </p:cNvPr>
          <p:cNvSpPr>
            <a:spLocks noGrp="1"/>
          </p:cNvSpPr>
          <p:nvPr/>
        </p:nvSpPr>
        <p:spPr>
          <a:xfrm>
            <a:off x="0" y="0"/>
            <a:ext cx="171450" cy="6858000"/>
          </a:xfrm>
          <a:prstGeom prst="rect">
            <a:avLst/>
          </a:prstGeom>
          <a:solidFill>
            <a:srgbClr val="0B6B64"/>
          </a:solidFill>
          <a:ln w="0">
            <a:noFill/>
            <a:prstDash val="solid"/>
          </a:ln>
        </p:spPr>
        <p:txBody>
          <a:bodyPr/>
          <a:lstStyle/>
          <a:p>
            <a:endParaRPr lang="en-IN"/>
          </a:p>
        </p:txBody>
      </p:sp>
      <p:sp>
        <p:nvSpPr>
          <p:cNvPr id="2" name="Rectangle 1">
            <a:extLst>
              <a:ext uri="{FF2B5EF4-FFF2-40B4-BE49-F238E27FC236}">
                <a16:creationId xmlns:a16="http://schemas.microsoft.com/office/drawing/2014/main" id="{81679E7F-2388-4DF4-85D9-D4D982FF6A83}"/>
              </a:ext>
            </a:extLst>
          </p:cNvPr>
          <p:cNvSpPr>
            <a:spLocks noGrp="1"/>
          </p:cNvSpPr>
          <p:nvPr/>
        </p:nvSpPr>
        <p:spPr>
          <a:xfrm>
            <a:off x="723900" y="628650"/>
            <a:ext cx="4191000" cy="285750"/>
          </a:xfrm>
          <a:prstGeom prst="rect">
            <a:avLst/>
          </a:prstGeom>
          <a:noFill/>
          <a:ln w="0">
            <a:noFill/>
            <a:prstDash val="solid"/>
          </a:ln>
        </p:spPr>
        <p:txBody>
          <a:bodyPr lIns="0" tIns="0" rIns="0" bIns="0" anchor="t">
            <a:normAutofit/>
          </a:bodyPr>
          <a:lstStyle/>
          <a:p>
            <a:pPr algn="l">
              <a:lnSpc>
                <a:spcPct val="98000"/>
              </a:lnSpc>
              <a:buNone/>
              <a:defRPr sz="1200" b="1" i="0">
                <a:solidFill>
                  <a:srgbClr val="0B6B64"/>
                </a:solidFill>
                <a:latin typeface="Segoe UI Semibold"/>
                <a:ea typeface="Segoe UI Semibold"/>
                <a:cs typeface="Segoe UI Semibold"/>
              </a:defRPr>
            </a:pPr>
            <a:r>
              <a:rPr sz="1200" b="1" i="0">
                <a:solidFill>
                  <a:srgbClr val="0B6B64"/>
                </a:solidFill>
                <a:latin typeface="Segoe UI Semibold"/>
                <a:ea typeface="Segoe UI Semibold"/>
                <a:cs typeface="Segoe UI Semibold"/>
              </a:rPr>
              <a:t>FINAL PROJECT SUBMISSION</a:t>
            </a:r>
          </a:p>
        </p:txBody>
      </p:sp>
      <p:sp>
        <p:nvSpPr>
          <p:cNvPr id="3" name="Rectangle 2">
            <a:extLst>
              <a:ext uri="{FF2B5EF4-FFF2-40B4-BE49-F238E27FC236}">
                <a16:creationId xmlns:a16="http://schemas.microsoft.com/office/drawing/2014/main" id="{C82C6489-6AD7-4C55-ADCB-657F9A7C366C}"/>
              </a:ext>
            </a:extLst>
          </p:cNvPr>
          <p:cNvSpPr>
            <a:spLocks noGrp="1"/>
          </p:cNvSpPr>
          <p:nvPr/>
        </p:nvSpPr>
        <p:spPr>
          <a:xfrm>
            <a:off x="723900" y="1276350"/>
            <a:ext cx="5905500" cy="895350"/>
          </a:xfrm>
          <a:prstGeom prst="rect">
            <a:avLst/>
          </a:prstGeom>
          <a:noFill/>
          <a:ln w="0">
            <a:noFill/>
            <a:prstDash val="solid"/>
          </a:ln>
        </p:spPr>
        <p:txBody>
          <a:bodyPr lIns="0" tIns="0" rIns="0" bIns="0" anchor="t">
            <a:normAutofit/>
          </a:bodyPr>
          <a:lstStyle/>
          <a:p>
            <a:pPr algn="l">
              <a:lnSpc>
                <a:spcPct val="98000"/>
              </a:lnSpc>
              <a:buNone/>
              <a:defRPr sz="5400" b="1" i="0">
                <a:solidFill>
                  <a:srgbClr val="18232F"/>
                </a:solidFill>
                <a:latin typeface="Georgia"/>
                <a:ea typeface="Georgia"/>
                <a:cs typeface="Georgia"/>
              </a:defRPr>
            </a:pPr>
            <a:r>
              <a:rPr sz="5400" b="1" i="0">
                <a:solidFill>
                  <a:srgbClr val="18232F"/>
                </a:solidFill>
                <a:latin typeface="Georgia"/>
                <a:ea typeface="Georgia"/>
                <a:cs typeface="Georgia"/>
              </a:rPr>
              <a:t>EasyRTG</a:t>
            </a:r>
          </a:p>
        </p:txBody>
      </p:sp>
      <p:sp>
        <p:nvSpPr>
          <p:cNvPr id="4" name="Rectangle 3">
            <a:extLst>
              <a:ext uri="{FF2B5EF4-FFF2-40B4-BE49-F238E27FC236}">
                <a16:creationId xmlns:a16="http://schemas.microsoft.com/office/drawing/2014/main" id="{1A5A632A-E5EE-42E2-870A-F99596F8915C}"/>
              </a:ext>
            </a:extLst>
          </p:cNvPr>
          <p:cNvSpPr>
            <a:spLocks noGrp="1"/>
          </p:cNvSpPr>
          <p:nvPr/>
        </p:nvSpPr>
        <p:spPr>
          <a:xfrm>
            <a:off x="762000" y="2286000"/>
            <a:ext cx="5143500" cy="1143000"/>
          </a:xfrm>
          <a:prstGeom prst="rect">
            <a:avLst/>
          </a:prstGeom>
          <a:noFill/>
          <a:ln w="0">
            <a:noFill/>
            <a:prstDash val="solid"/>
          </a:ln>
        </p:spPr>
        <p:txBody>
          <a:bodyPr lIns="0" tIns="0" rIns="0" bIns="0" anchor="t">
            <a:normAutofit/>
          </a:bodyPr>
          <a:lstStyle/>
          <a:p>
            <a:pPr algn="l">
              <a:lnSpc>
                <a:spcPct val="95000"/>
              </a:lnSpc>
              <a:buNone/>
              <a:defRPr sz="2700" b="0" i="0">
                <a:solidFill>
                  <a:srgbClr val="5B6670"/>
                </a:solidFill>
                <a:latin typeface="Segoe UI"/>
                <a:ea typeface="Segoe UI"/>
                <a:cs typeface="Segoe UI"/>
              </a:defRPr>
            </a:pPr>
            <a:r>
              <a:rPr sz="2700" b="0" i="0">
                <a:solidFill>
                  <a:srgbClr val="5B6670"/>
                </a:solidFill>
                <a:latin typeface="Segoe UI"/>
                <a:ea typeface="Segoe UI"/>
                <a:cs typeface="Segoe UI"/>
              </a:rPr>
              <a:t>A no-code training ground</a:t>
            </a:r>
          </a:p>
          <a:p>
            <a:pPr algn="l">
              <a:lnSpc>
                <a:spcPct val="95000"/>
              </a:lnSpc>
              <a:buNone/>
              <a:defRPr sz="2700" b="0" i="0">
                <a:solidFill>
                  <a:srgbClr val="5B6670"/>
                </a:solidFill>
                <a:latin typeface="Segoe UI"/>
                <a:ea typeface="Segoe UI"/>
                <a:cs typeface="Segoe UI"/>
              </a:defRPr>
            </a:pPr>
            <a:r>
              <a:rPr sz="2700" b="0" i="0">
                <a:solidFill>
                  <a:srgbClr val="5B6670"/>
                </a:solidFill>
                <a:latin typeface="Segoe UI"/>
                <a:ea typeface="Segoe UI"/>
                <a:cs typeface="Segoe UI"/>
              </a:rPr>
              <a:t>for robot learning</a:t>
            </a:r>
          </a:p>
        </p:txBody>
      </p:sp>
      <p:sp>
        <p:nvSpPr>
          <p:cNvPr id="5" name="Rectangle 4">
            <a:extLst>
              <a:ext uri="{FF2B5EF4-FFF2-40B4-BE49-F238E27FC236}">
                <a16:creationId xmlns:a16="http://schemas.microsoft.com/office/drawing/2014/main" id="{28FFE3A8-D464-4713-9669-28716DD12BC9}"/>
              </a:ext>
            </a:extLst>
          </p:cNvPr>
          <p:cNvSpPr>
            <a:spLocks noGrp="1"/>
          </p:cNvSpPr>
          <p:nvPr/>
        </p:nvSpPr>
        <p:spPr>
          <a:xfrm>
            <a:off x="762000" y="3676650"/>
            <a:ext cx="1485900" cy="57150"/>
          </a:xfrm>
          <a:prstGeom prst="rect">
            <a:avLst/>
          </a:prstGeom>
          <a:solidFill>
            <a:srgbClr val="0B6B64"/>
          </a:solidFill>
          <a:ln w="0">
            <a:noFill/>
            <a:prstDash val="solid"/>
          </a:ln>
        </p:spPr>
        <p:txBody>
          <a:bodyPr/>
          <a:lstStyle/>
          <a:p>
            <a:endParaRPr lang="en-IN"/>
          </a:p>
        </p:txBody>
      </p:sp>
      <p:sp>
        <p:nvSpPr>
          <p:cNvPr id="6" name="Rectangle 5">
            <a:extLst>
              <a:ext uri="{FF2B5EF4-FFF2-40B4-BE49-F238E27FC236}">
                <a16:creationId xmlns:a16="http://schemas.microsoft.com/office/drawing/2014/main" id="{3A31D188-DEE1-4B16-B681-0F4C4A410406}"/>
              </a:ext>
            </a:extLst>
          </p:cNvPr>
          <p:cNvSpPr>
            <a:spLocks noGrp="1"/>
          </p:cNvSpPr>
          <p:nvPr/>
        </p:nvSpPr>
        <p:spPr>
          <a:xfrm>
            <a:off x="762000" y="4800600"/>
            <a:ext cx="4476750" cy="304800"/>
          </a:xfrm>
          <a:prstGeom prst="rect">
            <a:avLst/>
          </a:prstGeom>
          <a:noFill/>
          <a:ln w="0">
            <a:noFill/>
            <a:prstDash val="solid"/>
          </a:ln>
        </p:spPr>
        <p:txBody>
          <a:bodyPr lIns="0" tIns="0" rIns="0" bIns="0" anchor="t">
            <a:normAutofit/>
          </a:bodyPr>
          <a:lstStyle/>
          <a:p>
            <a:pPr algn="l">
              <a:lnSpc>
                <a:spcPct val="98000"/>
              </a:lnSpc>
              <a:buNone/>
              <a:defRPr sz="1650" b="1" i="0">
                <a:solidFill>
                  <a:srgbClr val="18232F"/>
                </a:solidFill>
                <a:latin typeface="Segoe UI Semibold"/>
                <a:ea typeface="Segoe UI Semibold"/>
                <a:cs typeface="Segoe UI Semibold"/>
              </a:defRPr>
            </a:pPr>
            <a:r>
              <a:rPr sz="1650" b="1" i="0">
                <a:solidFill>
                  <a:srgbClr val="18232F"/>
                </a:solidFill>
                <a:latin typeface="Segoe UI Semibold"/>
                <a:ea typeface="Segoe UI Semibold"/>
                <a:cs typeface="Segoe UI Semibold"/>
              </a:rPr>
              <a:t>Shivam Chavan  ·  3053682</a:t>
            </a:r>
          </a:p>
        </p:txBody>
      </p:sp>
      <p:sp>
        <p:nvSpPr>
          <p:cNvPr id="7" name="Rectangle 6">
            <a:extLst>
              <a:ext uri="{FF2B5EF4-FFF2-40B4-BE49-F238E27FC236}">
                <a16:creationId xmlns:a16="http://schemas.microsoft.com/office/drawing/2014/main" id="{5FB91A15-8400-4A29-B1FC-DF28D2AE1849}"/>
              </a:ext>
            </a:extLst>
          </p:cNvPr>
          <p:cNvSpPr>
            <a:spLocks noGrp="1"/>
          </p:cNvSpPr>
          <p:nvPr/>
        </p:nvSpPr>
        <p:spPr>
          <a:xfrm>
            <a:off x="762000" y="5219700"/>
            <a:ext cx="4000500" cy="266700"/>
          </a:xfrm>
          <a:prstGeom prst="rect">
            <a:avLst/>
          </a:prstGeom>
          <a:noFill/>
          <a:ln w="0">
            <a:noFill/>
            <a:prstDash val="solid"/>
          </a:ln>
        </p:spPr>
        <p:txBody>
          <a:bodyPr lIns="0" tIns="0" rIns="0" bIns="0" anchor="t">
            <a:normAutofit/>
          </a:bodyPr>
          <a:lstStyle/>
          <a:p>
            <a:pPr algn="l">
              <a:lnSpc>
                <a:spcPct val="98000"/>
              </a:lnSpc>
              <a:buNone/>
              <a:defRPr sz="1425" b="0" i="0">
                <a:solidFill>
                  <a:srgbClr val="5B6670"/>
                </a:solidFill>
                <a:latin typeface="Segoe UI"/>
                <a:ea typeface="Segoe UI"/>
                <a:cs typeface="Segoe UI"/>
              </a:defRPr>
            </a:pPr>
            <a:r>
              <a:rPr sz="1425" b="0" i="0">
                <a:solidFill>
                  <a:srgbClr val="5B6670"/>
                </a:solidFill>
                <a:latin typeface="Segoe UI"/>
                <a:ea typeface="Segoe UI"/>
                <a:cs typeface="Segoe UI"/>
              </a:rPr>
              <a:t>Supervisor: Shraddha Naik</a:t>
            </a:r>
          </a:p>
        </p:txBody>
      </p:sp>
      <p:sp>
        <p:nvSpPr>
          <p:cNvPr id="8" name="Rectangle: Rounded Corners 7">
            <a:extLst>
              <a:ext uri="{FF2B5EF4-FFF2-40B4-BE49-F238E27FC236}">
                <a16:creationId xmlns:a16="http://schemas.microsoft.com/office/drawing/2014/main" id="{882C1AD1-F867-4722-BC1E-A70257354C72}"/>
              </a:ext>
            </a:extLst>
          </p:cNvPr>
          <p:cNvSpPr>
            <a:spLocks noGrp="1"/>
          </p:cNvSpPr>
          <p:nvPr/>
        </p:nvSpPr>
        <p:spPr>
          <a:xfrm>
            <a:off x="6867525" y="695325"/>
            <a:ext cx="4667250" cy="5276850"/>
          </a:xfrm>
          <a:prstGeom prst="roundRect">
            <a:avLst>
              <a:gd name="adj" fmla="val 3673"/>
            </a:avLst>
          </a:prstGeom>
          <a:solidFill>
            <a:srgbClr val="FFFFFF"/>
          </a:solidFill>
          <a:ln w="9525">
            <a:solidFill>
              <a:srgbClr val="D5DAD6"/>
            </a:solidFill>
            <a:prstDash val="solid"/>
          </a:ln>
        </p:spPr>
        <p:txBody>
          <a:bodyPr/>
          <a:lstStyle/>
          <a:p>
            <a:endParaRPr lang="en-IN"/>
          </a:p>
        </p:txBody>
      </p:sp>
      <p:pic>
        <p:nvPicPr>
          <p:cNvPr id="20" name="Picture 19"/>
          <p:cNvPicPr>
            <a:picLocks noChangeAspect="1"/>
          </p:cNvPicPr>
          <p:nvPr/>
        </p:nvPicPr>
        <p:blipFill>
          <a:blip r:embed="rId3"/>
          <a:srcRect l="25160" r="25160"/>
          <a:stretch>
            <a:fillRect/>
          </a:stretch>
        </p:blipFill>
        <p:spPr>
          <a:xfrm>
            <a:off x="6896100" y="723900"/>
            <a:ext cx="4610100" cy="5219700"/>
          </a:xfrm>
          <a:prstGeom prst="roundRect">
            <a:avLst>
              <a:gd name="adj" fmla="val 3719"/>
            </a:avLst>
          </a:prstGeom>
        </p:spPr>
      </p:pic>
    </p:spTree>
    <p:extLst>
      <p:ext uri="{BB962C8B-B14F-4D97-AF65-F5344CB8AC3E}">
        <p14:creationId xmlns:p14="http://schemas.microsoft.com/office/powerpoint/2010/main" val="670704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08A11F5-9BE5-45D0-A95A-56BA4082E767}"/>
              </a:ext>
            </a:extLst>
          </p:cNvPr>
          <p:cNvSpPr>
            <a:spLocks noGrp="1"/>
          </p:cNvSpPr>
          <p:nvPr/>
        </p:nvSpPr>
        <p:spPr>
          <a:xfrm>
            <a:off x="11106150" y="266700"/>
            <a:ext cx="400050" cy="228600"/>
          </a:xfrm>
          <a:prstGeom prst="rect">
            <a:avLst/>
          </a:prstGeom>
          <a:noFill/>
          <a:ln w="0">
            <a:noFill/>
            <a:prstDash val="solid"/>
          </a:ln>
        </p:spPr>
        <p:txBody>
          <a:bodyPr lIns="0" tIns="0" rIns="0" bIns="0" anchor="ctr">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03</a:t>
            </a:r>
          </a:p>
        </p:txBody>
      </p:sp>
      <p:sp>
        <p:nvSpPr>
          <p:cNvPr id="4" name="Rectangle 3">
            <a:extLst>
              <a:ext uri="{FF2B5EF4-FFF2-40B4-BE49-F238E27FC236}">
                <a16:creationId xmlns:a16="http://schemas.microsoft.com/office/drawing/2014/main" id="{0E4BE69C-C73E-4781-B68C-EF62273A70B5}"/>
              </a:ext>
            </a:extLst>
          </p:cNvPr>
          <p:cNvSpPr>
            <a:spLocks noGrp="1"/>
          </p:cNvSpPr>
          <p:nvPr/>
        </p:nvSpPr>
        <p:spPr>
          <a:xfrm>
            <a:off x="685800" y="714375"/>
            <a:ext cx="10820400" cy="1162050"/>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To train one robot you must first</a:t>
            </a:r>
          </a:p>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connect six separate systems</a:t>
            </a:r>
          </a:p>
        </p:txBody>
      </p:sp>
      <p:sp>
        <p:nvSpPr>
          <p:cNvPr id="5" name="Rectangle 4">
            <a:extLst>
              <a:ext uri="{FF2B5EF4-FFF2-40B4-BE49-F238E27FC236}">
                <a16:creationId xmlns:a16="http://schemas.microsoft.com/office/drawing/2014/main" id="{EDA64B5F-925A-454C-A2E7-069B0C7CE8BC}"/>
              </a:ext>
            </a:extLst>
          </p:cNvPr>
          <p:cNvSpPr>
            <a:spLocks noGrp="1"/>
          </p:cNvSpPr>
          <p:nvPr/>
        </p:nvSpPr>
        <p:spPr>
          <a:xfrm>
            <a:off x="685800" y="6457950"/>
            <a:ext cx="10820400" cy="9525"/>
          </a:xfrm>
          <a:prstGeom prst="rect">
            <a:avLst/>
          </a:prstGeom>
          <a:solidFill>
            <a:srgbClr val="D5DAD6"/>
          </a:solidFill>
          <a:ln w="0">
            <a:noFill/>
            <a:prstDash val="solid"/>
          </a:ln>
        </p:spPr>
        <p:txBody>
          <a:bodyPr/>
          <a:lstStyle/>
          <a:p>
            <a:endParaRPr lang="en-IN"/>
          </a:p>
        </p:txBody>
      </p:sp>
      <p:sp>
        <p:nvSpPr>
          <p:cNvPr id="8" name="Rectangle 7">
            <a:extLst>
              <a:ext uri="{FF2B5EF4-FFF2-40B4-BE49-F238E27FC236}">
                <a16:creationId xmlns:a16="http://schemas.microsoft.com/office/drawing/2014/main" id="{0D928C84-7692-43D1-BB29-34CDA19339A2}"/>
              </a:ext>
            </a:extLst>
          </p:cNvPr>
          <p:cNvSpPr>
            <a:spLocks noGrp="1"/>
          </p:cNvSpPr>
          <p:nvPr/>
        </p:nvSpPr>
        <p:spPr>
          <a:xfrm>
            <a:off x="685800" y="2114550"/>
            <a:ext cx="9906000" cy="800100"/>
          </a:xfrm>
          <a:prstGeom prst="rect">
            <a:avLst/>
          </a:prstGeom>
          <a:noFill/>
          <a:ln w="0">
            <a:noFill/>
            <a:prstDash val="solid"/>
          </a:ln>
        </p:spPr>
        <p:txBody>
          <a:bodyPr lIns="0" tIns="0" rIns="0" bIns="0" anchor="t">
            <a:normAutofit/>
          </a:bodyPr>
          <a:lstStyle/>
          <a:p>
            <a:pPr algn="l">
              <a:lnSpc>
                <a:spcPct val="103000"/>
              </a:lnSpc>
              <a:buNone/>
              <a:defRPr sz="1800" b="0" i="0">
                <a:solidFill>
                  <a:srgbClr val="5B6670"/>
                </a:solidFill>
                <a:latin typeface="Segoe UI"/>
                <a:ea typeface="Segoe UI"/>
                <a:cs typeface="Segoe UI"/>
              </a:defRPr>
            </a:pPr>
            <a:r>
              <a:rPr sz="1800" b="0" i="0">
                <a:solidFill>
                  <a:srgbClr val="5B6670"/>
                </a:solidFill>
                <a:latin typeface="Segoe UI"/>
                <a:ea typeface="Segoe UI"/>
                <a:cs typeface="Segoe UI"/>
              </a:rPr>
              <a:t>Every piece already works on its own. The hard part is joining them together. Before a robot can learn anything, someone has to connect the physics, the sensors, the motors, the reward, the training code and the tests.</a:t>
            </a:r>
          </a:p>
        </p:txBody>
      </p:sp>
      <p:sp>
        <p:nvSpPr>
          <p:cNvPr id="9" name="Rectangle 8">
            <a:extLst>
              <a:ext uri="{FF2B5EF4-FFF2-40B4-BE49-F238E27FC236}">
                <a16:creationId xmlns:a16="http://schemas.microsoft.com/office/drawing/2014/main" id="{DE216931-7F76-46AC-A639-FEB7C2C5B347}"/>
              </a:ext>
            </a:extLst>
          </p:cNvPr>
          <p:cNvSpPr>
            <a:spLocks noGrp="1"/>
          </p:cNvSpPr>
          <p:nvPr/>
        </p:nvSpPr>
        <p:spPr>
          <a:xfrm>
            <a:off x="838200" y="3790950"/>
            <a:ext cx="10325100" cy="38100"/>
          </a:xfrm>
          <a:prstGeom prst="rect">
            <a:avLst/>
          </a:prstGeom>
          <a:solidFill>
            <a:srgbClr val="F2E2D9"/>
          </a:solidFill>
          <a:ln w="0">
            <a:noFill/>
            <a:prstDash val="solid"/>
          </a:ln>
        </p:spPr>
        <p:txBody>
          <a:bodyPr/>
          <a:lstStyle/>
          <a:p>
            <a:endParaRPr lang="en-IN"/>
          </a:p>
        </p:txBody>
      </p:sp>
      <p:sp>
        <p:nvSpPr>
          <p:cNvPr id="10" name="Rectangle: Rounded Corners 9">
            <a:extLst>
              <a:ext uri="{FF2B5EF4-FFF2-40B4-BE49-F238E27FC236}">
                <a16:creationId xmlns:a16="http://schemas.microsoft.com/office/drawing/2014/main" id="{B34C9CEA-22EF-423C-8772-967E6C1B9A40}"/>
              </a:ext>
            </a:extLst>
          </p:cNvPr>
          <p:cNvSpPr>
            <a:spLocks noGrp="1"/>
          </p:cNvSpPr>
          <p:nvPr/>
        </p:nvSpPr>
        <p:spPr>
          <a:xfrm>
            <a:off x="800100" y="3371850"/>
            <a:ext cx="1609725" cy="914400"/>
          </a:xfrm>
          <a:prstGeom prst="roundRect">
            <a:avLst>
              <a:gd name="adj" fmla="val 16667"/>
            </a:avLst>
          </a:prstGeom>
          <a:solidFill>
            <a:srgbClr val="F2E2D9"/>
          </a:solidFill>
          <a:ln w="9525">
            <a:solidFill>
              <a:srgbClr val="D5DAD6"/>
            </a:solidFill>
            <a:prstDash val="solid"/>
          </a:ln>
        </p:spPr>
        <p:txBody>
          <a:bodyPr/>
          <a:lstStyle/>
          <a:p>
            <a:endParaRPr lang="en-IN"/>
          </a:p>
        </p:txBody>
      </p:sp>
      <p:sp>
        <p:nvSpPr>
          <p:cNvPr id="11" name="Rectangle 10">
            <a:extLst>
              <a:ext uri="{FF2B5EF4-FFF2-40B4-BE49-F238E27FC236}">
                <a16:creationId xmlns:a16="http://schemas.microsoft.com/office/drawing/2014/main" id="{8445367C-EF58-4E6A-965B-F4A76B404659}"/>
              </a:ext>
            </a:extLst>
          </p:cNvPr>
          <p:cNvSpPr>
            <a:spLocks noGrp="1"/>
          </p:cNvSpPr>
          <p:nvPr/>
        </p:nvSpPr>
        <p:spPr>
          <a:xfrm>
            <a:off x="895350" y="3552825"/>
            <a:ext cx="1419225" cy="533400"/>
          </a:xfrm>
          <a:prstGeom prst="rect">
            <a:avLst/>
          </a:prstGeom>
          <a:noFill/>
          <a:ln w="0">
            <a:noFill/>
            <a:prstDash val="solid"/>
          </a:ln>
        </p:spPr>
        <p:txBody>
          <a:bodyPr lIns="0" tIns="0" rIns="0" bIns="0" anchor="ctr">
            <a:normAutofit/>
          </a:bodyPr>
          <a:lstStyle/>
          <a:p>
            <a:pPr algn="ctr">
              <a:lnSpc>
                <a:spcPct val="98000"/>
              </a:lnSpc>
              <a:buNone/>
              <a:defRPr sz="1500" b="1" i="0">
                <a:solidFill>
                  <a:srgbClr val="B8502A"/>
                </a:solidFill>
                <a:latin typeface="Segoe UI Semibold"/>
                <a:ea typeface="Segoe UI Semibold"/>
                <a:cs typeface="Segoe UI Semibold"/>
              </a:defRPr>
            </a:pPr>
            <a:r>
              <a:rPr sz="1500" b="1" i="0">
                <a:solidFill>
                  <a:srgbClr val="B8502A"/>
                </a:solidFill>
                <a:latin typeface="Segoe UI Semibold"/>
                <a:ea typeface="Segoe UI Semibold"/>
                <a:cs typeface="Segoe UI Semibold"/>
              </a:rPr>
              <a:t>Robot model</a:t>
            </a:r>
          </a:p>
        </p:txBody>
      </p:sp>
      <p:sp>
        <p:nvSpPr>
          <p:cNvPr id="12" name="Rectangle 11">
            <a:extLst>
              <a:ext uri="{FF2B5EF4-FFF2-40B4-BE49-F238E27FC236}">
                <a16:creationId xmlns:a16="http://schemas.microsoft.com/office/drawing/2014/main" id="{A61A0CA3-DF02-4347-B3F3-3D0D2D4FDD62}"/>
              </a:ext>
            </a:extLst>
          </p:cNvPr>
          <p:cNvSpPr>
            <a:spLocks noGrp="1"/>
          </p:cNvSpPr>
          <p:nvPr/>
        </p:nvSpPr>
        <p:spPr>
          <a:xfrm>
            <a:off x="2419350" y="3590925"/>
            <a:ext cx="323850" cy="400050"/>
          </a:xfrm>
          <a:prstGeom prst="rect">
            <a:avLst/>
          </a:prstGeom>
          <a:noFill/>
          <a:ln w="0">
            <a:noFill/>
            <a:prstDash val="solid"/>
          </a:ln>
        </p:spPr>
        <p:txBody>
          <a:bodyPr lIns="0" tIns="0" rIns="0" bIns="0" anchor="ctr">
            <a:normAutofit/>
          </a:bodyPr>
          <a:lstStyle/>
          <a:p>
            <a:pPr algn="ctr">
              <a:lnSpc>
                <a:spcPct val="98000"/>
              </a:lnSpc>
              <a:buNone/>
              <a:defRPr sz="1950" b="1" i="0">
                <a:solidFill>
                  <a:srgbClr val="5B6670"/>
                </a:solidFill>
                <a:latin typeface="Segoe UI Semibold"/>
                <a:ea typeface="Segoe UI Semibold"/>
                <a:cs typeface="Segoe UI Semibold"/>
              </a:defRPr>
            </a:pPr>
            <a:r>
              <a:rPr sz="1950" b="1" i="0">
                <a:solidFill>
                  <a:srgbClr val="5B6670"/>
                </a:solidFill>
                <a:latin typeface="Segoe UI Semibold"/>
                <a:ea typeface="Segoe UI Semibold"/>
                <a:cs typeface="Segoe UI Semibold"/>
              </a:rPr>
              <a:t>→</a:t>
            </a:r>
          </a:p>
        </p:txBody>
      </p:sp>
      <p:sp>
        <p:nvSpPr>
          <p:cNvPr id="13" name="Rectangle: Rounded Corners 12">
            <a:extLst>
              <a:ext uri="{FF2B5EF4-FFF2-40B4-BE49-F238E27FC236}">
                <a16:creationId xmlns:a16="http://schemas.microsoft.com/office/drawing/2014/main" id="{1023C914-E899-448B-AB61-B69644C1588A}"/>
              </a:ext>
            </a:extLst>
          </p:cNvPr>
          <p:cNvSpPr>
            <a:spLocks noGrp="1"/>
          </p:cNvSpPr>
          <p:nvPr/>
        </p:nvSpPr>
        <p:spPr>
          <a:xfrm>
            <a:off x="2581275" y="3371850"/>
            <a:ext cx="1609725" cy="914400"/>
          </a:xfrm>
          <a:prstGeom prst="roundRect">
            <a:avLst>
              <a:gd name="adj" fmla="val 16667"/>
            </a:avLst>
          </a:prstGeom>
          <a:solidFill>
            <a:srgbClr val="FFFFFF"/>
          </a:solidFill>
          <a:ln w="9525">
            <a:solidFill>
              <a:srgbClr val="D5DAD6"/>
            </a:solidFill>
            <a:prstDash val="solid"/>
          </a:ln>
        </p:spPr>
        <p:txBody>
          <a:bodyPr/>
          <a:lstStyle/>
          <a:p>
            <a:endParaRPr lang="en-IN"/>
          </a:p>
        </p:txBody>
      </p:sp>
      <p:sp>
        <p:nvSpPr>
          <p:cNvPr id="14" name="Rectangle 13">
            <a:extLst>
              <a:ext uri="{FF2B5EF4-FFF2-40B4-BE49-F238E27FC236}">
                <a16:creationId xmlns:a16="http://schemas.microsoft.com/office/drawing/2014/main" id="{893196B6-C8CC-46C2-B721-797A8D358839}"/>
              </a:ext>
            </a:extLst>
          </p:cNvPr>
          <p:cNvSpPr>
            <a:spLocks noGrp="1"/>
          </p:cNvSpPr>
          <p:nvPr/>
        </p:nvSpPr>
        <p:spPr>
          <a:xfrm>
            <a:off x="2676525" y="3552825"/>
            <a:ext cx="1419225" cy="533400"/>
          </a:xfrm>
          <a:prstGeom prst="rect">
            <a:avLst/>
          </a:prstGeom>
          <a:noFill/>
          <a:ln w="0">
            <a:noFill/>
            <a:prstDash val="solid"/>
          </a:ln>
        </p:spPr>
        <p:txBody>
          <a:bodyPr lIns="0" tIns="0" rIns="0" bIns="0" anchor="ctr">
            <a:normAutofit/>
          </a:bodyPr>
          <a:lstStyle/>
          <a:p>
            <a:pPr algn="ctr">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Simulator</a:t>
            </a:r>
          </a:p>
        </p:txBody>
      </p:sp>
      <p:sp>
        <p:nvSpPr>
          <p:cNvPr id="15" name="Rectangle 14">
            <a:extLst>
              <a:ext uri="{FF2B5EF4-FFF2-40B4-BE49-F238E27FC236}">
                <a16:creationId xmlns:a16="http://schemas.microsoft.com/office/drawing/2014/main" id="{37FC2E99-EFBC-447E-BE59-E7DD78F46E58}"/>
              </a:ext>
            </a:extLst>
          </p:cNvPr>
          <p:cNvSpPr>
            <a:spLocks noGrp="1"/>
          </p:cNvSpPr>
          <p:nvPr/>
        </p:nvSpPr>
        <p:spPr>
          <a:xfrm>
            <a:off x="4200525" y="3590925"/>
            <a:ext cx="323850" cy="400050"/>
          </a:xfrm>
          <a:prstGeom prst="rect">
            <a:avLst/>
          </a:prstGeom>
          <a:noFill/>
          <a:ln w="0">
            <a:noFill/>
            <a:prstDash val="solid"/>
          </a:ln>
        </p:spPr>
        <p:txBody>
          <a:bodyPr lIns="0" tIns="0" rIns="0" bIns="0" anchor="ctr">
            <a:normAutofit/>
          </a:bodyPr>
          <a:lstStyle/>
          <a:p>
            <a:pPr algn="ctr">
              <a:lnSpc>
                <a:spcPct val="98000"/>
              </a:lnSpc>
              <a:buNone/>
              <a:defRPr sz="1950" b="1" i="0">
                <a:solidFill>
                  <a:srgbClr val="5B6670"/>
                </a:solidFill>
                <a:latin typeface="Segoe UI Semibold"/>
                <a:ea typeface="Segoe UI Semibold"/>
                <a:cs typeface="Segoe UI Semibold"/>
              </a:defRPr>
            </a:pPr>
            <a:r>
              <a:rPr sz="1950" b="1" i="0">
                <a:solidFill>
                  <a:srgbClr val="5B6670"/>
                </a:solidFill>
                <a:latin typeface="Segoe UI Semibold"/>
                <a:ea typeface="Segoe UI Semibold"/>
                <a:cs typeface="Segoe UI Semibold"/>
              </a:rPr>
              <a:t>→</a:t>
            </a:r>
          </a:p>
        </p:txBody>
      </p:sp>
      <p:sp>
        <p:nvSpPr>
          <p:cNvPr id="16" name="Rectangle: Rounded Corners 15">
            <a:extLst>
              <a:ext uri="{FF2B5EF4-FFF2-40B4-BE49-F238E27FC236}">
                <a16:creationId xmlns:a16="http://schemas.microsoft.com/office/drawing/2014/main" id="{D153FD06-B228-4394-9960-5448805CD39E}"/>
              </a:ext>
            </a:extLst>
          </p:cNvPr>
          <p:cNvSpPr>
            <a:spLocks noGrp="1"/>
          </p:cNvSpPr>
          <p:nvPr/>
        </p:nvSpPr>
        <p:spPr>
          <a:xfrm>
            <a:off x="4362450" y="3371850"/>
            <a:ext cx="1609725" cy="914400"/>
          </a:xfrm>
          <a:prstGeom prst="roundRect">
            <a:avLst>
              <a:gd name="adj" fmla="val 16667"/>
            </a:avLst>
          </a:prstGeom>
          <a:solidFill>
            <a:srgbClr val="FFFFFF"/>
          </a:solidFill>
          <a:ln w="9525">
            <a:solidFill>
              <a:srgbClr val="D5DAD6"/>
            </a:solidFill>
            <a:prstDash val="solid"/>
          </a:ln>
        </p:spPr>
        <p:txBody>
          <a:bodyPr/>
          <a:lstStyle/>
          <a:p>
            <a:endParaRPr lang="en-IN"/>
          </a:p>
        </p:txBody>
      </p:sp>
      <p:sp>
        <p:nvSpPr>
          <p:cNvPr id="17" name="Rectangle 16">
            <a:extLst>
              <a:ext uri="{FF2B5EF4-FFF2-40B4-BE49-F238E27FC236}">
                <a16:creationId xmlns:a16="http://schemas.microsoft.com/office/drawing/2014/main" id="{2BB7EAEA-A9CB-45E0-B076-D736BFA13D11}"/>
              </a:ext>
            </a:extLst>
          </p:cNvPr>
          <p:cNvSpPr>
            <a:spLocks noGrp="1"/>
          </p:cNvSpPr>
          <p:nvPr/>
        </p:nvSpPr>
        <p:spPr>
          <a:xfrm>
            <a:off x="4457700" y="3552825"/>
            <a:ext cx="1419225" cy="533400"/>
          </a:xfrm>
          <a:prstGeom prst="rect">
            <a:avLst/>
          </a:prstGeom>
          <a:noFill/>
          <a:ln w="0">
            <a:noFill/>
            <a:prstDash val="solid"/>
          </a:ln>
        </p:spPr>
        <p:txBody>
          <a:bodyPr lIns="0" tIns="0" rIns="0" bIns="0" anchor="ctr">
            <a:normAutofit/>
          </a:bodyPr>
          <a:lstStyle/>
          <a:p>
            <a:pPr algn="ctr">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Environment</a:t>
            </a:r>
          </a:p>
        </p:txBody>
      </p:sp>
      <p:sp>
        <p:nvSpPr>
          <p:cNvPr id="18" name="Rectangle 17">
            <a:extLst>
              <a:ext uri="{FF2B5EF4-FFF2-40B4-BE49-F238E27FC236}">
                <a16:creationId xmlns:a16="http://schemas.microsoft.com/office/drawing/2014/main" id="{0CE3D03C-4009-42B0-AA90-13896D44AEBC}"/>
              </a:ext>
            </a:extLst>
          </p:cNvPr>
          <p:cNvSpPr>
            <a:spLocks noGrp="1"/>
          </p:cNvSpPr>
          <p:nvPr/>
        </p:nvSpPr>
        <p:spPr>
          <a:xfrm>
            <a:off x="5981700" y="3590925"/>
            <a:ext cx="323850" cy="400050"/>
          </a:xfrm>
          <a:prstGeom prst="rect">
            <a:avLst/>
          </a:prstGeom>
          <a:noFill/>
          <a:ln w="0">
            <a:noFill/>
            <a:prstDash val="solid"/>
          </a:ln>
        </p:spPr>
        <p:txBody>
          <a:bodyPr lIns="0" tIns="0" rIns="0" bIns="0" anchor="ctr">
            <a:normAutofit/>
          </a:bodyPr>
          <a:lstStyle/>
          <a:p>
            <a:pPr algn="ctr">
              <a:lnSpc>
                <a:spcPct val="98000"/>
              </a:lnSpc>
              <a:buNone/>
              <a:defRPr sz="1950" b="1" i="0">
                <a:solidFill>
                  <a:srgbClr val="5B6670"/>
                </a:solidFill>
                <a:latin typeface="Segoe UI Semibold"/>
                <a:ea typeface="Segoe UI Semibold"/>
                <a:cs typeface="Segoe UI Semibold"/>
              </a:defRPr>
            </a:pPr>
            <a:r>
              <a:rPr sz="1950" b="1" i="0">
                <a:solidFill>
                  <a:srgbClr val="5B6670"/>
                </a:solidFill>
                <a:latin typeface="Segoe UI Semibold"/>
                <a:ea typeface="Segoe UI Semibold"/>
                <a:cs typeface="Segoe UI Semibold"/>
              </a:rPr>
              <a:t>→</a:t>
            </a:r>
          </a:p>
        </p:txBody>
      </p:sp>
      <p:sp>
        <p:nvSpPr>
          <p:cNvPr id="19" name="Rectangle: Rounded Corners 18">
            <a:extLst>
              <a:ext uri="{FF2B5EF4-FFF2-40B4-BE49-F238E27FC236}">
                <a16:creationId xmlns:a16="http://schemas.microsoft.com/office/drawing/2014/main" id="{2E7D61AD-783E-492A-81DB-E086FFC3FADD}"/>
              </a:ext>
            </a:extLst>
          </p:cNvPr>
          <p:cNvSpPr>
            <a:spLocks noGrp="1"/>
          </p:cNvSpPr>
          <p:nvPr/>
        </p:nvSpPr>
        <p:spPr>
          <a:xfrm>
            <a:off x="6143625" y="3371850"/>
            <a:ext cx="1609725" cy="914400"/>
          </a:xfrm>
          <a:prstGeom prst="roundRect">
            <a:avLst>
              <a:gd name="adj" fmla="val 16667"/>
            </a:avLst>
          </a:prstGeom>
          <a:solidFill>
            <a:srgbClr val="FFFFFF"/>
          </a:solidFill>
          <a:ln w="9525">
            <a:solidFill>
              <a:srgbClr val="D5DAD6"/>
            </a:solidFill>
            <a:prstDash val="solid"/>
          </a:ln>
        </p:spPr>
        <p:txBody>
          <a:bodyPr/>
          <a:lstStyle/>
          <a:p>
            <a:endParaRPr lang="en-IN"/>
          </a:p>
        </p:txBody>
      </p:sp>
      <p:sp>
        <p:nvSpPr>
          <p:cNvPr id="20" name="Rectangle 19">
            <a:extLst>
              <a:ext uri="{FF2B5EF4-FFF2-40B4-BE49-F238E27FC236}">
                <a16:creationId xmlns:a16="http://schemas.microsoft.com/office/drawing/2014/main" id="{42F0A0FC-B2DC-4E3F-9ECA-A9A391AFB066}"/>
              </a:ext>
            </a:extLst>
          </p:cNvPr>
          <p:cNvSpPr>
            <a:spLocks noGrp="1"/>
          </p:cNvSpPr>
          <p:nvPr/>
        </p:nvSpPr>
        <p:spPr>
          <a:xfrm>
            <a:off x="6238875" y="3552825"/>
            <a:ext cx="1419225" cy="533400"/>
          </a:xfrm>
          <a:prstGeom prst="rect">
            <a:avLst/>
          </a:prstGeom>
          <a:noFill/>
          <a:ln w="0">
            <a:noFill/>
            <a:prstDash val="solid"/>
          </a:ln>
        </p:spPr>
        <p:txBody>
          <a:bodyPr lIns="0" tIns="0" rIns="0" bIns="0" anchor="ctr">
            <a:normAutofit/>
          </a:bodyPr>
          <a:lstStyle/>
          <a:p>
            <a:pPr algn="ctr">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Reward</a:t>
            </a:r>
          </a:p>
        </p:txBody>
      </p:sp>
      <p:sp>
        <p:nvSpPr>
          <p:cNvPr id="21" name="Rectangle 20">
            <a:extLst>
              <a:ext uri="{FF2B5EF4-FFF2-40B4-BE49-F238E27FC236}">
                <a16:creationId xmlns:a16="http://schemas.microsoft.com/office/drawing/2014/main" id="{F3659F47-EC57-49B8-875A-8F8ED91E583C}"/>
              </a:ext>
            </a:extLst>
          </p:cNvPr>
          <p:cNvSpPr>
            <a:spLocks noGrp="1"/>
          </p:cNvSpPr>
          <p:nvPr/>
        </p:nvSpPr>
        <p:spPr>
          <a:xfrm>
            <a:off x="7762875" y="3590925"/>
            <a:ext cx="323850" cy="400050"/>
          </a:xfrm>
          <a:prstGeom prst="rect">
            <a:avLst/>
          </a:prstGeom>
          <a:noFill/>
          <a:ln w="0">
            <a:noFill/>
            <a:prstDash val="solid"/>
          </a:ln>
        </p:spPr>
        <p:txBody>
          <a:bodyPr lIns="0" tIns="0" rIns="0" bIns="0" anchor="ctr">
            <a:normAutofit/>
          </a:bodyPr>
          <a:lstStyle/>
          <a:p>
            <a:pPr algn="ctr">
              <a:lnSpc>
                <a:spcPct val="98000"/>
              </a:lnSpc>
              <a:buNone/>
              <a:defRPr sz="1950" b="1" i="0">
                <a:solidFill>
                  <a:srgbClr val="5B6670"/>
                </a:solidFill>
                <a:latin typeface="Segoe UI Semibold"/>
                <a:ea typeface="Segoe UI Semibold"/>
                <a:cs typeface="Segoe UI Semibold"/>
              </a:defRPr>
            </a:pPr>
            <a:r>
              <a:rPr sz="1950" b="1" i="0">
                <a:solidFill>
                  <a:srgbClr val="5B6670"/>
                </a:solidFill>
                <a:latin typeface="Segoe UI Semibold"/>
                <a:ea typeface="Segoe UI Semibold"/>
                <a:cs typeface="Segoe UI Semibold"/>
              </a:rPr>
              <a:t>→</a:t>
            </a:r>
          </a:p>
        </p:txBody>
      </p:sp>
      <p:sp>
        <p:nvSpPr>
          <p:cNvPr id="22" name="Rectangle: Rounded Corners 21">
            <a:extLst>
              <a:ext uri="{FF2B5EF4-FFF2-40B4-BE49-F238E27FC236}">
                <a16:creationId xmlns:a16="http://schemas.microsoft.com/office/drawing/2014/main" id="{0A600019-FE90-4826-A31B-2979797C252A}"/>
              </a:ext>
            </a:extLst>
          </p:cNvPr>
          <p:cNvSpPr>
            <a:spLocks noGrp="1"/>
          </p:cNvSpPr>
          <p:nvPr/>
        </p:nvSpPr>
        <p:spPr>
          <a:xfrm>
            <a:off x="7924800" y="3371850"/>
            <a:ext cx="1609725" cy="914400"/>
          </a:xfrm>
          <a:prstGeom prst="roundRect">
            <a:avLst>
              <a:gd name="adj" fmla="val 16667"/>
            </a:avLst>
          </a:prstGeom>
          <a:solidFill>
            <a:srgbClr val="FFFFFF"/>
          </a:solidFill>
          <a:ln w="9525">
            <a:solidFill>
              <a:srgbClr val="D5DAD6"/>
            </a:solidFill>
            <a:prstDash val="solid"/>
          </a:ln>
        </p:spPr>
        <p:txBody>
          <a:bodyPr/>
          <a:lstStyle/>
          <a:p>
            <a:endParaRPr lang="en-IN"/>
          </a:p>
        </p:txBody>
      </p:sp>
      <p:sp>
        <p:nvSpPr>
          <p:cNvPr id="23" name="Rectangle 22">
            <a:extLst>
              <a:ext uri="{FF2B5EF4-FFF2-40B4-BE49-F238E27FC236}">
                <a16:creationId xmlns:a16="http://schemas.microsoft.com/office/drawing/2014/main" id="{4AAB5D6E-D72A-4ECD-A341-ABD1CF148C53}"/>
              </a:ext>
            </a:extLst>
          </p:cNvPr>
          <p:cNvSpPr>
            <a:spLocks noGrp="1"/>
          </p:cNvSpPr>
          <p:nvPr/>
        </p:nvSpPr>
        <p:spPr>
          <a:xfrm>
            <a:off x="8020050" y="3552825"/>
            <a:ext cx="1419225" cy="533400"/>
          </a:xfrm>
          <a:prstGeom prst="rect">
            <a:avLst/>
          </a:prstGeom>
          <a:noFill/>
          <a:ln w="0">
            <a:noFill/>
            <a:prstDash val="solid"/>
          </a:ln>
        </p:spPr>
        <p:txBody>
          <a:bodyPr lIns="0" tIns="0" rIns="0" bIns="0" anchor="ctr">
            <a:normAutofit/>
          </a:bodyPr>
          <a:lstStyle/>
          <a:p>
            <a:pPr algn="ctr">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Training</a:t>
            </a:r>
          </a:p>
        </p:txBody>
      </p:sp>
      <p:sp>
        <p:nvSpPr>
          <p:cNvPr id="24" name="Rectangle 23">
            <a:extLst>
              <a:ext uri="{FF2B5EF4-FFF2-40B4-BE49-F238E27FC236}">
                <a16:creationId xmlns:a16="http://schemas.microsoft.com/office/drawing/2014/main" id="{B0C46C3C-F370-4673-986F-AE8709F7167D}"/>
              </a:ext>
            </a:extLst>
          </p:cNvPr>
          <p:cNvSpPr>
            <a:spLocks noGrp="1"/>
          </p:cNvSpPr>
          <p:nvPr/>
        </p:nvSpPr>
        <p:spPr>
          <a:xfrm>
            <a:off x="9544050" y="3590925"/>
            <a:ext cx="323850" cy="400050"/>
          </a:xfrm>
          <a:prstGeom prst="rect">
            <a:avLst/>
          </a:prstGeom>
          <a:noFill/>
          <a:ln w="0">
            <a:noFill/>
            <a:prstDash val="solid"/>
          </a:ln>
        </p:spPr>
        <p:txBody>
          <a:bodyPr lIns="0" tIns="0" rIns="0" bIns="0" anchor="ctr">
            <a:normAutofit/>
          </a:bodyPr>
          <a:lstStyle/>
          <a:p>
            <a:pPr algn="ctr">
              <a:lnSpc>
                <a:spcPct val="98000"/>
              </a:lnSpc>
              <a:buNone/>
              <a:defRPr sz="1950" b="1" i="0">
                <a:solidFill>
                  <a:srgbClr val="5B6670"/>
                </a:solidFill>
                <a:latin typeface="Segoe UI Semibold"/>
                <a:ea typeface="Segoe UI Semibold"/>
                <a:cs typeface="Segoe UI Semibold"/>
              </a:defRPr>
            </a:pPr>
            <a:r>
              <a:rPr sz="1950" b="1" i="0">
                <a:solidFill>
                  <a:srgbClr val="5B6670"/>
                </a:solidFill>
                <a:latin typeface="Segoe UI Semibold"/>
                <a:ea typeface="Segoe UI Semibold"/>
                <a:cs typeface="Segoe UI Semibold"/>
              </a:rPr>
              <a:t>→</a:t>
            </a:r>
          </a:p>
        </p:txBody>
      </p:sp>
      <p:sp>
        <p:nvSpPr>
          <p:cNvPr id="25" name="Rectangle: Rounded Corners 24">
            <a:extLst>
              <a:ext uri="{FF2B5EF4-FFF2-40B4-BE49-F238E27FC236}">
                <a16:creationId xmlns:a16="http://schemas.microsoft.com/office/drawing/2014/main" id="{691FD09C-F7FE-4E03-8254-6FA36A93DB5B}"/>
              </a:ext>
            </a:extLst>
          </p:cNvPr>
          <p:cNvSpPr>
            <a:spLocks noGrp="1"/>
          </p:cNvSpPr>
          <p:nvPr/>
        </p:nvSpPr>
        <p:spPr>
          <a:xfrm>
            <a:off x="9705975" y="3371850"/>
            <a:ext cx="1609725" cy="914400"/>
          </a:xfrm>
          <a:prstGeom prst="roundRect">
            <a:avLst>
              <a:gd name="adj" fmla="val 16667"/>
            </a:avLst>
          </a:prstGeom>
          <a:solidFill>
            <a:srgbClr val="F2E2D9"/>
          </a:solidFill>
          <a:ln w="9525">
            <a:solidFill>
              <a:srgbClr val="D5DAD6"/>
            </a:solidFill>
            <a:prstDash val="solid"/>
          </a:ln>
        </p:spPr>
        <p:txBody>
          <a:bodyPr/>
          <a:lstStyle/>
          <a:p>
            <a:endParaRPr lang="en-IN"/>
          </a:p>
        </p:txBody>
      </p:sp>
      <p:sp>
        <p:nvSpPr>
          <p:cNvPr id="26" name="Rectangle 25">
            <a:extLst>
              <a:ext uri="{FF2B5EF4-FFF2-40B4-BE49-F238E27FC236}">
                <a16:creationId xmlns:a16="http://schemas.microsoft.com/office/drawing/2014/main" id="{066D0542-134D-4CC0-84CA-7E183DF7E4B7}"/>
              </a:ext>
            </a:extLst>
          </p:cNvPr>
          <p:cNvSpPr>
            <a:spLocks noGrp="1"/>
          </p:cNvSpPr>
          <p:nvPr/>
        </p:nvSpPr>
        <p:spPr>
          <a:xfrm>
            <a:off x="9801225" y="3552825"/>
            <a:ext cx="1419225" cy="533400"/>
          </a:xfrm>
          <a:prstGeom prst="rect">
            <a:avLst/>
          </a:prstGeom>
          <a:noFill/>
          <a:ln w="0">
            <a:noFill/>
            <a:prstDash val="solid"/>
          </a:ln>
        </p:spPr>
        <p:txBody>
          <a:bodyPr lIns="0" tIns="0" rIns="0" bIns="0" anchor="ctr">
            <a:normAutofit/>
          </a:bodyPr>
          <a:lstStyle/>
          <a:p>
            <a:pPr algn="ctr">
              <a:lnSpc>
                <a:spcPct val="98000"/>
              </a:lnSpc>
              <a:buNone/>
              <a:defRPr sz="1500" b="1" i="0">
                <a:solidFill>
                  <a:srgbClr val="B8502A"/>
                </a:solidFill>
                <a:latin typeface="Segoe UI Semibold"/>
                <a:ea typeface="Segoe UI Semibold"/>
                <a:cs typeface="Segoe UI Semibold"/>
              </a:defRPr>
            </a:pPr>
            <a:r>
              <a:rPr sz="1500" b="1" i="0">
                <a:solidFill>
                  <a:srgbClr val="B8502A"/>
                </a:solidFill>
                <a:latin typeface="Segoe UI Semibold"/>
                <a:ea typeface="Segoe UI Semibold"/>
                <a:cs typeface="Segoe UI Semibold"/>
              </a:rPr>
              <a:t>Evaluation</a:t>
            </a:r>
          </a:p>
        </p:txBody>
      </p:sp>
      <p:sp>
        <p:nvSpPr>
          <p:cNvPr id="27" name="Rectangle 26">
            <a:extLst>
              <a:ext uri="{FF2B5EF4-FFF2-40B4-BE49-F238E27FC236}">
                <a16:creationId xmlns:a16="http://schemas.microsoft.com/office/drawing/2014/main" id="{F3D68987-447B-4907-84F9-496CFF8E175D}"/>
              </a:ext>
            </a:extLst>
          </p:cNvPr>
          <p:cNvSpPr>
            <a:spLocks noGrp="1"/>
          </p:cNvSpPr>
          <p:nvPr/>
        </p:nvSpPr>
        <p:spPr>
          <a:xfrm>
            <a:off x="2095500" y="4953000"/>
            <a:ext cx="8001000" cy="533400"/>
          </a:xfrm>
          <a:prstGeom prst="rect">
            <a:avLst/>
          </a:prstGeom>
          <a:noFill/>
          <a:ln w="0">
            <a:noFill/>
            <a:prstDash val="solid"/>
          </a:ln>
        </p:spPr>
        <p:txBody>
          <a:bodyPr lIns="0" tIns="0" rIns="0" bIns="0" anchor="t">
            <a:normAutofit fontScale="88183" lnSpcReduction="10000"/>
          </a:bodyPr>
          <a:lstStyle/>
          <a:p>
            <a:pPr algn="ctr">
              <a:lnSpc>
                <a:spcPct val="98000"/>
              </a:lnSpc>
              <a:buNone/>
              <a:defRPr sz="2025" b="0" i="1">
                <a:solidFill>
                  <a:srgbClr val="18232F"/>
                </a:solidFill>
                <a:latin typeface="Georgia"/>
                <a:ea typeface="Georgia"/>
                <a:cs typeface="Georgia"/>
              </a:defRPr>
            </a:pPr>
            <a:r>
              <a:rPr sz="2025" b="0" i="1">
                <a:solidFill>
                  <a:srgbClr val="18232F"/>
                </a:solidFill>
                <a:latin typeface="Georgia"/>
                <a:ea typeface="Georgia"/>
                <a:cs typeface="Georgia"/>
              </a:rPr>
              <a:t>The user only wants the robot to walk. The first thing they actually have to do is write software.</a:t>
            </a:r>
          </a:p>
        </p:txBody>
      </p:sp>
    </p:spTree>
    <p:extLst>
      <p:ext uri="{BB962C8B-B14F-4D97-AF65-F5344CB8AC3E}">
        <p14:creationId xmlns:p14="http://schemas.microsoft.com/office/powerpoint/2010/main" val="1245487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8422C76-0683-448B-BE04-CABCB84EAC14}"/>
              </a:ext>
            </a:extLst>
          </p:cNvPr>
          <p:cNvSpPr>
            <a:spLocks noGrp="1"/>
          </p:cNvSpPr>
          <p:nvPr/>
        </p:nvSpPr>
        <p:spPr>
          <a:xfrm>
            <a:off x="11106150" y="266700"/>
            <a:ext cx="400050" cy="228600"/>
          </a:xfrm>
          <a:prstGeom prst="rect">
            <a:avLst/>
          </a:prstGeom>
          <a:noFill/>
          <a:ln w="0">
            <a:noFill/>
            <a:prstDash val="solid"/>
          </a:ln>
        </p:spPr>
        <p:txBody>
          <a:bodyPr lIns="0" tIns="0" rIns="0" bIns="0" anchor="ctr">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04</a:t>
            </a:r>
          </a:p>
        </p:txBody>
      </p:sp>
      <p:sp>
        <p:nvSpPr>
          <p:cNvPr id="4" name="Rectangle 3">
            <a:extLst>
              <a:ext uri="{FF2B5EF4-FFF2-40B4-BE49-F238E27FC236}">
                <a16:creationId xmlns:a16="http://schemas.microsoft.com/office/drawing/2014/main" id="{BE4EF67D-CC9C-4C11-8CE2-4921C1EFE9E4}"/>
              </a:ext>
            </a:extLst>
          </p:cNvPr>
          <p:cNvSpPr>
            <a:spLocks noGrp="1"/>
          </p:cNvSpPr>
          <p:nvPr/>
        </p:nvSpPr>
        <p:spPr>
          <a:xfrm>
            <a:off x="685800" y="714375"/>
            <a:ext cx="10820400" cy="1162050"/>
          </a:xfrm>
          <a:prstGeom prst="rect">
            <a:avLst/>
          </a:prstGeom>
          <a:noFill/>
          <a:ln w="0">
            <a:noFill/>
            <a:prstDash val="solid"/>
          </a:ln>
        </p:spPr>
        <p:txBody>
          <a:bodyPr lIns="0" tIns="0" rIns="0" bIns="0" anchor="t">
            <a:normAutofit fontScale="95288"/>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The tools all exist, but putting them</a:t>
            </a:r>
          </a:p>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together still needs an expert</a:t>
            </a:r>
          </a:p>
        </p:txBody>
      </p:sp>
      <p:sp>
        <p:nvSpPr>
          <p:cNvPr id="5" name="Rectangle 4">
            <a:extLst>
              <a:ext uri="{FF2B5EF4-FFF2-40B4-BE49-F238E27FC236}">
                <a16:creationId xmlns:a16="http://schemas.microsoft.com/office/drawing/2014/main" id="{569906FF-CF26-437D-BCA6-68C1350FD8D6}"/>
              </a:ext>
            </a:extLst>
          </p:cNvPr>
          <p:cNvSpPr>
            <a:spLocks noGrp="1"/>
          </p:cNvSpPr>
          <p:nvPr/>
        </p:nvSpPr>
        <p:spPr>
          <a:xfrm>
            <a:off x="685800" y="6457950"/>
            <a:ext cx="10820400" cy="9525"/>
          </a:xfrm>
          <a:prstGeom prst="rect">
            <a:avLst/>
          </a:prstGeom>
          <a:solidFill>
            <a:srgbClr val="D5DAD6"/>
          </a:solidFill>
          <a:ln w="0">
            <a:noFill/>
            <a:prstDash val="solid"/>
          </a:ln>
        </p:spPr>
        <p:txBody>
          <a:bodyPr/>
          <a:lstStyle/>
          <a:p>
            <a:endParaRPr lang="en-IN"/>
          </a:p>
        </p:txBody>
      </p:sp>
      <p:sp>
        <p:nvSpPr>
          <p:cNvPr id="8" name="Rectangle 7">
            <a:extLst>
              <a:ext uri="{FF2B5EF4-FFF2-40B4-BE49-F238E27FC236}">
                <a16:creationId xmlns:a16="http://schemas.microsoft.com/office/drawing/2014/main" id="{1D6FFC86-54C3-49E5-B375-8CCE2F6A85B9}"/>
              </a:ext>
            </a:extLst>
          </p:cNvPr>
          <p:cNvSpPr>
            <a:spLocks noGrp="1"/>
          </p:cNvSpPr>
          <p:nvPr/>
        </p:nvSpPr>
        <p:spPr>
          <a:xfrm>
            <a:off x="781050" y="2171700"/>
            <a:ext cx="3905250" cy="323850"/>
          </a:xfrm>
          <a:prstGeom prst="rect">
            <a:avLst/>
          </a:prstGeom>
          <a:noFill/>
          <a:ln w="0">
            <a:noFill/>
            <a:prstDash val="solid"/>
          </a:ln>
        </p:spPr>
        <p:txBody>
          <a:bodyPr lIns="0" tIns="0" rIns="0" bIns="0" anchor="t">
            <a:normAutofit/>
          </a:bodyPr>
          <a:lstStyle/>
          <a:p>
            <a:pPr algn="l">
              <a:lnSpc>
                <a:spcPct val="98000"/>
              </a:lnSpc>
              <a:buNone/>
              <a:defRPr sz="1950" b="1" i="0">
                <a:solidFill>
                  <a:srgbClr val="0B6B64"/>
                </a:solidFill>
                <a:latin typeface="Segoe UI Semibold"/>
                <a:ea typeface="Segoe UI Semibold"/>
                <a:cs typeface="Segoe UI Semibold"/>
              </a:defRPr>
            </a:pPr>
            <a:r>
              <a:rPr sz="1950" b="1" i="0">
                <a:solidFill>
                  <a:srgbClr val="0B6B64"/>
                </a:solidFill>
                <a:latin typeface="Segoe UI Semibold"/>
                <a:ea typeface="Segoe UI Semibold"/>
                <a:cs typeface="Segoe UI Semibold"/>
              </a:rPr>
              <a:t>What already exists</a:t>
            </a:r>
          </a:p>
        </p:txBody>
      </p:sp>
      <p:sp>
        <p:nvSpPr>
          <p:cNvPr id="9" name="Rectangle 8">
            <a:extLst>
              <a:ext uri="{FF2B5EF4-FFF2-40B4-BE49-F238E27FC236}">
                <a16:creationId xmlns:a16="http://schemas.microsoft.com/office/drawing/2014/main" id="{F24EBFD1-30A1-405F-A13D-7500EE63AEE4}"/>
              </a:ext>
            </a:extLst>
          </p:cNvPr>
          <p:cNvSpPr>
            <a:spLocks noGrp="1"/>
          </p:cNvSpPr>
          <p:nvPr/>
        </p:nvSpPr>
        <p:spPr>
          <a:xfrm>
            <a:off x="781050" y="2800350"/>
            <a:ext cx="1619250" cy="26670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Simulation</a:t>
            </a:r>
          </a:p>
        </p:txBody>
      </p:sp>
      <p:sp>
        <p:nvSpPr>
          <p:cNvPr id="10" name="Rectangle 9">
            <a:extLst>
              <a:ext uri="{FF2B5EF4-FFF2-40B4-BE49-F238E27FC236}">
                <a16:creationId xmlns:a16="http://schemas.microsoft.com/office/drawing/2014/main" id="{D41C64F7-313A-426C-B896-28771631FC9C}"/>
              </a:ext>
            </a:extLst>
          </p:cNvPr>
          <p:cNvSpPr>
            <a:spLocks noGrp="1"/>
          </p:cNvSpPr>
          <p:nvPr/>
        </p:nvSpPr>
        <p:spPr>
          <a:xfrm>
            <a:off x="2381250" y="2800350"/>
            <a:ext cx="3238500" cy="476250"/>
          </a:xfrm>
          <a:prstGeom prst="rect">
            <a:avLst/>
          </a:prstGeom>
          <a:noFill/>
          <a:ln w="0">
            <a:noFill/>
            <a:prstDash val="solid"/>
          </a:ln>
        </p:spPr>
        <p:txBody>
          <a:bodyPr lIns="0" tIns="0" rIns="0" bIns="0" anchor="t">
            <a:normAutofit/>
          </a:bodyPr>
          <a:lstStyle/>
          <a:p>
            <a:pPr algn="l">
              <a:lnSpc>
                <a:spcPct val="98000"/>
              </a:lnSpc>
              <a:buNone/>
              <a:defRPr sz="1500" b="0" i="0">
                <a:solidFill>
                  <a:srgbClr val="5B6670"/>
                </a:solidFill>
                <a:latin typeface="Segoe UI"/>
                <a:ea typeface="Segoe UI"/>
                <a:cs typeface="Segoe UI"/>
              </a:defRPr>
            </a:pPr>
            <a:r>
              <a:rPr sz="1500" b="0" i="0">
                <a:solidFill>
                  <a:srgbClr val="5B6670"/>
                </a:solidFill>
                <a:latin typeface="Segoe UI"/>
                <a:ea typeface="Segoe UI"/>
                <a:cs typeface="Segoe UI"/>
              </a:rPr>
              <a:t>PyBullet · Brax · NVIDIA Isaac</a:t>
            </a:r>
          </a:p>
        </p:txBody>
      </p:sp>
      <p:sp>
        <p:nvSpPr>
          <p:cNvPr id="11" name="Rectangle 10">
            <a:extLst>
              <a:ext uri="{FF2B5EF4-FFF2-40B4-BE49-F238E27FC236}">
                <a16:creationId xmlns:a16="http://schemas.microsoft.com/office/drawing/2014/main" id="{BD8E352C-559D-425C-9F47-3132C24DD39A}"/>
              </a:ext>
            </a:extLst>
          </p:cNvPr>
          <p:cNvSpPr>
            <a:spLocks noGrp="1"/>
          </p:cNvSpPr>
          <p:nvPr/>
        </p:nvSpPr>
        <p:spPr>
          <a:xfrm>
            <a:off x="781050" y="3371850"/>
            <a:ext cx="4762500" cy="9525"/>
          </a:xfrm>
          <a:prstGeom prst="rect">
            <a:avLst/>
          </a:prstGeom>
          <a:solidFill>
            <a:srgbClr val="D5DAD6"/>
          </a:solidFill>
          <a:ln w="0">
            <a:noFill/>
            <a:prstDash val="solid"/>
          </a:ln>
        </p:spPr>
        <p:txBody>
          <a:bodyPr/>
          <a:lstStyle/>
          <a:p>
            <a:endParaRPr lang="en-IN"/>
          </a:p>
        </p:txBody>
      </p:sp>
      <p:sp>
        <p:nvSpPr>
          <p:cNvPr id="12" name="Rectangle 11">
            <a:extLst>
              <a:ext uri="{FF2B5EF4-FFF2-40B4-BE49-F238E27FC236}">
                <a16:creationId xmlns:a16="http://schemas.microsoft.com/office/drawing/2014/main" id="{E70C8F7A-479D-4699-9968-E2B63D77F460}"/>
              </a:ext>
            </a:extLst>
          </p:cNvPr>
          <p:cNvSpPr>
            <a:spLocks noGrp="1"/>
          </p:cNvSpPr>
          <p:nvPr/>
        </p:nvSpPr>
        <p:spPr>
          <a:xfrm>
            <a:off x="781050" y="3676650"/>
            <a:ext cx="1619250" cy="26670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Learning</a:t>
            </a:r>
          </a:p>
        </p:txBody>
      </p:sp>
      <p:sp>
        <p:nvSpPr>
          <p:cNvPr id="13" name="Rectangle 12">
            <a:extLst>
              <a:ext uri="{FF2B5EF4-FFF2-40B4-BE49-F238E27FC236}">
                <a16:creationId xmlns:a16="http://schemas.microsoft.com/office/drawing/2014/main" id="{1FB7D4F8-25E8-49D6-9180-C984CEAB8724}"/>
              </a:ext>
            </a:extLst>
          </p:cNvPr>
          <p:cNvSpPr>
            <a:spLocks noGrp="1"/>
          </p:cNvSpPr>
          <p:nvPr/>
        </p:nvSpPr>
        <p:spPr>
          <a:xfrm>
            <a:off x="2381250" y="3676650"/>
            <a:ext cx="3238500" cy="476250"/>
          </a:xfrm>
          <a:prstGeom prst="rect">
            <a:avLst/>
          </a:prstGeom>
          <a:noFill/>
          <a:ln w="0">
            <a:noFill/>
            <a:prstDash val="solid"/>
          </a:ln>
        </p:spPr>
        <p:txBody>
          <a:bodyPr lIns="0" tIns="0" rIns="0" bIns="0" anchor="t">
            <a:normAutofit/>
          </a:bodyPr>
          <a:lstStyle/>
          <a:p>
            <a:pPr algn="l">
              <a:lnSpc>
                <a:spcPct val="98000"/>
              </a:lnSpc>
              <a:buNone/>
              <a:defRPr sz="1500" b="0" i="0">
                <a:solidFill>
                  <a:srgbClr val="5B6670"/>
                </a:solidFill>
                <a:latin typeface="Segoe UI"/>
                <a:ea typeface="Segoe UI"/>
                <a:cs typeface="Segoe UI"/>
              </a:defRPr>
            </a:pPr>
            <a:r>
              <a:rPr sz="1500" b="0" i="0">
                <a:solidFill>
                  <a:srgbClr val="5B6670"/>
                </a:solidFill>
                <a:latin typeface="Segoe UI"/>
                <a:ea typeface="Segoe UI"/>
                <a:cs typeface="Segoe UI"/>
              </a:rPr>
              <a:t>Stable-Baselines3 · PPO</a:t>
            </a:r>
          </a:p>
        </p:txBody>
      </p:sp>
      <p:sp>
        <p:nvSpPr>
          <p:cNvPr id="14" name="Rectangle 13">
            <a:extLst>
              <a:ext uri="{FF2B5EF4-FFF2-40B4-BE49-F238E27FC236}">
                <a16:creationId xmlns:a16="http://schemas.microsoft.com/office/drawing/2014/main" id="{5F8E7AB0-74D8-4A99-9D1F-9EC1F73402E1}"/>
              </a:ext>
            </a:extLst>
          </p:cNvPr>
          <p:cNvSpPr>
            <a:spLocks noGrp="1"/>
          </p:cNvSpPr>
          <p:nvPr/>
        </p:nvSpPr>
        <p:spPr>
          <a:xfrm>
            <a:off x="781050" y="4248150"/>
            <a:ext cx="4762500" cy="9525"/>
          </a:xfrm>
          <a:prstGeom prst="rect">
            <a:avLst/>
          </a:prstGeom>
          <a:solidFill>
            <a:srgbClr val="D5DAD6"/>
          </a:solidFill>
          <a:ln w="0">
            <a:noFill/>
            <a:prstDash val="solid"/>
          </a:ln>
        </p:spPr>
        <p:txBody>
          <a:bodyPr/>
          <a:lstStyle/>
          <a:p>
            <a:endParaRPr lang="en-IN"/>
          </a:p>
        </p:txBody>
      </p:sp>
      <p:sp>
        <p:nvSpPr>
          <p:cNvPr id="15" name="Rectangle 14">
            <a:extLst>
              <a:ext uri="{FF2B5EF4-FFF2-40B4-BE49-F238E27FC236}">
                <a16:creationId xmlns:a16="http://schemas.microsoft.com/office/drawing/2014/main" id="{F77C30CE-22DC-4A58-9FCF-E7FA47DAC052}"/>
              </a:ext>
            </a:extLst>
          </p:cNvPr>
          <p:cNvSpPr>
            <a:spLocks noGrp="1"/>
          </p:cNvSpPr>
          <p:nvPr/>
        </p:nvSpPr>
        <p:spPr>
          <a:xfrm>
            <a:off x="781050" y="4552950"/>
            <a:ext cx="1619250" cy="26670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Robot files</a:t>
            </a:r>
          </a:p>
        </p:txBody>
      </p:sp>
      <p:sp>
        <p:nvSpPr>
          <p:cNvPr id="16" name="Rectangle 15">
            <a:extLst>
              <a:ext uri="{FF2B5EF4-FFF2-40B4-BE49-F238E27FC236}">
                <a16:creationId xmlns:a16="http://schemas.microsoft.com/office/drawing/2014/main" id="{F0746035-FF5B-4BF4-A2C2-7C77162E7926}"/>
              </a:ext>
            </a:extLst>
          </p:cNvPr>
          <p:cNvSpPr>
            <a:spLocks noGrp="1"/>
          </p:cNvSpPr>
          <p:nvPr/>
        </p:nvSpPr>
        <p:spPr>
          <a:xfrm>
            <a:off x="2381250" y="4552950"/>
            <a:ext cx="3238500" cy="476250"/>
          </a:xfrm>
          <a:prstGeom prst="rect">
            <a:avLst/>
          </a:prstGeom>
          <a:noFill/>
          <a:ln w="0">
            <a:noFill/>
            <a:prstDash val="solid"/>
          </a:ln>
        </p:spPr>
        <p:txBody>
          <a:bodyPr lIns="0" tIns="0" rIns="0" bIns="0" anchor="t">
            <a:normAutofit/>
          </a:bodyPr>
          <a:lstStyle/>
          <a:p>
            <a:pPr algn="l">
              <a:lnSpc>
                <a:spcPct val="98000"/>
              </a:lnSpc>
              <a:buNone/>
              <a:defRPr sz="1500" b="0" i="0">
                <a:solidFill>
                  <a:srgbClr val="5B6670"/>
                </a:solidFill>
                <a:latin typeface="Segoe UI"/>
                <a:ea typeface="Segoe UI"/>
                <a:cs typeface="Segoe UI"/>
              </a:defRPr>
            </a:pPr>
            <a:r>
              <a:rPr sz="1500" b="0" i="0">
                <a:solidFill>
                  <a:srgbClr val="5B6670"/>
                </a:solidFill>
                <a:latin typeface="Segoe UI"/>
                <a:ea typeface="Segoe UI"/>
                <a:cs typeface="Segoe UI"/>
              </a:rPr>
              <a:t>URDF and ready-made models</a:t>
            </a:r>
          </a:p>
        </p:txBody>
      </p:sp>
      <p:sp>
        <p:nvSpPr>
          <p:cNvPr id="17" name="Rectangle 16">
            <a:extLst>
              <a:ext uri="{FF2B5EF4-FFF2-40B4-BE49-F238E27FC236}">
                <a16:creationId xmlns:a16="http://schemas.microsoft.com/office/drawing/2014/main" id="{6E382940-28FA-4860-906B-D3847DD295E0}"/>
              </a:ext>
            </a:extLst>
          </p:cNvPr>
          <p:cNvSpPr>
            <a:spLocks noGrp="1"/>
          </p:cNvSpPr>
          <p:nvPr/>
        </p:nvSpPr>
        <p:spPr>
          <a:xfrm>
            <a:off x="781050" y="5124450"/>
            <a:ext cx="4762500" cy="9525"/>
          </a:xfrm>
          <a:prstGeom prst="rect">
            <a:avLst/>
          </a:prstGeom>
          <a:solidFill>
            <a:srgbClr val="D5DAD6"/>
          </a:solidFill>
          <a:ln w="0">
            <a:noFill/>
            <a:prstDash val="solid"/>
          </a:ln>
        </p:spPr>
        <p:txBody>
          <a:bodyPr/>
          <a:lstStyle/>
          <a:p>
            <a:endParaRPr lang="en-IN"/>
          </a:p>
        </p:txBody>
      </p:sp>
      <p:sp>
        <p:nvSpPr>
          <p:cNvPr id="18" name="Rectangle: Rounded Corners 17">
            <a:extLst>
              <a:ext uri="{FF2B5EF4-FFF2-40B4-BE49-F238E27FC236}">
                <a16:creationId xmlns:a16="http://schemas.microsoft.com/office/drawing/2014/main" id="{15891942-B957-463F-9075-EB057176E8B1}"/>
              </a:ext>
            </a:extLst>
          </p:cNvPr>
          <p:cNvSpPr>
            <a:spLocks noGrp="1"/>
          </p:cNvSpPr>
          <p:nvPr/>
        </p:nvSpPr>
        <p:spPr>
          <a:xfrm>
            <a:off x="6076950" y="2171700"/>
            <a:ext cx="4762500" cy="3143250"/>
          </a:xfrm>
          <a:prstGeom prst="roundRect">
            <a:avLst>
              <a:gd name="adj" fmla="val 6667"/>
            </a:avLst>
          </a:prstGeom>
          <a:solidFill>
            <a:srgbClr val="DDEBE7"/>
          </a:solidFill>
          <a:ln w="0">
            <a:noFill/>
            <a:prstDash val="solid"/>
          </a:ln>
        </p:spPr>
        <p:txBody>
          <a:bodyPr/>
          <a:lstStyle/>
          <a:p>
            <a:endParaRPr lang="en-IN"/>
          </a:p>
        </p:txBody>
      </p:sp>
      <p:sp>
        <p:nvSpPr>
          <p:cNvPr id="19" name="Rectangle 18">
            <a:extLst>
              <a:ext uri="{FF2B5EF4-FFF2-40B4-BE49-F238E27FC236}">
                <a16:creationId xmlns:a16="http://schemas.microsoft.com/office/drawing/2014/main" id="{45AD3087-9AF8-4698-B43D-78CFFAC4082A}"/>
              </a:ext>
            </a:extLst>
          </p:cNvPr>
          <p:cNvSpPr>
            <a:spLocks noGrp="1"/>
          </p:cNvSpPr>
          <p:nvPr/>
        </p:nvSpPr>
        <p:spPr>
          <a:xfrm>
            <a:off x="6496050" y="2552700"/>
            <a:ext cx="3848100" cy="342900"/>
          </a:xfrm>
          <a:prstGeom prst="rect">
            <a:avLst/>
          </a:prstGeom>
          <a:noFill/>
          <a:ln w="0">
            <a:noFill/>
            <a:prstDash val="solid"/>
          </a:ln>
        </p:spPr>
        <p:txBody>
          <a:bodyPr lIns="0" tIns="0" rIns="0" bIns="0" anchor="t">
            <a:normAutofit/>
          </a:bodyPr>
          <a:lstStyle/>
          <a:p>
            <a:pPr algn="l">
              <a:lnSpc>
                <a:spcPct val="98000"/>
              </a:lnSpc>
              <a:buNone/>
              <a:defRPr sz="1950" b="1" i="0">
                <a:solidFill>
                  <a:srgbClr val="0B6B64"/>
                </a:solidFill>
                <a:latin typeface="Segoe UI Semibold"/>
                <a:ea typeface="Segoe UI Semibold"/>
                <a:cs typeface="Segoe UI Semibold"/>
              </a:defRPr>
            </a:pPr>
            <a:r>
              <a:rPr sz="1950" b="1" i="0">
                <a:solidFill>
                  <a:srgbClr val="0B6B64"/>
                </a:solidFill>
                <a:latin typeface="Segoe UI Semibold"/>
                <a:ea typeface="Segoe UI Semibold"/>
                <a:cs typeface="Segoe UI Semibold"/>
              </a:rPr>
              <a:t>What was missing</a:t>
            </a:r>
          </a:p>
        </p:txBody>
      </p:sp>
      <p:sp>
        <p:nvSpPr>
          <p:cNvPr id="20" name="Rectangle 19">
            <a:extLst>
              <a:ext uri="{FF2B5EF4-FFF2-40B4-BE49-F238E27FC236}">
                <a16:creationId xmlns:a16="http://schemas.microsoft.com/office/drawing/2014/main" id="{6F6B612F-D8CF-4928-8AB8-F96ADFF7DC83}"/>
              </a:ext>
            </a:extLst>
          </p:cNvPr>
          <p:cNvSpPr>
            <a:spLocks noGrp="1"/>
          </p:cNvSpPr>
          <p:nvPr/>
        </p:nvSpPr>
        <p:spPr>
          <a:xfrm>
            <a:off x="6496050" y="3162300"/>
            <a:ext cx="3848100" cy="1504950"/>
          </a:xfrm>
          <a:prstGeom prst="rect">
            <a:avLst/>
          </a:prstGeom>
          <a:noFill/>
          <a:ln w="0">
            <a:noFill/>
            <a:prstDash val="solid"/>
          </a:ln>
        </p:spPr>
        <p:txBody>
          <a:bodyPr lIns="0" tIns="0" rIns="0" bIns="0" anchor="t">
            <a:normAutofit fontScale="97172" lnSpcReduction="10000"/>
          </a:bodyPr>
          <a:lstStyle/>
          <a:p>
            <a:pPr algn="l">
              <a:lnSpc>
                <a:spcPct val="100000"/>
              </a:lnSpc>
              <a:buNone/>
              <a:defRPr sz="2025" b="0" i="0">
                <a:solidFill>
                  <a:srgbClr val="18232F"/>
                </a:solidFill>
                <a:latin typeface="Georgia"/>
                <a:ea typeface="Georgia"/>
                <a:cs typeface="Georgia"/>
              </a:defRPr>
            </a:pPr>
            <a:r>
              <a:rPr sz="2025" b="0" i="0" dirty="0">
                <a:solidFill>
                  <a:srgbClr val="18232F"/>
                </a:solidFill>
                <a:latin typeface="Georgia"/>
                <a:ea typeface="Georgia"/>
                <a:cs typeface="Georgia"/>
              </a:rPr>
              <a:t>One desktop app that joins these parts together, explains each choice, and lets someone who is not a programmer train a robot without writing code first.</a:t>
            </a:r>
          </a:p>
        </p:txBody>
      </p:sp>
    </p:spTree>
    <p:extLst>
      <p:ext uri="{BB962C8B-B14F-4D97-AF65-F5344CB8AC3E}">
        <p14:creationId xmlns:p14="http://schemas.microsoft.com/office/powerpoint/2010/main" val="1016361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CD9DE1-17E3-4365-90F3-E839A9A11F49}"/>
              </a:ext>
            </a:extLst>
          </p:cNvPr>
          <p:cNvSpPr>
            <a:spLocks noGrp="1"/>
          </p:cNvSpPr>
          <p:nvPr/>
        </p:nvSpPr>
        <p:spPr>
          <a:xfrm>
            <a:off x="11106150" y="266700"/>
            <a:ext cx="400050" cy="228600"/>
          </a:xfrm>
          <a:prstGeom prst="rect">
            <a:avLst/>
          </a:prstGeom>
          <a:noFill/>
          <a:ln w="0">
            <a:noFill/>
            <a:prstDash val="solid"/>
          </a:ln>
        </p:spPr>
        <p:txBody>
          <a:bodyPr lIns="0" tIns="0" rIns="0" bIns="0" anchor="ctr">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06</a:t>
            </a:r>
          </a:p>
        </p:txBody>
      </p:sp>
      <p:sp>
        <p:nvSpPr>
          <p:cNvPr id="4" name="Rectangle 3">
            <a:extLst>
              <a:ext uri="{FF2B5EF4-FFF2-40B4-BE49-F238E27FC236}">
                <a16:creationId xmlns:a16="http://schemas.microsoft.com/office/drawing/2014/main" id="{1455A17B-F3E4-48DC-8021-0A4FFA5F336F}"/>
              </a:ext>
            </a:extLst>
          </p:cNvPr>
          <p:cNvSpPr>
            <a:spLocks noGrp="1"/>
          </p:cNvSpPr>
          <p:nvPr/>
        </p:nvSpPr>
        <p:spPr>
          <a:xfrm>
            <a:off x="685800" y="714375"/>
            <a:ext cx="10820400" cy="1162050"/>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EasyRTG turns a robot file and a goal</a:t>
            </a:r>
          </a:p>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into a trained robot</a:t>
            </a:r>
          </a:p>
        </p:txBody>
      </p:sp>
      <p:sp>
        <p:nvSpPr>
          <p:cNvPr id="5" name="Rectangle 4">
            <a:extLst>
              <a:ext uri="{FF2B5EF4-FFF2-40B4-BE49-F238E27FC236}">
                <a16:creationId xmlns:a16="http://schemas.microsoft.com/office/drawing/2014/main" id="{3A5906D6-F6B0-48FE-B228-3CC2063140B0}"/>
              </a:ext>
            </a:extLst>
          </p:cNvPr>
          <p:cNvSpPr>
            <a:spLocks noGrp="1"/>
          </p:cNvSpPr>
          <p:nvPr/>
        </p:nvSpPr>
        <p:spPr>
          <a:xfrm>
            <a:off x="685800" y="6457950"/>
            <a:ext cx="10820400" cy="9525"/>
          </a:xfrm>
          <a:prstGeom prst="rect">
            <a:avLst/>
          </a:prstGeom>
          <a:solidFill>
            <a:srgbClr val="D5DAD6"/>
          </a:solidFill>
          <a:ln w="0">
            <a:noFill/>
            <a:prstDash val="solid"/>
          </a:ln>
        </p:spPr>
        <p:txBody>
          <a:bodyPr/>
          <a:lstStyle/>
          <a:p>
            <a:endParaRPr lang="en-IN"/>
          </a:p>
        </p:txBody>
      </p:sp>
      <p:sp>
        <p:nvSpPr>
          <p:cNvPr id="8" name="Rectangle 7">
            <a:extLst>
              <a:ext uri="{FF2B5EF4-FFF2-40B4-BE49-F238E27FC236}">
                <a16:creationId xmlns:a16="http://schemas.microsoft.com/office/drawing/2014/main" id="{CF404928-6DC3-4A89-A96D-8AA8979CFBA3}"/>
              </a:ext>
            </a:extLst>
          </p:cNvPr>
          <p:cNvSpPr>
            <a:spLocks noGrp="1"/>
          </p:cNvSpPr>
          <p:nvPr/>
        </p:nvSpPr>
        <p:spPr>
          <a:xfrm>
            <a:off x="1219200" y="3524250"/>
            <a:ext cx="9753600" cy="38100"/>
          </a:xfrm>
          <a:prstGeom prst="rect">
            <a:avLst/>
          </a:prstGeom>
          <a:solidFill>
            <a:srgbClr val="DDEBE7"/>
          </a:solidFill>
          <a:ln w="0">
            <a:noFill/>
            <a:prstDash val="solid"/>
          </a:ln>
        </p:spPr>
        <p:txBody>
          <a:bodyPr/>
          <a:lstStyle/>
          <a:p>
            <a:endParaRPr lang="en-IN"/>
          </a:p>
        </p:txBody>
      </p:sp>
      <p:sp>
        <p:nvSpPr>
          <p:cNvPr id="9" name="Rectangle: Rounded Corners 8">
            <a:extLst>
              <a:ext uri="{FF2B5EF4-FFF2-40B4-BE49-F238E27FC236}">
                <a16:creationId xmlns:a16="http://schemas.microsoft.com/office/drawing/2014/main" id="{07D2EB54-A253-43AA-B37E-56B469430D78}"/>
              </a:ext>
            </a:extLst>
          </p:cNvPr>
          <p:cNvSpPr>
            <a:spLocks noGrp="1"/>
          </p:cNvSpPr>
          <p:nvPr/>
        </p:nvSpPr>
        <p:spPr>
          <a:xfrm>
            <a:off x="666750" y="2762250"/>
            <a:ext cx="2000250" cy="1676400"/>
          </a:xfrm>
          <a:prstGeom prst="roundRect">
            <a:avLst>
              <a:gd name="adj" fmla="val 10227"/>
            </a:avLst>
          </a:prstGeom>
          <a:solidFill>
            <a:srgbClr val="FFFFFF"/>
          </a:solidFill>
          <a:ln w="9525">
            <a:solidFill>
              <a:srgbClr val="D5DAD6"/>
            </a:solidFill>
            <a:prstDash val="solid"/>
          </a:ln>
        </p:spPr>
        <p:txBody>
          <a:bodyPr/>
          <a:lstStyle/>
          <a:p>
            <a:endParaRPr lang="en-IN"/>
          </a:p>
        </p:txBody>
      </p:sp>
      <p:sp>
        <p:nvSpPr>
          <p:cNvPr id="10" name="Rectangle 9">
            <a:extLst>
              <a:ext uri="{FF2B5EF4-FFF2-40B4-BE49-F238E27FC236}">
                <a16:creationId xmlns:a16="http://schemas.microsoft.com/office/drawing/2014/main" id="{D7C15E19-4683-43E6-9863-436CBB886184}"/>
              </a:ext>
            </a:extLst>
          </p:cNvPr>
          <p:cNvSpPr>
            <a:spLocks noGrp="1"/>
          </p:cNvSpPr>
          <p:nvPr/>
        </p:nvSpPr>
        <p:spPr>
          <a:xfrm>
            <a:off x="857250" y="2933700"/>
            <a:ext cx="419100" cy="228600"/>
          </a:xfrm>
          <a:prstGeom prst="rect">
            <a:avLst/>
          </a:prstGeom>
          <a:noFill/>
          <a:ln w="0">
            <a:noFill/>
            <a:prstDash val="solid"/>
          </a:ln>
        </p:spPr>
        <p:txBody>
          <a:bodyPr lIns="0" tIns="0" rIns="0" bIns="0" anchor="t">
            <a:normAutofit/>
          </a:bodyPr>
          <a:lstStyle/>
          <a:p>
            <a:pPr algn="l">
              <a:lnSpc>
                <a:spcPct val="98000"/>
              </a:lnSpc>
              <a:buNone/>
              <a:defRPr sz="1125" b="1" i="0">
                <a:solidFill>
                  <a:srgbClr val="0B6B64"/>
                </a:solidFill>
                <a:latin typeface="Segoe UI Semibold"/>
                <a:ea typeface="Segoe UI Semibold"/>
                <a:cs typeface="Segoe UI Semibold"/>
              </a:defRPr>
            </a:pPr>
            <a:r>
              <a:rPr sz="1125" b="1" i="0">
                <a:solidFill>
                  <a:srgbClr val="0B6B64"/>
                </a:solidFill>
                <a:latin typeface="Segoe UI Semibold"/>
                <a:ea typeface="Segoe UI Semibold"/>
                <a:cs typeface="Segoe UI Semibold"/>
              </a:rPr>
              <a:t>01</a:t>
            </a:r>
          </a:p>
        </p:txBody>
      </p:sp>
      <p:sp>
        <p:nvSpPr>
          <p:cNvPr id="11" name="Rectangle 10">
            <a:extLst>
              <a:ext uri="{FF2B5EF4-FFF2-40B4-BE49-F238E27FC236}">
                <a16:creationId xmlns:a16="http://schemas.microsoft.com/office/drawing/2014/main" id="{5592E0C4-4051-4B18-BE47-746623E6D82F}"/>
              </a:ext>
            </a:extLst>
          </p:cNvPr>
          <p:cNvSpPr>
            <a:spLocks noGrp="1"/>
          </p:cNvSpPr>
          <p:nvPr/>
        </p:nvSpPr>
        <p:spPr>
          <a:xfrm>
            <a:off x="857250" y="3295650"/>
            <a:ext cx="1619250" cy="323850"/>
          </a:xfrm>
          <a:prstGeom prst="rect">
            <a:avLst/>
          </a:prstGeom>
          <a:noFill/>
          <a:ln w="0">
            <a:noFill/>
            <a:prstDash val="solid"/>
          </a:ln>
        </p:spPr>
        <p:txBody>
          <a:bodyPr lIns="0" tIns="0" rIns="0" bIns="0" anchor="t">
            <a:normAutofit/>
          </a:bodyPr>
          <a:lstStyle/>
          <a:p>
            <a:pPr algn="l">
              <a:lnSpc>
                <a:spcPct val="98000"/>
              </a:lnSpc>
              <a:buNone/>
              <a:defRPr sz="1950" b="1" i="0">
                <a:solidFill>
                  <a:srgbClr val="18232F"/>
                </a:solidFill>
                <a:latin typeface="Segoe UI Semibold"/>
                <a:ea typeface="Segoe UI Semibold"/>
                <a:cs typeface="Segoe UI Semibold"/>
              </a:defRPr>
            </a:pPr>
            <a:r>
              <a:rPr sz="1950" b="1" i="0">
                <a:solidFill>
                  <a:srgbClr val="18232F"/>
                </a:solidFill>
                <a:latin typeface="Segoe UI Semibold"/>
                <a:ea typeface="Segoe UI Semibold"/>
                <a:cs typeface="Segoe UI Semibold"/>
              </a:rPr>
              <a:t>Load</a:t>
            </a:r>
          </a:p>
        </p:txBody>
      </p:sp>
      <p:sp>
        <p:nvSpPr>
          <p:cNvPr id="12" name="Rectangle 11">
            <a:extLst>
              <a:ext uri="{FF2B5EF4-FFF2-40B4-BE49-F238E27FC236}">
                <a16:creationId xmlns:a16="http://schemas.microsoft.com/office/drawing/2014/main" id="{0319F3B3-F807-41AD-BB57-7E61BDA75CFA}"/>
              </a:ext>
            </a:extLst>
          </p:cNvPr>
          <p:cNvSpPr>
            <a:spLocks noGrp="1"/>
          </p:cNvSpPr>
          <p:nvPr/>
        </p:nvSpPr>
        <p:spPr>
          <a:xfrm>
            <a:off x="857250" y="3743325"/>
            <a:ext cx="1619250" cy="514350"/>
          </a:xfrm>
          <a:prstGeom prst="rect">
            <a:avLst/>
          </a:prstGeom>
          <a:noFill/>
          <a:ln w="0">
            <a:noFill/>
            <a:prstDash val="solid"/>
          </a:ln>
        </p:spPr>
        <p:txBody>
          <a:bodyPr lIns="0" tIns="0" rIns="0" bIns="0" anchor="t">
            <a:normAutofit/>
          </a:bodyPr>
          <a:lstStyle/>
          <a:p>
            <a:pPr algn="l">
              <a:lnSpc>
                <a:spcPct val="105000"/>
              </a:lnSpc>
              <a:buNone/>
              <a:defRPr sz="1350" b="0" i="0">
                <a:solidFill>
                  <a:srgbClr val="5B6670"/>
                </a:solidFill>
                <a:latin typeface="Segoe UI"/>
                <a:ea typeface="Segoe UI"/>
                <a:cs typeface="Segoe UI"/>
              </a:defRPr>
            </a:pPr>
            <a:r>
              <a:rPr sz="1350" b="0" i="0">
                <a:solidFill>
                  <a:srgbClr val="5B6670"/>
                </a:solidFill>
                <a:latin typeface="Segoe UI"/>
                <a:ea typeface="Segoe UI"/>
                <a:cs typeface="Segoe UI"/>
              </a:rPr>
              <a:t>Open any robot file</a:t>
            </a:r>
          </a:p>
        </p:txBody>
      </p:sp>
      <p:sp>
        <p:nvSpPr>
          <p:cNvPr id="13" name="Rectangle 12">
            <a:extLst>
              <a:ext uri="{FF2B5EF4-FFF2-40B4-BE49-F238E27FC236}">
                <a16:creationId xmlns:a16="http://schemas.microsoft.com/office/drawing/2014/main" id="{285DE7A2-6619-400A-B9FA-F01BFF9BDD85}"/>
              </a:ext>
            </a:extLst>
          </p:cNvPr>
          <p:cNvSpPr>
            <a:spLocks noGrp="1"/>
          </p:cNvSpPr>
          <p:nvPr/>
        </p:nvSpPr>
        <p:spPr>
          <a:xfrm>
            <a:off x="2647950" y="3352800"/>
            <a:ext cx="342900" cy="342900"/>
          </a:xfrm>
          <a:prstGeom prst="rect">
            <a:avLst/>
          </a:prstGeom>
          <a:noFill/>
          <a:ln w="0">
            <a:noFill/>
            <a:prstDash val="solid"/>
          </a:ln>
        </p:spPr>
        <p:txBody>
          <a:bodyPr lIns="0" tIns="0" rIns="0" bIns="0" anchor="t">
            <a:normAutofit/>
          </a:bodyPr>
          <a:lstStyle/>
          <a:p>
            <a:pPr algn="ctr">
              <a:lnSpc>
                <a:spcPct val="98000"/>
              </a:lnSpc>
              <a:buNone/>
              <a:defRPr sz="1950" b="1" i="0">
                <a:solidFill>
                  <a:srgbClr val="0B6B64"/>
                </a:solidFill>
                <a:latin typeface="Segoe UI Semibold"/>
                <a:ea typeface="Segoe UI Semibold"/>
                <a:cs typeface="Segoe UI Semibold"/>
              </a:defRPr>
            </a:pPr>
            <a:r>
              <a:rPr sz="1950" b="1" i="0">
                <a:solidFill>
                  <a:srgbClr val="0B6B64"/>
                </a:solidFill>
                <a:latin typeface="Segoe UI Semibold"/>
                <a:ea typeface="Segoe UI Semibold"/>
                <a:cs typeface="Segoe UI Semibold"/>
              </a:rPr>
              <a:t>→</a:t>
            </a:r>
          </a:p>
        </p:txBody>
      </p:sp>
      <p:sp>
        <p:nvSpPr>
          <p:cNvPr id="14" name="Rectangle: Rounded Corners 13">
            <a:extLst>
              <a:ext uri="{FF2B5EF4-FFF2-40B4-BE49-F238E27FC236}">
                <a16:creationId xmlns:a16="http://schemas.microsoft.com/office/drawing/2014/main" id="{DC236C07-BA56-4701-9745-B85970094E4D}"/>
              </a:ext>
            </a:extLst>
          </p:cNvPr>
          <p:cNvSpPr>
            <a:spLocks noGrp="1"/>
          </p:cNvSpPr>
          <p:nvPr/>
        </p:nvSpPr>
        <p:spPr>
          <a:xfrm>
            <a:off x="2971800" y="2762250"/>
            <a:ext cx="2000250" cy="1676400"/>
          </a:xfrm>
          <a:prstGeom prst="roundRect">
            <a:avLst>
              <a:gd name="adj" fmla="val 10227"/>
            </a:avLst>
          </a:prstGeom>
          <a:solidFill>
            <a:srgbClr val="FFFFFF"/>
          </a:solidFill>
          <a:ln w="9525">
            <a:solidFill>
              <a:srgbClr val="D5DAD6"/>
            </a:solidFill>
            <a:prstDash val="solid"/>
          </a:ln>
        </p:spPr>
        <p:txBody>
          <a:bodyPr/>
          <a:lstStyle/>
          <a:p>
            <a:endParaRPr lang="en-IN"/>
          </a:p>
        </p:txBody>
      </p:sp>
      <p:sp>
        <p:nvSpPr>
          <p:cNvPr id="15" name="Rectangle 14">
            <a:extLst>
              <a:ext uri="{FF2B5EF4-FFF2-40B4-BE49-F238E27FC236}">
                <a16:creationId xmlns:a16="http://schemas.microsoft.com/office/drawing/2014/main" id="{26F7D529-2296-4C0A-9F26-33FF1584C970}"/>
              </a:ext>
            </a:extLst>
          </p:cNvPr>
          <p:cNvSpPr>
            <a:spLocks noGrp="1"/>
          </p:cNvSpPr>
          <p:nvPr/>
        </p:nvSpPr>
        <p:spPr>
          <a:xfrm>
            <a:off x="3162300" y="2933700"/>
            <a:ext cx="419100" cy="228600"/>
          </a:xfrm>
          <a:prstGeom prst="rect">
            <a:avLst/>
          </a:prstGeom>
          <a:noFill/>
          <a:ln w="0">
            <a:noFill/>
            <a:prstDash val="solid"/>
          </a:ln>
        </p:spPr>
        <p:txBody>
          <a:bodyPr lIns="0" tIns="0" rIns="0" bIns="0" anchor="t">
            <a:normAutofit/>
          </a:bodyPr>
          <a:lstStyle/>
          <a:p>
            <a:pPr algn="l">
              <a:lnSpc>
                <a:spcPct val="98000"/>
              </a:lnSpc>
              <a:buNone/>
              <a:defRPr sz="1125" b="1" i="0">
                <a:solidFill>
                  <a:srgbClr val="0B6B64"/>
                </a:solidFill>
                <a:latin typeface="Segoe UI Semibold"/>
                <a:ea typeface="Segoe UI Semibold"/>
                <a:cs typeface="Segoe UI Semibold"/>
              </a:defRPr>
            </a:pPr>
            <a:r>
              <a:rPr sz="1125" b="1" i="0">
                <a:solidFill>
                  <a:srgbClr val="0B6B64"/>
                </a:solidFill>
                <a:latin typeface="Segoe UI Semibold"/>
                <a:ea typeface="Segoe UI Semibold"/>
                <a:cs typeface="Segoe UI Semibold"/>
              </a:rPr>
              <a:t>02</a:t>
            </a:r>
          </a:p>
        </p:txBody>
      </p:sp>
      <p:sp>
        <p:nvSpPr>
          <p:cNvPr id="16" name="Rectangle 15">
            <a:extLst>
              <a:ext uri="{FF2B5EF4-FFF2-40B4-BE49-F238E27FC236}">
                <a16:creationId xmlns:a16="http://schemas.microsoft.com/office/drawing/2014/main" id="{6B3CD63B-3D62-40CD-BB49-E662DDE8F473}"/>
              </a:ext>
            </a:extLst>
          </p:cNvPr>
          <p:cNvSpPr>
            <a:spLocks noGrp="1"/>
          </p:cNvSpPr>
          <p:nvPr/>
        </p:nvSpPr>
        <p:spPr>
          <a:xfrm>
            <a:off x="3162300" y="3295650"/>
            <a:ext cx="1619250" cy="323850"/>
          </a:xfrm>
          <a:prstGeom prst="rect">
            <a:avLst/>
          </a:prstGeom>
          <a:noFill/>
          <a:ln w="0">
            <a:noFill/>
            <a:prstDash val="solid"/>
          </a:ln>
        </p:spPr>
        <p:txBody>
          <a:bodyPr lIns="0" tIns="0" rIns="0" bIns="0" anchor="t">
            <a:normAutofit/>
          </a:bodyPr>
          <a:lstStyle/>
          <a:p>
            <a:pPr algn="l">
              <a:lnSpc>
                <a:spcPct val="98000"/>
              </a:lnSpc>
              <a:buNone/>
              <a:defRPr sz="1950" b="1" i="0">
                <a:solidFill>
                  <a:srgbClr val="18232F"/>
                </a:solidFill>
                <a:latin typeface="Segoe UI Semibold"/>
                <a:ea typeface="Segoe UI Semibold"/>
                <a:cs typeface="Segoe UI Semibold"/>
              </a:defRPr>
            </a:pPr>
            <a:r>
              <a:rPr sz="1950" b="1" i="0">
                <a:solidFill>
                  <a:srgbClr val="18232F"/>
                </a:solidFill>
                <a:latin typeface="Segoe UI Semibold"/>
                <a:ea typeface="Segoe UI Semibold"/>
                <a:cs typeface="Segoe UI Semibold"/>
              </a:rPr>
              <a:t>Describe</a:t>
            </a:r>
          </a:p>
        </p:txBody>
      </p:sp>
      <p:sp>
        <p:nvSpPr>
          <p:cNvPr id="17" name="Rectangle 16">
            <a:extLst>
              <a:ext uri="{FF2B5EF4-FFF2-40B4-BE49-F238E27FC236}">
                <a16:creationId xmlns:a16="http://schemas.microsoft.com/office/drawing/2014/main" id="{9F02E703-1FDD-4610-A3C1-89BA5AA6D040}"/>
              </a:ext>
            </a:extLst>
          </p:cNvPr>
          <p:cNvSpPr>
            <a:spLocks noGrp="1"/>
          </p:cNvSpPr>
          <p:nvPr/>
        </p:nvSpPr>
        <p:spPr>
          <a:xfrm>
            <a:off x="3162300" y="3743325"/>
            <a:ext cx="1619250" cy="514350"/>
          </a:xfrm>
          <a:prstGeom prst="rect">
            <a:avLst/>
          </a:prstGeom>
          <a:noFill/>
          <a:ln w="0">
            <a:noFill/>
            <a:prstDash val="solid"/>
          </a:ln>
        </p:spPr>
        <p:txBody>
          <a:bodyPr lIns="0" tIns="0" rIns="0" bIns="0" anchor="t">
            <a:normAutofit/>
          </a:bodyPr>
          <a:lstStyle/>
          <a:p>
            <a:pPr algn="l">
              <a:lnSpc>
                <a:spcPct val="105000"/>
              </a:lnSpc>
              <a:buNone/>
              <a:defRPr sz="1350" b="0" i="0">
                <a:solidFill>
                  <a:srgbClr val="5B6670"/>
                </a:solidFill>
                <a:latin typeface="Segoe UI"/>
                <a:ea typeface="Segoe UI"/>
                <a:cs typeface="Segoe UI"/>
              </a:defRPr>
            </a:pPr>
            <a:r>
              <a:rPr sz="1350" b="0" i="0">
                <a:solidFill>
                  <a:srgbClr val="5B6670"/>
                </a:solidFill>
                <a:latin typeface="Segoe UI"/>
                <a:ea typeface="Segoe UI"/>
                <a:cs typeface="Segoe UI"/>
              </a:rPr>
              <a:t>Say what it should do</a:t>
            </a:r>
          </a:p>
        </p:txBody>
      </p:sp>
      <p:sp>
        <p:nvSpPr>
          <p:cNvPr id="18" name="Rectangle 17">
            <a:extLst>
              <a:ext uri="{FF2B5EF4-FFF2-40B4-BE49-F238E27FC236}">
                <a16:creationId xmlns:a16="http://schemas.microsoft.com/office/drawing/2014/main" id="{E9930C09-4C6B-43A5-931E-2ACB6F358CBB}"/>
              </a:ext>
            </a:extLst>
          </p:cNvPr>
          <p:cNvSpPr>
            <a:spLocks noGrp="1"/>
          </p:cNvSpPr>
          <p:nvPr/>
        </p:nvSpPr>
        <p:spPr>
          <a:xfrm>
            <a:off x="4953000" y="3352800"/>
            <a:ext cx="342900" cy="342900"/>
          </a:xfrm>
          <a:prstGeom prst="rect">
            <a:avLst/>
          </a:prstGeom>
          <a:noFill/>
          <a:ln w="0">
            <a:noFill/>
            <a:prstDash val="solid"/>
          </a:ln>
        </p:spPr>
        <p:txBody>
          <a:bodyPr lIns="0" tIns="0" rIns="0" bIns="0" anchor="t">
            <a:normAutofit/>
          </a:bodyPr>
          <a:lstStyle/>
          <a:p>
            <a:pPr algn="ctr">
              <a:lnSpc>
                <a:spcPct val="98000"/>
              </a:lnSpc>
              <a:buNone/>
              <a:defRPr sz="1950" b="1" i="0">
                <a:solidFill>
                  <a:srgbClr val="0B6B64"/>
                </a:solidFill>
                <a:latin typeface="Segoe UI Semibold"/>
                <a:ea typeface="Segoe UI Semibold"/>
                <a:cs typeface="Segoe UI Semibold"/>
              </a:defRPr>
            </a:pPr>
            <a:r>
              <a:rPr sz="1950" b="1" i="0">
                <a:solidFill>
                  <a:srgbClr val="0B6B64"/>
                </a:solidFill>
                <a:latin typeface="Segoe UI Semibold"/>
                <a:ea typeface="Segoe UI Semibold"/>
                <a:cs typeface="Segoe UI Semibold"/>
              </a:rPr>
              <a:t>→</a:t>
            </a:r>
          </a:p>
        </p:txBody>
      </p:sp>
      <p:sp>
        <p:nvSpPr>
          <p:cNvPr id="19" name="Rectangle: Rounded Corners 18">
            <a:extLst>
              <a:ext uri="{FF2B5EF4-FFF2-40B4-BE49-F238E27FC236}">
                <a16:creationId xmlns:a16="http://schemas.microsoft.com/office/drawing/2014/main" id="{C6A13A69-F9F0-44DF-94B9-FC19B43D4D54}"/>
              </a:ext>
            </a:extLst>
          </p:cNvPr>
          <p:cNvSpPr>
            <a:spLocks noGrp="1"/>
          </p:cNvSpPr>
          <p:nvPr/>
        </p:nvSpPr>
        <p:spPr>
          <a:xfrm>
            <a:off x="5276850" y="2762250"/>
            <a:ext cx="2000250" cy="1676400"/>
          </a:xfrm>
          <a:prstGeom prst="roundRect">
            <a:avLst>
              <a:gd name="adj" fmla="val 10227"/>
            </a:avLst>
          </a:prstGeom>
          <a:solidFill>
            <a:srgbClr val="FFFFFF"/>
          </a:solidFill>
          <a:ln w="9525">
            <a:solidFill>
              <a:srgbClr val="D5DAD6"/>
            </a:solidFill>
            <a:prstDash val="solid"/>
          </a:ln>
        </p:spPr>
        <p:txBody>
          <a:bodyPr/>
          <a:lstStyle/>
          <a:p>
            <a:endParaRPr lang="en-IN"/>
          </a:p>
        </p:txBody>
      </p:sp>
      <p:sp>
        <p:nvSpPr>
          <p:cNvPr id="20" name="Rectangle 19">
            <a:extLst>
              <a:ext uri="{FF2B5EF4-FFF2-40B4-BE49-F238E27FC236}">
                <a16:creationId xmlns:a16="http://schemas.microsoft.com/office/drawing/2014/main" id="{F8EFBFBA-18BD-457B-B09F-E9FDD12B0F3F}"/>
              </a:ext>
            </a:extLst>
          </p:cNvPr>
          <p:cNvSpPr>
            <a:spLocks noGrp="1"/>
          </p:cNvSpPr>
          <p:nvPr/>
        </p:nvSpPr>
        <p:spPr>
          <a:xfrm>
            <a:off x="5467350" y="2933700"/>
            <a:ext cx="419100" cy="228600"/>
          </a:xfrm>
          <a:prstGeom prst="rect">
            <a:avLst/>
          </a:prstGeom>
          <a:noFill/>
          <a:ln w="0">
            <a:noFill/>
            <a:prstDash val="solid"/>
          </a:ln>
        </p:spPr>
        <p:txBody>
          <a:bodyPr lIns="0" tIns="0" rIns="0" bIns="0" anchor="t">
            <a:normAutofit/>
          </a:bodyPr>
          <a:lstStyle/>
          <a:p>
            <a:pPr algn="l">
              <a:lnSpc>
                <a:spcPct val="98000"/>
              </a:lnSpc>
              <a:buNone/>
              <a:defRPr sz="1125" b="1" i="0">
                <a:solidFill>
                  <a:srgbClr val="0B6B64"/>
                </a:solidFill>
                <a:latin typeface="Segoe UI Semibold"/>
                <a:ea typeface="Segoe UI Semibold"/>
                <a:cs typeface="Segoe UI Semibold"/>
              </a:defRPr>
            </a:pPr>
            <a:r>
              <a:rPr sz="1125" b="1" i="0">
                <a:solidFill>
                  <a:srgbClr val="0B6B64"/>
                </a:solidFill>
                <a:latin typeface="Segoe UI Semibold"/>
                <a:ea typeface="Segoe UI Semibold"/>
                <a:cs typeface="Segoe UI Semibold"/>
              </a:rPr>
              <a:t>03</a:t>
            </a:r>
          </a:p>
        </p:txBody>
      </p:sp>
      <p:sp>
        <p:nvSpPr>
          <p:cNvPr id="21" name="Rectangle 20">
            <a:extLst>
              <a:ext uri="{FF2B5EF4-FFF2-40B4-BE49-F238E27FC236}">
                <a16:creationId xmlns:a16="http://schemas.microsoft.com/office/drawing/2014/main" id="{3200079D-D18F-4313-A929-04192C6A5C8E}"/>
              </a:ext>
            </a:extLst>
          </p:cNvPr>
          <p:cNvSpPr>
            <a:spLocks noGrp="1"/>
          </p:cNvSpPr>
          <p:nvPr/>
        </p:nvSpPr>
        <p:spPr>
          <a:xfrm>
            <a:off x="5467350" y="3295650"/>
            <a:ext cx="1619250" cy="323850"/>
          </a:xfrm>
          <a:prstGeom prst="rect">
            <a:avLst/>
          </a:prstGeom>
          <a:noFill/>
          <a:ln w="0">
            <a:noFill/>
            <a:prstDash val="solid"/>
          </a:ln>
        </p:spPr>
        <p:txBody>
          <a:bodyPr lIns="0" tIns="0" rIns="0" bIns="0" anchor="t">
            <a:normAutofit/>
          </a:bodyPr>
          <a:lstStyle/>
          <a:p>
            <a:pPr algn="l">
              <a:lnSpc>
                <a:spcPct val="98000"/>
              </a:lnSpc>
              <a:buNone/>
              <a:defRPr sz="1950" b="1" i="0">
                <a:solidFill>
                  <a:srgbClr val="18232F"/>
                </a:solidFill>
                <a:latin typeface="Segoe UI Semibold"/>
                <a:ea typeface="Segoe UI Semibold"/>
                <a:cs typeface="Segoe UI Semibold"/>
              </a:defRPr>
            </a:pPr>
            <a:r>
              <a:rPr sz="1950" b="1" i="0">
                <a:solidFill>
                  <a:srgbClr val="18232F"/>
                </a:solidFill>
                <a:latin typeface="Segoe UI Semibold"/>
                <a:ea typeface="Segoe UI Semibold"/>
                <a:cs typeface="Segoe UI Semibold"/>
              </a:rPr>
              <a:t>Configure</a:t>
            </a:r>
          </a:p>
        </p:txBody>
      </p:sp>
      <p:sp>
        <p:nvSpPr>
          <p:cNvPr id="22" name="Rectangle 21">
            <a:extLst>
              <a:ext uri="{FF2B5EF4-FFF2-40B4-BE49-F238E27FC236}">
                <a16:creationId xmlns:a16="http://schemas.microsoft.com/office/drawing/2014/main" id="{082831AC-5C95-45D7-8DFE-5C31AEF36C74}"/>
              </a:ext>
            </a:extLst>
          </p:cNvPr>
          <p:cNvSpPr>
            <a:spLocks noGrp="1"/>
          </p:cNvSpPr>
          <p:nvPr/>
        </p:nvSpPr>
        <p:spPr>
          <a:xfrm>
            <a:off x="5467350" y="3743325"/>
            <a:ext cx="1619250" cy="514350"/>
          </a:xfrm>
          <a:prstGeom prst="rect">
            <a:avLst/>
          </a:prstGeom>
          <a:noFill/>
          <a:ln w="0">
            <a:noFill/>
            <a:prstDash val="solid"/>
          </a:ln>
        </p:spPr>
        <p:txBody>
          <a:bodyPr lIns="0" tIns="0" rIns="0" bIns="0" anchor="t">
            <a:normAutofit/>
          </a:bodyPr>
          <a:lstStyle/>
          <a:p>
            <a:pPr algn="l">
              <a:lnSpc>
                <a:spcPct val="105000"/>
              </a:lnSpc>
              <a:buNone/>
              <a:defRPr sz="1350" b="0" i="0">
                <a:solidFill>
                  <a:srgbClr val="5B6670"/>
                </a:solidFill>
                <a:latin typeface="Segoe UI"/>
                <a:ea typeface="Segoe UI"/>
                <a:cs typeface="Segoe UI"/>
              </a:defRPr>
            </a:pPr>
            <a:r>
              <a:rPr sz="1350" b="0" i="0">
                <a:solidFill>
                  <a:srgbClr val="5B6670"/>
                </a:solidFill>
                <a:latin typeface="Segoe UI"/>
                <a:ea typeface="Segoe UI"/>
                <a:cs typeface="Segoe UI"/>
              </a:rPr>
              <a:t>The assistant suggests a setup</a:t>
            </a:r>
          </a:p>
        </p:txBody>
      </p:sp>
      <p:sp>
        <p:nvSpPr>
          <p:cNvPr id="23" name="Rectangle 22">
            <a:extLst>
              <a:ext uri="{FF2B5EF4-FFF2-40B4-BE49-F238E27FC236}">
                <a16:creationId xmlns:a16="http://schemas.microsoft.com/office/drawing/2014/main" id="{238A7ABD-B5F4-4B9A-A1B2-92CFF2718BE1}"/>
              </a:ext>
            </a:extLst>
          </p:cNvPr>
          <p:cNvSpPr>
            <a:spLocks noGrp="1"/>
          </p:cNvSpPr>
          <p:nvPr/>
        </p:nvSpPr>
        <p:spPr>
          <a:xfrm>
            <a:off x="7258050" y="3352800"/>
            <a:ext cx="342900" cy="342900"/>
          </a:xfrm>
          <a:prstGeom prst="rect">
            <a:avLst/>
          </a:prstGeom>
          <a:noFill/>
          <a:ln w="0">
            <a:noFill/>
            <a:prstDash val="solid"/>
          </a:ln>
        </p:spPr>
        <p:txBody>
          <a:bodyPr lIns="0" tIns="0" rIns="0" bIns="0" anchor="t">
            <a:normAutofit/>
          </a:bodyPr>
          <a:lstStyle/>
          <a:p>
            <a:pPr algn="ctr">
              <a:lnSpc>
                <a:spcPct val="98000"/>
              </a:lnSpc>
              <a:buNone/>
              <a:defRPr sz="1950" b="1" i="0">
                <a:solidFill>
                  <a:srgbClr val="0B6B64"/>
                </a:solidFill>
                <a:latin typeface="Segoe UI Semibold"/>
                <a:ea typeface="Segoe UI Semibold"/>
                <a:cs typeface="Segoe UI Semibold"/>
              </a:defRPr>
            </a:pPr>
            <a:r>
              <a:rPr sz="1950" b="1" i="0">
                <a:solidFill>
                  <a:srgbClr val="0B6B64"/>
                </a:solidFill>
                <a:latin typeface="Segoe UI Semibold"/>
                <a:ea typeface="Segoe UI Semibold"/>
                <a:cs typeface="Segoe UI Semibold"/>
              </a:rPr>
              <a:t>→</a:t>
            </a:r>
          </a:p>
        </p:txBody>
      </p:sp>
      <p:sp>
        <p:nvSpPr>
          <p:cNvPr id="24" name="Rectangle: Rounded Corners 23">
            <a:extLst>
              <a:ext uri="{FF2B5EF4-FFF2-40B4-BE49-F238E27FC236}">
                <a16:creationId xmlns:a16="http://schemas.microsoft.com/office/drawing/2014/main" id="{AF6075BB-BC36-4E9B-9F58-49A1BB9FDC86}"/>
              </a:ext>
            </a:extLst>
          </p:cNvPr>
          <p:cNvSpPr>
            <a:spLocks noGrp="1"/>
          </p:cNvSpPr>
          <p:nvPr/>
        </p:nvSpPr>
        <p:spPr>
          <a:xfrm>
            <a:off x="7581900" y="2762250"/>
            <a:ext cx="2000250" cy="1676400"/>
          </a:xfrm>
          <a:prstGeom prst="roundRect">
            <a:avLst>
              <a:gd name="adj" fmla="val 10227"/>
            </a:avLst>
          </a:prstGeom>
          <a:solidFill>
            <a:srgbClr val="FFFFFF"/>
          </a:solidFill>
          <a:ln w="9525">
            <a:solidFill>
              <a:srgbClr val="D5DAD6"/>
            </a:solidFill>
            <a:prstDash val="solid"/>
          </a:ln>
        </p:spPr>
        <p:txBody>
          <a:bodyPr/>
          <a:lstStyle/>
          <a:p>
            <a:endParaRPr lang="en-IN"/>
          </a:p>
        </p:txBody>
      </p:sp>
      <p:sp>
        <p:nvSpPr>
          <p:cNvPr id="25" name="Rectangle 24">
            <a:extLst>
              <a:ext uri="{FF2B5EF4-FFF2-40B4-BE49-F238E27FC236}">
                <a16:creationId xmlns:a16="http://schemas.microsoft.com/office/drawing/2014/main" id="{872CF920-A012-498E-B1CB-22ADD23C6C50}"/>
              </a:ext>
            </a:extLst>
          </p:cNvPr>
          <p:cNvSpPr>
            <a:spLocks noGrp="1"/>
          </p:cNvSpPr>
          <p:nvPr/>
        </p:nvSpPr>
        <p:spPr>
          <a:xfrm>
            <a:off x="7772400" y="2933700"/>
            <a:ext cx="419100" cy="228600"/>
          </a:xfrm>
          <a:prstGeom prst="rect">
            <a:avLst/>
          </a:prstGeom>
          <a:noFill/>
          <a:ln w="0">
            <a:noFill/>
            <a:prstDash val="solid"/>
          </a:ln>
        </p:spPr>
        <p:txBody>
          <a:bodyPr lIns="0" tIns="0" rIns="0" bIns="0" anchor="t">
            <a:normAutofit/>
          </a:bodyPr>
          <a:lstStyle/>
          <a:p>
            <a:pPr algn="l">
              <a:lnSpc>
                <a:spcPct val="98000"/>
              </a:lnSpc>
              <a:buNone/>
              <a:defRPr sz="1125" b="1" i="0">
                <a:solidFill>
                  <a:srgbClr val="0B6B64"/>
                </a:solidFill>
                <a:latin typeface="Segoe UI Semibold"/>
                <a:ea typeface="Segoe UI Semibold"/>
                <a:cs typeface="Segoe UI Semibold"/>
              </a:defRPr>
            </a:pPr>
            <a:r>
              <a:rPr sz="1125" b="1" i="0">
                <a:solidFill>
                  <a:srgbClr val="0B6B64"/>
                </a:solidFill>
                <a:latin typeface="Segoe UI Semibold"/>
                <a:ea typeface="Segoe UI Semibold"/>
                <a:cs typeface="Segoe UI Semibold"/>
              </a:rPr>
              <a:t>04</a:t>
            </a:r>
          </a:p>
        </p:txBody>
      </p:sp>
      <p:sp>
        <p:nvSpPr>
          <p:cNvPr id="26" name="Rectangle 25">
            <a:extLst>
              <a:ext uri="{FF2B5EF4-FFF2-40B4-BE49-F238E27FC236}">
                <a16:creationId xmlns:a16="http://schemas.microsoft.com/office/drawing/2014/main" id="{A361D6C0-5811-43E0-8DCD-446705C49900}"/>
              </a:ext>
            </a:extLst>
          </p:cNvPr>
          <p:cNvSpPr>
            <a:spLocks noGrp="1"/>
          </p:cNvSpPr>
          <p:nvPr/>
        </p:nvSpPr>
        <p:spPr>
          <a:xfrm>
            <a:off x="7772400" y="3295650"/>
            <a:ext cx="1619250" cy="323850"/>
          </a:xfrm>
          <a:prstGeom prst="rect">
            <a:avLst/>
          </a:prstGeom>
          <a:noFill/>
          <a:ln w="0">
            <a:noFill/>
            <a:prstDash val="solid"/>
          </a:ln>
        </p:spPr>
        <p:txBody>
          <a:bodyPr lIns="0" tIns="0" rIns="0" bIns="0" anchor="t">
            <a:normAutofit/>
          </a:bodyPr>
          <a:lstStyle/>
          <a:p>
            <a:pPr algn="l">
              <a:lnSpc>
                <a:spcPct val="98000"/>
              </a:lnSpc>
              <a:buNone/>
              <a:defRPr sz="1950" b="1" i="0">
                <a:solidFill>
                  <a:srgbClr val="18232F"/>
                </a:solidFill>
                <a:latin typeface="Segoe UI Semibold"/>
                <a:ea typeface="Segoe UI Semibold"/>
                <a:cs typeface="Segoe UI Semibold"/>
              </a:defRPr>
            </a:pPr>
            <a:r>
              <a:rPr sz="1950" b="1" i="0">
                <a:solidFill>
                  <a:srgbClr val="18232F"/>
                </a:solidFill>
                <a:latin typeface="Segoe UI Semibold"/>
                <a:ea typeface="Segoe UI Semibold"/>
                <a:cs typeface="Segoe UI Semibold"/>
              </a:rPr>
              <a:t>Train</a:t>
            </a:r>
          </a:p>
        </p:txBody>
      </p:sp>
      <p:sp>
        <p:nvSpPr>
          <p:cNvPr id="27" name="Rectangle 26">
            <a:extLst>
              <a:ext uri="{FF2B5EF4-FFF2-40B4-BE49-F238E27FC236}">
                <a16:creationId xmlns:a16="http://schemas.microsoft.com/office/drawing/2014/main" id="{555D028C-DF87-4A75-9B87-811555B219D6}"/>
              </a:ext>
            </a:extLst>
          </p:cNvPr>
          <p:cNvSpPr>
            <a:spLocks noGrp="1"/>
          </p:cNvSpPr>
          <p:nvPr/>
        </p:nvSpPr>
        <p:spPr>
          <a:xfrm>
            <a:off x="7772400" y="3743325"/>
            <a:ext cx="1619250" cy="514350"/>
          </a:xfrm>
          <a:prstGeom prst="rect">
            <a:avLst/>
          </a:prstGeom>
          <a:noFill/>
          <a:ln w="0">
            <a:noFill/>
            <a:prstDash val="solid"/>
          </a:ln>
        </p:spPr>
        <p:txBody>
          <a:bodyPr lIns="0" tIns="0" rIns="0" bIns="0" anchor="t">
            <a:normAutofit/>
          </a:bodyPr>
          <a:lstStyle/>
          <a:p>
            <a:pPr algn="l">
              <a:lnSpc>
                <a:spcPct val="105000"/>
              </a:lnSpc>
              <a:buNone/>
              <a:defRPr sz="1350" b="0" i="0">
                <a:solidFill>
                  <a:srgbClr val="5B6670"/>
                </a:solidFill>
                <a:latin typeface="Segoe UI"/>
                <a:ea typeface="Segoe UI"/>
                <a:cs typeface="Segoe UI"/>
              </a:defRPr>
            </a:pPr>
            <a:r>
              <a:rPr sz="1350" b="0" i="0">
                <a:solidFill>
                  <a:srgbClr val="5B6670"/>
                </a:solidFill>
                <a:latin typeface="Segoe UI"/>
                <a:ea typeface="Segoe UI"/>
                <a:cs typeface="Segoe UI"/>
              </a:rPr>
              <a:t>Train thousands of copies at once</a:t>
            </a:r>
          </a:p>
        </p:txBody>
      </p:sp>
      <p:sp>
        <p:nvSpPr>
          <p:cNvPr id="28" name="Rectangle 27">
            <a:extLst>
              <a:ext uri="{FF2B5EF4-FFF2-40B4-BE49-F238E27FC236}">
                <a16:creationId xmlns:a16="http://schemas.microsoft.com/office/drawing/2014/main" id="{AC90A833-E75C-4090-A1D8-E13349A238CF}"/>
              </a:ext>
            </a:extLst>
          </p:cNvPr>
          <p:cNvSpPr>
            <a:spLocks noGrp="1"/>
          </p:cNvSpPr>
          <p:nvPr/>
        </p:nvSpPr>
        <p:spPr>
          <a:xfrm>
            <a:off x="9563100" y="3352800"/>
            <a:ext cx="342900" cy="342900"/>
          </a:xfrm>
          <a:prstGeom prst="rect">
            <a:avLst/>
          </a:prstGeom>
          <a:noFill/>
          <a:ln w="0">
            <a:noFill/>
            <a:prstDash val="solid"/>
          </a:ln>
        </p:spPr>
        <p:txBody>
          <a:bodyPr lIns="0" tIns="0" rIns="0" bIns="0" anchor="t">
            <a:normAutofit/>
          </a:bodyPr>
          <a:lstStyle/>
          <a:p>
            <a:pPr algn="ctr">
              <a:lnSpc>
                <a:spcPct val="98000"/>
              </a:lnSpc>
              <a:buNone/>
              <a:defRPr sz="1950" b="1" i="0">
                <a:solidFill>
                  <a:srgbClr val="0B6B64"/>
                </a:solidFill>
                <a:latin typeface="Segoe UI Semibold"/>
                <a:ea typeface="Segoe UI Semibold"/>
                <a:cs typeface="Segoe UI Semibold"/>
              </a:defRPr>
            </a:pPr>
            <a:r>
              <a:rPr sz="1950" b="1" i="0">
                <a:solidFill>
                  <a:srgbClr val="0B6B64"/>
                </a:solidFill>
                <a:latin typeface="Segoe UI Semibold"/>
                <a:ea typeface="Segoe UI Semibold"/>
                <a:cs typeface="Segoe UI Semibold"/>
              </a:rPr>
              <a:t>→</a:t>
            </a:r>
          </a:p>
        </p:txBody>
      </p:sp>
      <p:sp>
        <p:nvSpPr>
          <p:cNvPr id="29" name="Rectangle: Rounded Corners 28">
            <a:extLst>
              <a:ext uri="{FF2B5EF4-FFF2-40B4-BE49-F238E27FC236}">
                <a16:creationId xmlns:a16="http://schemas.microsoft.com/office/drawing/2014/main" id="{CA4BF18E-0F30-47ED-B3F9-C86E497C5961}"/>
              </a:ext>
            </a:extLst>
          </p:cNvPr>
          <p:cNvSpPr>
            <a:spLocks noGrp="1"/>
          </p:cNvSpPr>
          <p:nvPr/>
        </p:nvSpPr>
        <p:spPr>
          <a:xfrm>
            <a:off x="9886950" y="2762250"/>
            <a:ext cx="2000250" cy="1676400"/>
          </a:xfrm>
          <a:prstGeom prst="roundRect">
            <a:avLst>
              <a:gd name="adj" fmla="val 10227"/>
            </a:avLst>
          </a:prstGeom>
          <a:solidFill>
            <a:srgbClr val="FFFFFF"/>
          </a:solidFill>
          <a:ln w="9525">
            <a:solidFill>
              <a:srgbClr val="D5DAD6"/>
            </a:solidFill>
            <a:prstDash val="solid"/>
          </a:ln>
        </p:spPr>
        <p:txBody>
          <a:bodyPr/>
          <a:lstStyle/>
          <a:p>
            <a:endParaRPr lang="en-IN"/>
          </a:p>
        </p:txBody>
      </p:sp>
      <p:sp>
        <p:nvSpPr>
          <p:cNvPr id="30" name="Rectangle 29">
            <a:extLst>
              <a:ext uri="{FF2B5EF4-FFF2-40B4-BE49-F238E27FC236}">
                <a16:creationId xmlns:a16="http://schemas.microsoft.com/office/drawing/2014/main" id="{A7C0F285-0614-4939-8EE3-CC3C2E099CB6}"/>
              </a:ext>
            </a:extLst>
          </p:cNvPr>
          <p:cNvSpPr>
            <a:spLocks noGrp="1"/>
          </p:cNvSpPr>
          <p:nvPr/>
        </p:nvSpPr>
        <p:spPr>
          <a:xfrm>
            <a:off x="10077450" y="2933700"/>
            <a:ext cx="419100" cy="228600"/>
          </a:xfrm>
          <a:prstGeom prst="rect">
            <a:avLst/>
          </a:prstGeom>
          <a:noFill/>
          <a:ln w="0">
            <a:noFill/>
            <a:prstDash val="solid"/>
          </a:ln>
        </p:spPr>
        <p:txBody>
          <a:bodyPr lIns="0" tIns="0" rIns="0" bIns="0" anchor="t">
            <a:normAutofit/>
          </a:bodyPr>
          <a:lstStyle/>
          <a:p>
            <a:pPr algn="l">
              <a:lnSpc>
                <a:spcPct val="98000"/>
              </a:lnSpc>
              <a:buNone/>
              <a:defRPr sz="1125" b="1" i="0">
                <a:solidFill>
                  <a:srgbClr val="0B6B64"/>
                </a:solidFill>
                <a:latin typeface="Segoe UI Semibold"/>
                <a:ea typeface="Segoe UI Semibold"/>
                <a:cs typeface="Segoe UI Semibold"/>
              </a:defRPr>
            </a:pPr>
            <a:r>
              <a:rPr sz="1125" b="1" i="0">
                <a:solidFill>
                  <a:srgbClr val="0B6B64"/>
                </a:solidFill>
                <a:latin typeface="Segoe UI Semibold"/>
                <a:ea typeface="Segoe UI Semibold"/>
                <a:cs typeface="Segoe UI Semibold"/>
              </a:rPr>
              <a:t>05</a:t>
            </a:r>
          </a:p>
        </p:txBody>
      </p:sp>
      <p:sp>
        <p:nvSpPr>
          <p:cNvPr id="31" name="Rectangle 30">
            <a:extLst>
              <a:ext uri="{FF2B5EF4-FFF2-40B4-BE49-F238E27FC236}">
                <a16:creationId xmlns:a16="http://schemas.microsoft.com/office/drawing/2014/main" id="{C89992DC-6F99-4E77-83C0-66547D253B3B}"/>
              </a:ext>
            </a:extLst>
          </p:cNvPr>
          <p:cNvSpPr>
            <a:spLocks noGrp="1"/>
          </p:cNvSpPr>
          <p:nvPr/>
        </p:nvSpPr>
        <p:spPr>
          <a:xfrm>
            <a:off x="10077450" y="3295650"/>
            <a:ext cx="1619250" cy="323850"/>
          </a:xfrm>
          <a:prstGeom prst="rect">
            <a:avLst/>
          </a:prstGeom>
          <a:noFill/>
          <a:ln w="0">
            <a:noFill/>
            <a:prstDash val="solid"/>
          </a:ln>
        </p:spPr>
        <p:txBody>
          <a:bodyPr lIns="0" tIns="0" rIns="0" bIns="0" anchor="t">
            <a:normAutofit/>
          </a:bodyPr>
          <a:lstStyle/>
          <a:p>
            <a:pPr algn="l">
              <a:lnSpc>
                <a:spcPct val="98000"/>
              </a:lnSpc>
              <a:buNone/>
              <a:defRPr sz="1950" b="1" i="0">
                <a:solidFill>
                  <a:srgbClr val="18232F"/>
                </a:solidFill>
                <a:latin typeface="Segoe UI Semibold"/>
                <a:ea typeface="Segoe UI Semibold"/>
                <a:cs typeface="Segoe UI Semibold"/>
              </a:defRPr>
            </a:pPr>
            <a:r>
              <a:rPr sz="1950" b="1" i="0">
                <a:solidFill>
                  <a:srgbClr val="18232F"/>
                </a:solidFill>
                <a:latin typeface="Segoe UI Semibold"/>
                <a:ea typeface="Segoe UI Semibold"/>
                <a:cs typeface="Segoe UI Semibold"/>
              </a:rPr>
              <a:t>Evaluate</a:t>
            </a:r>
          </a:p>
        </p:txBody>
      </p:sp>
      <p:sp>
        <p:nvSpPr>
          <p:cNvPr id="32" name="Rectangle 31">
            <a:extLst>
              <a:ext uri="{FF2B5EF4-FFF2-40B4-BE49-F238E27FC236}">
                <a16:creationId xmlns:a16="http://schemas.microsoft.com/office/drawing/2014/main" id="{0FDEBFA4-101F-4BA5-8743-4712043D5416}"/>
              </a:ext>
            </a:extLst>
          </p:cNvPr>
          <p:cNvSpPr>
            <a:spLocks noGrp="1"/>
          </p:cNvSpPr>
          <p:nvPr/>
        </p:nvSpPr>
        <p:spPr>
          <a:xfrm>
            <a:off x="10077450" y="3743325"/>
            <a:ext cx="1619250" cy="514350"/>
          </a:xfrm>
          <a:prstGeom prst="rect">
            <a:avLst/>
          </a:prstGeom>
          <a:noFill/>
          <a:ln w="0">
            <a:noFill/>
            <a:prstDash val="solid"/>
          </a:ln>
        </p:spPr>
        <p:txBody>
          <a:bodyPr lIns="0" tIns="0" rIns="0" bIns="0" anchor="t">
            <a:normAutofit/>
          </a:bodyPr>
          <a:lstStyle/>
          <a:p>
            <a:pPr algn="l">
              <a:lnSpc>
                <a:spcPct val="105000"/>
              </a:lnSpc>
              <a:buNone/>
              <a:defRPr sz="1350" b="0" i="0">
                <a:solidFill>
                  <a:srgbClr val="5B6670"/>
                </a:solidFill>
                <a:latin typeface="Segoe UI"/>
                <a:ea typeface="Segoe UI"/>
                <a:cs typeface="Segoe UI"/>
              </a:defRPr>
            </a:pPr>
            <a:r>
              <a:rPr sz="1350" b="0" i="0">
                <a:solidFill>
                  <a:srgbClr val="5B6670"/>
                </a:solidFill>
                <a:latin typeface="Segoe UI"/>
                <a:ea typeface="Segoe UI"/>
                <a:cs typeface="Segoe UI"/>
              </a:rPr>
              <a:t>Watch it and compare results</a:t>
            </a:r>
          </a:p>
        </p:txBody>
      </p:sp>
      <p:sp>
        <p:nvSpPr>
          <p:cNvPr id="33" name="Rectangle 32">
            <a:extLst>
              <a:ext uri="{FF2B5EF4-FFF2-40B4-BE49-F238E27FC236}">
                <a16:creationId xmlns:a16="http://schemas.microsoft.com/office/drawing/2014/main" id="{8A4AC5F6-B658-4D6B-BA29-C3B79B59C888}"/>
              </a:ext>
            </a:extLst>
          </p:cNvPr>
          <p:cNvSpPr>
            <a:spLocks noGrp="1"/>
          </p:cNvSpPr>
          <p:nvPr/>
        </p:nvSpPr>
        <p:spPr>
          <a:xfrm>
            <a:off x="2133600" y="5143500"/>
            <a:ext cx="7924800" cy="476250"/>
          </a:xfrm>
          <a:prstGeom prst="rect">
            <a:avLst/>
          </a:prstGeom>
          <a:noFill/>
          <a:ln w="0">
            <a:noFill/>
            <a:prstDash val="solid"/>
          </a:ln>
        </p:spPr>
        <p:txBody>
          <a:bodyPr lIns="0" tIns="0" rIns="0" bIns="0" anchor="t">
            <a:normAutofit fontScale="92428" lnSpcReduction="10000"/>
          </a:bodyPr>
          <a:lstStyle/>
          <a:p>
            <a:pPr algn="ctr">
              <a:lnSpc>
                <a:spcPct val="98000"/>
              </a:lnSpc>
              <a:buNone/>
              <a:defRPr sz="1725" b="0" i="0">
                <a:solidFill>
                  <a:srgbClr val="5B6670"/>
                </a:solidFill>
                <a:latin typeface="Segoe UI"/>
                <a:ea typeface="Segoe UI"/>
                <a:cs typeface="Segoe UI"/>
              </a:defRPr>
            </a:pPr>
            <a:r>
              <a:rPr sz="1725" b="0" i="0">
                <a:solidFill>
                  <a:srgbClr val="5B6670"/>
                </a:solidFill>
                <a:latin typeface="Segoe UI"/>
                <a:ea typeface="Segoe UI"/>
                <a:cs typeface="Segoe UI"/>
              </a:rPr>
              <a:t>You can check and approve every important change, and the app still works without the assistant.</a:t>
            </a:r>
          </a:p>
        </p:txBody>
      </p:sp>
    </p:spTree>
    <p:extLst>
      <p:ext uri="{BB962C8B-B14F-4D97-AF65-F5344CB8AC3E}">
        <p14:creationId xmlns:p14="http://schemas.microsoft.com/office/powerpoint/2010/main" val="1126474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8AC0CEE-D324-48F3-A21B-F122EAF3DA69}"/>
              </a:ext>
            </a:extLst>
          </p:cNvPr>
          <p:cNvSpPr>
            <a:spLocks noGrp="1"/>
          </p:cNvSpPr>
          <p:nvPr/>
        </p:nvSpPr>
        <p:spPr>
          <a:xfrm>
            <a:off x="11106150" y="266700"/>
            <a:ext cx="400050" cy="228600"/>
          </a:xfrm>
          <a:prstGeom prst="rect">
            <a:avLst/>
          </a:prstGeom>
          <a:noFill/>
          <a:ln w="0">
            <a:noFill/>
            <a:prstDash val="solid"/>
          </a:ln>
        </p:spPr>
        <p:txBody>
          <a:bodyPr lIns="0" tIns="0" rIns="0" bIns="0" anchor="ctr">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07</a:t>
            </a:r>
          </a:p>
        </p:txBody>
      </p:sp>
      <p:sp>
        <p:nvSpPr>
          <p:cNvPr id="4" name="Rectangle 3">
            <a:extLst>
              <a:ext uri="{FF2B5EF4-FFF2-40B4-BE49-F238E27FC236}">
                <a16:creationId xmlns:a16="http://schemas.microsoft.com/office/drawing/2014/main" id="{4B7CC2CF-A772-46EB-8529-8E736F556A90}"/>
              </a:ext>
            </a:extLst>
          </p:cNvPr>
          <p:cNvSpPr>
            <a:spLocks noGrp="1"/>
          </p:cNvSpPr>
          <p:nvPr/>
        </p:nvSpPr>
        <p:spPr>
          <a:xfrm>
            <a:off x="685800" y="714375"/>
            <a:ext cx="10820400" cy="800100"/>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We started with the easiest setup to run</a:t>
            </a:r>
          </a:p>
        </p:txBody>
      </p:sp>
      <p:sp>
        <p:nvSpPr>
          <p:cNvPr id="5" name="Rectangle 4">
            <a:extLst>
              <a:ext uri="{FF2B5EF4-FFF2-40B4-BE49-F238E27FC236}">
                <a16:creationId xmlns:a16="http://schemas.microsoft.com/office/drawing/2014/main" id="{6FC1A89C-47BE-4773-92A6-D3FF1600C4A0}"/>
              </a:ext>
            </a:extLst>
          </p:cNvPr>
          <p:cNvSpPr>
            <a:spLocks noGrp="1"/>
          </p:cNvSpPr>
          <p:nvPr/>
        </p:nvSpPr>
        <p:spPr>
          <a:xfrm>
            <a:off x="685800" y="6457950"/>
            <a:ext cx="10820400" cy="9525"/>
          </a:xfrm>
          <a:prstGeom prst="rect">
            <a:avLst/>
          </a:prstGeom>
          <a:solidFill>
            <a:srgbClr val="D5DAD6"/>
          </a:solidFill>
          <a:ln w="0">
            <a:noFill/>
            <a:prstDash val="solid"/>
          </a:ln>
        </p:spPr>
        <p:txBody>
          <a:bodyPr/>
          <a:lstStyle/>
          <a:p>
            <a:endParaRPr lang="en-IN"/>
          </a:p>
        </p:txBody>
      </p:sp>
      <p:sp>
        <p:nvSpPr>
          <p:cNvPr id="8" name="Rectangle 7">
            <a:extLst>
              <a:ext uri="{FF2B5EF4-FFF2-40B4-BE49-F238E27FC236}">
                <a16:creationId xmlns:a16="http://schemas.microsoft.com/office/drawing/2014/main" id="{B190B694-65CC-4963-AA27-99A02C1948A3}"/>
              </a:ext>
            </a:extLst>
          </p:cNvPr>
          <p:cNvSpPr>
            <a:spLocks noGrp="1"/>
          </p:cNvSpPr>
          <p:nvPr/>
        </p:nvSpPr>
        <p:spPr>
          <a:xfrm>
            <a:off x="762000" y="2019300"/>
            <a:ext cx="2476500" cy="304800"/>
          </a:xfrm>
          <a:prstGeom prst="rect">
            <a:avLst/>
          </a:prstGeom>
          <a:noFill/>
          <a:ln w="0">
            <a:noFill/>
            <a:prstDash val="solid"/>
          </a:ln>
        </p:spPr>
        <p:txBody>
          <a:bodyPr lIns="0" tIns="0" rIns="0" bIns="0" anchor="t">
            <a:normAutofit/>
          </a:bodyPr>
          <a:lstStyle/>
          <a:p>
            <a:pPr algn="l">
              <a:lnSpc>
                <a:spcPct val="98000"/>
              </a:lnSpc>
              <a:buNone/>
              <a:defRPr sz="1875" b="1" i="0">
                <a:solidFill>
                  <a:srgbClr val="0B6B64"/>
                </a:solidFill>
                <a:latin typeface="Segoe UI Semibold"/>
                <a:ea typeface="Segoe UI Semibold"/>
                <a:cs typeface="Segoe UI Semibold"/>
              </a:defRPr>
            </a:pPr>
            <a:r>
              <a:rPr sz="1875" b="1" i="0">
                <a:solidFill>
                  <a:srgbClr val="0B6B64"/>
                </a:solidFill>
                <a:latin typeface="Segoe UI Semibold"/>
                <a:ea typeface="Segoe UI Semibold"/>
                <a:cs typeface="Segoe UI Semibold"/>
              </a:rPr>
              <a:t>Choice</a:t>
            </a:r>
          </a:p>
        </p:txBody>
      </p:sp>
      <p:sp>
        <p:nvSpPr>
          <p:cNvPr id="9" name="Rectangle 8">
            <a:extLst>
              <a:ext uri="{FF2B5EF4-FFF2-40B4-BE49-F238E27FC236}">
                <a16:creationId xmlns:a16="http://schemas.microsoft.com/office/drawing/2014/main" id="{CA5E4B6F-8AAC-4114-8CCA-144FDB60CEAC}"/>
              </a:ext>
            </a:extLst>
          </p:cNvPr>
          <p:cNvSpPr>
            <a:spLocks noGrp="1"/>
          </p:cNvSpPr>
          <p:nvPr/>
        </p:nvSpPr>
        <p:spPr>
          <a:xfrm>
            <a:off x="4495800" y="2019300"/>
            <a:ext cx="6096000" cy="304800"/>
          </a:xfrm>
          <a:prstGeom prst="rect">
            <a:avLst/>
          </a:prstGeom>
          <a:noFill/>
          <a:ln w="0">
            <a:noFill/>
            <a:prstDash val="solid"/>
          </a:ln>
        </p:spPr>
        <p:txBody>
          <a:bodyPr lIns="0" tIns="0" rIns="0" bIns="0" anchor="t">
            <a:normAutofit/>
          </a:bodyPr>
          <a:lstStyle/>
          <a:p>
            <a:pPr algn="l">
              <a:lnSpc>
                <a:spcPct val="98000"/>
              </a:lnSpc>
              <a:buNone/>
              <a:defRPr sz="1875" b="1" i="0">
                <a:solidFill>
                  <a:srgbClr val="0B6B64"/>
                </a:solidFill>
                <a:latin typeface="Segoe UI Semibold"/>
                <a:ea typeface="Segoe UI Semibold"/>
                <a:cs typeface="Segoe UI Semibold"/>
              </a:defRPr>
            </a:pPr>
            <a:r>
              <a:rPr sz="1875" b="1" i="0">
                <a:solidFill>
                  <a:srgbClr val="0B6B64"/>
                </a:solidFill>
                <a:latin typeface="Segoe UI Semibold"/>
                <a:ea typeface="Segoe UI Semibold"/>
                <a:cs typeface="Segoe UI Semibold"/>
              </a:rPr>
              <a:t>Why it made sense</a:t>
            </a:r>
          </a:p>
        </p:txBody>
      </p:sp>
      <p:sp>
        <p:nvSpPr>
          <p:cNvPr id="10" name="Rectangle 9">
            <a:extLst>
              <a:ext uri="{FF2B5EF4-FFF2-40B4-BE49-F238E27FC236}">
                <a16:creationId xmlns:a16="http://schemas.microsoft.com/office/drawing/2014/main" id="{FFE567FA-4DCD-41FC-8A9E-351E1352823D}"/>
              </a:ext>
            </a:extLst>
          </p:cNvPr>
          <p:cNvSpPr>
            <a:spLocks noGrp="1"/>
          </p:cNvSpPr>
          <p:nvPr/>
        </p:nvSpPr>
        <p:spPr>
          <a:xfrm>
            <a:off x="762000" y="2647950"/>
            <a:ext cx="2952750" cy="457200"/>
          </a:xfrm>
          <a:prstGeom prst="rect">
            <a:avLst/>
          </a:prstGeom>
          <a:noFill/>
          <a:ln w="0">
            <a:noFill/>
            <a:prstDash val="solid"/>
          </a:ln>
        </p:spPr>
        <p:txBody>
          <a:bodyPr lIns="0" tIns="0" rIns="0" bIns="0" anchor="ctr">
            <a:normAutofit/>
          </a:bodyPr>
          <a:lstStyle/>
          <a:p>
            <a:pPr algn="l">
              <a:lnSpc>
                <a:spcPct val="98000"/>
              </a:lnSpc>
              <a:buNone/>
              <a:defRPr sz="1725" b="1" i="0">
                <a:solidFill>
                  <a:srgbClr val="18232F"/>
                </a:solidFill>
                <a:latin typeface="Segoe UI Semibold"/>
                <a:ea typeface="Segoe UI Semibold"/>
                <a:cs typeface="Segoe UI Semibold"/>
              </a:defRPr>
            </a:pPr>
            <a:r>
              <a:rPr sz="1725" b="1" i="0">
                <a:solidFill>
                  <a:srgbClr val="18232F"/>
                </a:solidFill>
                <a:latin typeface="Segoe UI Semibold"/>
                <a:ea typeface="Segoe UI Semibold"/>
                <a:cs typeface="Segoe UI Semibold"/>
              </a:rPr>
              <a:t>Windows + CPU</a:t>
            </a:r>
          </a:p>
        </p:txBody>
      </p:sp>
      <p:sp>
        <p:nvSpPr>
          <p:cNvPr id="11" name="Rectangle 10">
            <a:extLst>
              <a:ext uri="{FF2B5EF4-FFF2-40B4-BE49-F238E27FC236}">
                <a16:creationId xmlns:a16="http://schemas.microsoft.com/office/drawing/2014/main" id="{993C4D16-4C99-497A-BEDA-8344BA09F2C3}"/>
              </a:ext>
            </a:extLst>
          </p:cNvPr>
          <p:cNvSpPr>
            <a:spLocks noGrp="1"/>
          </p:cNvSpPr>
          <p:nvPr/>
        </p:nvSpPr>
        <p:spPr>
          <a:xfrm>
            <a:off x="4495800" y="2647950"/>
            <a:ext cx="6210300" cy="495300"/>
          </a:xfrm>
          <a:prstGeom prst="rect">
            <a:avLst/>
          </a:prstGeom>
          <a:noFill/>
          <a:ln w="0">
            <a:noFill/>
            <a:prstDash val="solid"/>
          </a:ln>
        </p:spPr>
        <p:txBody>
          <a:bodyPr lIns="0" tIns="0" rIns="0" bIns="0" anchor="ctr">
            <a:normAutofit/>
          </a:bodyPr>
          <a:lstStyle/>
          <a:p>
            <a:pPr algn="l">
              <a:lnSpc>
                <a:spcPct val="98000"/>
              </a:lnSpc>
              <a:buNone/>
              <a:defRPr sz="1575" b="0" i="0">
                <a:solidFill>
                  <a:srgbClr val="5B6670"/>
                </a:solidFill>
                <a:latin typeface="Segoe UI"/>
                <a:ea typeface="Segoe UI"/>
                <a:cs typeface="Segoe UI"/>
              </a:defRPr>
            </a:pPr>
            <a:r>
              <a:rPr sz="1575" b="0" i="0">
                <a:solidFill>
                  <a:srgbClr val="5B6670"/>
                </a:solidFill>
                <a:latin typeface="Segoe UI"/>
                <a:ea typeface="Segoe UI"/>
                <a:cs typeface="Segoe UI"/>
              </a:rPr>
              <a:t>Runs on a normal student laptop</a:t>
            </a:r>
          </a:p>
        </p:txBody>
      </p:sp>
      <p:sp>
        <p:nvSpPr>
          <p:cNvPr id="12" name="Rectangle 11">
            <a:extLst>
              <a:ext uri="{FF2B5EF4-FFF2-40B4-BE49-F238E27FC236}">
                <a16:creationId xmlns:a16="http://schemas.microsoft.com/office/drawing/2014/main" id="{F4C95124-F63B-4A18-BFEE-0E1ADD606A83}"/>
              </a:ext>
            </a:extLst>
          </p:cNvPr>
          <p:cNvSpPr>
            <a:spLocks noGrp="1"/>
          </p:cNvSpPr>
          <p:nvPr/>
        </p:nvSpPr>
        <p:spPr>
          <a:xfrm>
            <a:off x="762000" y="3238500"/>
            <a:ext cx="9944100" cy="9525"/>
          </a:xfrm>
          <a:prstGeom prst="rect">
            <a:avLst/>
          </a:prstGeom>
          <a:solidFill>
            <a:srgbClr val="D5DAD6"/>
          </a:solidFill>
          <a:ln w="0">
            <a:noFill/>
            <a:prstDash val="solid"/>
          </a:ln>
        </p:spPr>
        <p:txBody>
          <a:bodyPr/>
          <a:lstStyle/>
          <a:p>
            <a:endParaRPr lang="en-IN"/>
          </a:p>
        </p:txBody>
      </p:sp>
      <p:sp>
        <p:nvSpPr>
          <p:cNvPr id="13" name="Rectangle 12">
            <a:extLst>
              <a:ext uri="{FF2B5EF4-FFF2-40B4-BE49-F238E27FC236}">
                <a16:creationId xmlns:a16="http://schemas.microsoft.com/office/drawing/2014/main" id="{9B25AE1F-6FFD-4059-971E-91E382B45F6B}"/>
              </a:ext>
            </a:extLst>
          </p:cNvPr>
          <p:cNvSpPr>
            <a:spLocks noGrp="1"/>
          </p:cNvSpPr>
          <p:nvPr/>
        </p:nvSpPr>
        <p:spPr>
          <a:xfrm>
            <a:off x="762000" y="3429000"/>
            <a:ext cx="2952750" cy="457200"/>
          </a:xfrm>
          <a:prstGeom prst="rect">
            <a:avLst/>
          </a:prstGeom>
          <a:noFill/>
          <a:ln w="0">
            <a:noFill/>
            <a:prstDash val="solid"/>
          </a:ln>
        </p:spPr>
        <p:txBody>
          <a:bodyPr lIns="0" tIns="0" rIns="0" bIns="0" anchor="ctr">
            <a:normAutofit/>
          </a:bodyPr>
          <a:lstStyle/>
          <a:p>
            <a:pPr algn="l">
              <a:lnSpc>
                <a:spcPct val="98000"/>
              </a:lnSpc>
              <a:buNone/>
              <a:defRPr sz="1725" b="1" i="0">
                <a:solidFill>
                  <a:srgbClr val="18232F"/>
                </a:solidFill>
                <a:latin typeface="Segoe UI Semibold"/>
                <a:ea typeface="Segoe UI Semibold"/>
                <a:cs typeface="Segoe UI Semibold"/>
              </a:defRPr>
            </a:pPr>
            <a:r>
              <a:rPr sz="1725" b="1" i="0">
                <a:solidFill>
                  <a:srgbClr val="18232F"/>
                </a:solidFill>
                <a:latin typeface="Segoe UI Semibold"/>
                <a:ea typeface="Segoe UI Semibold"/>
                <a:cs typeface="Segoe UI Semibold"/>
              </a:rPr>
              <a:t>Flutter + FastAPI</a:t>
            </a:r>
          </a:p>
        </p:txBody>
      </p:sp>
      <p:sp>
        <p:nvSpPr>
          <p:cNvPr id="14" name="Rectangle 13">
            <a:extLst>
              <a:ext uri="{FF2B5EF4-FFF2-40B4-BE49-F238E27FC236}">
                <a16:creationId xmlns:a16="http://schemas.microsoft.com/office/drawing/2014/main" id="{DAC8B2A3-3532-454C-A778-E63DF64D6F1F}"/>
              </a:ext>
            </a:extLst>
          </p:cNvPr>
          <p:cNvSpPr>
            <a:spLocks noGrp="1"/>
          </p:cNvSpPr>
          <p:nvPr/>
        </p:nvSpPr>
        <p:spPr>
          <a:xfrm>
            <a:off x="4495800" y="3429000"/>
            <a:ext cx="6210300" cy="495300"/>
          </a:xfrm>
          <a:prstGeom prst="rect">
            <a:avLst/>
          </a:prstGeom>
          <a:noFill/>
          <a:ln w="0">
            <a:noFill/>
            <a:prstDash val="solid"/>
          </a:ln>
        </p:spPr>
        <p:txBody>
          <a:bodyPr lIns="0" tIns="0" rIns="0" bIns="0" anchor="ctr">
            <a:normAutofit/>
          </a:bodyPr>
          <a:lstStyle/>
          <a:p>
            <a:pPr algn="l">
              <a:lnSpc>
                <a:spcPct val="98000"/>
              </a:lnSpc>
              <a:buNone/>
              <a:defRPr sz="1575" b="0" i="0">
                <a:solidFill>
                  <a:srgbClr val="5B6670"/>
                </a:solidFill>
                <a:latin typeface="Segoe UI"/>
                <a:ea typeface="Segoe UI"/>
                <a:cs typeface="Segoe UI"/>
              </a:defRPr>
            </a:pPr>
            <a:r>
              <a:rPr sz="1575" b="0" i="0">
                <a:solidFill>
                  <a:srgbClr val="5B6670"/>
                </a:solidFill>
                <a:latin typeface="Segoe UI"/>
                <a:ea typeface="Segoe UI"/>
                <a:cs typeface="Segoe UI"/>
              </a:rPr>
              <a:t>A desktop app with a Python training engine behind it</a:t>
            </a:r>
          </a:p>
        </p:txBody>
      </p:sp>
      <p:sp>
        <p:nvSpPr>
          <p:cNvPr id="15" name="Rectangle 14">
            <a:extLst>
              <a:ext uri="{FF2B5EF4-FFF2-40B4-BE49-F238E27FC236}">
                <a16:creationId xmlns:a16="http://schemas.microsoft.com/office/drawing/2014/main" id="{5B74FEBC-D316-4B41-9DEB-CF5FC5DA66B3}"/>
              </a:ext>
            </a:extLst>
          </p:cNvPr>
          <p:cNvSpPr>
            <a:spLocks noGrp="1"/>
          </p:cNvSpPr>
          <p:nvPr/>
        </p:nvSpPr>
        <p:spPr>
          <a:xfrm>
            <a:off x="762000" y="4019550"/>
            <a:ext cx="9944100" cy="9525"/>
          </a:xfrm>
          <a:prstGeom prst="rect">
            <a:avLst/>
          </a:prstGeom>
          <a:solidFill>
            <a:srgbClr val="D5DAD6"/>
          </a:solidFill>
          <a:ln w="0">
            <a:noFill/>
            <a:prstDash val="solid"/>
          </a:ln>
        </p:spPr>
        <p:txBody>
          <a:bodyPr/>
          <a:lstStyle/>
          <a:p>
            <a:endParaRPr lang="en-IN"/>
          </a:p>
        </p:txBody>
      </p:sp>
      <p:sp>
        <p:nvSpPr>
          <p:cNvPr id="16" name="Rectangle 15">
            <a:extLst>
              <a:ext uri="{FF2B5EF4-FFF2-40B4-BE49-F238E27FC236}">
                <a16:creationId xmlns:a16="http://schemas.microsoft.com/office/drawing/2014/main" id="{29AA0512-490F-4216-A5C7-3FAFEF4A642D}"/>
              </a:ext>
            </a:extLst>
          </p:cNvPr>
          <p:cNvSpPr>
            <a:spLocks noGrp="1"/>
          </p:cNvSpPr>
          <p:nvPr/>
        </p:nvSpPr>
        <p:spPr>
          <a:xfrm>
            <a:off x="762000" y="4210050"/>
            <a:ext cx="2952750" cy="457200"/>
          </a:xfrm>
          <a:prstGeom prst="rect">
            <a:avLst/>
          </a:prstGeom>
          <a:noFill/>
          <a:ln w="0">
            <a:noFill/>
            <a:prstDash val="solid"/>
          </a:ln>
        </p:spPr>
        <p:txBody>
          <a:bodyPr lIns="0" tIns="0" rIns="0" bIns="0" anchor="ctr">
            <a:normAutofit/>
          </a:bodyPr>
          <a:lstStyle/>
          <a:p>
            <a:pPr algn="l">
              <a:lnSpc>
                <a:spcPct val="98000"/>
              </a:lnSpc>
              <a:buNone/>
              <a:defRPr sz="1725" b="1" i="0">
                <a:solidFill>
                  <a:srgbClr val="18232F"/>
                </a:solidFill>
                <a:latin typeface="Segoe UI Semibold"/>
                <a:ea typeface="Segoe UI Semibold"/>
                <a:cs typeface="Segoe UI Semibold"/>
              </a:defRPr>
            </a:pPr>
            <a:r>
              <a:rPr sz="1725" b="1" i="0">
                <a:solidFill>
                  <a:srgbClr val="18232F"/>
                </a:solidFill>
                <a:latin typeface="Segoe UI Semibold"/>
                <a:ea typeface="Segoe UI Semibold"/>
                <a:cs typeface="Segoe UI Semibold"/>
              </a:rPr>
              <a:t>PyBullet + SB3</a:t>
            </a:r>
          </a:p>
        </p:txBody>
      </p:sp>
      <p:sp>
        <p:nvSpPr>
          <p:cNvPr id="17" name="Rectangle 16">
            <a:extLst>
              <a:ext uri="{FF2B5EF4-FFF2-40B4-BE49-F238E27FC236}">
                <a16:creationId xmlns:a16="http://schemas.microsoft.com/office/drawing/2014/main" id="{1C57C95F-2588-4903-951C-3D1CE44E3510}"/>
              </a:ext>
            </a:extLst>
          </p:cNvPr>
          <p:cNvSpPr>
            <a:spLocks noGrp="1"/>
          </p:cNvSpPr>
          <p:nvPr/>
        </p:nvSpPr>
        <p:spPr>
          <a:xfrm>
            <a:off x="4495800" y="4210050"/>
            <a:ext cx="6210300" cy="495300"/>
          </a:xfrm>
          <a:prstGeom prst="rect">
            <a:avLst/>
          </a:prstGeom>
          <a:noFill/>
          <a:ln w="0">
            <a:noFill/>
            <a:prstDash val="solid"/>
          </a:ln>
        </p:spPr>
        <p:txBody>
          <a:bodyPr lIns="0" tIns="0" rIns="0" bIns="0" anchor="ctr">
            <a:normAutofit/>
          </a:bodyPr>
          <a:lstStyle/>
          <a:p>
            <a:pPr algn="l">
              <a:lnSpc>
                <a:spcPct val="98000"/>
              </a:lnSpc>
              <a:buNone/>
              <a:defRPr sz="1575" b="0" i="0">
                <a:solidFill>
                  <a:srgbClr val="5B6670"/>
                </a:solidFill>
                <a:latin typeface="Segoe UI"/>
                <a:ea typeface="Segoe UI"/>
                <a:cs typeface="Segoe UI"/>
              </a:defRPr>
            </a:pPr>
            <a:r>
              <a:rPr sz="1575" b="0" i="0">
                <a:solidFill>
                  <a:srgbClr val="5B6670"/>
                </a:solidFill>
                <a:latin typeface="Segoe UI"/>
                <a:ea typeface="Segoe UI"/>
                <a:cs typeface="Segoe UI"/>
              </a:rPr>
              <a:t>Free, well-tested physics and a standard learning method</a:t>
            </a:r>
          </a:p>
        </p:txBody>
      </p:sp>
      <p:sp>
        <p:nvSpPr>
          <p:cNvPr id="18" name="Rectangle 17">
            <a:extLst>
              <a:ext uri="{FF2B5EF4-FFF2-40B4-BE49-F238E27FC236}">
                <a16:creationId xmlns:a16="http://schemas.microsoft.com/office/drawing/2014/main" id="{2D703C5D-E3D5-4325-B80C-47C80EF56041}"/>
              </a:ext>
            </a:extLst>
          </p:cNvPr>
          <p:cNvSpPr>
            <a:spLocks noGrp="1"/>
          </p:cNvSpPr>
          <p:nvPr/>
        </p:nvSpPr>
        <p:spPr>
          <a:xfrm>
            <a:off x="762000" y="4800600"/>
            <a:ext cx="9944100" cy="9525"/>
          </a:xfrm>
          <a:prstGeom prst="rect">
            <a:avLst/>
          </a:prstGeom>
          <a:solidFill>
            <a:srgbClr val="D5DAD6"/>
          </a:solidFill>
          <a:ln w="0">
            <a:noFill/>
            <a:prstDash val="solid"/>
          </a:ln>
        </p:spPr>
        <p:txBody>
          <a:bodyPr/>
          <a:lstStyle/>
          <a:p>
            <a:endParaRPr lang="en-IN"/>
          </a:p>
        </p:txBody>
      </p:sp>
      <p:sp>
        <p:nvSpPr>
          <p:cNvPr id="19" name="Rectangle 18">
            <a:extLst>
              <a:ext uri="{FF2B5EF4-FFF2-40B4-BE49-F238E27FC236}">
                <a16:creationId xmlns:a16="http://schemas.microsoft.com/office/drawing/2014/main" id="{4C37564D-3136-408A-962E-2DF5E5B31A10}"/>
              </a:ext>
            </a:extLst>
          </p:cNvPr>
          <p:cNvSpPr>
            <a:spLocks noGrp="1"/>
          </p:cNvSpPr>
          <p:nvPr/>
        </p:nvSpPr>
        <p:spPr>
          <a:xfrm>
            <a:off x="762000" y="4991100"/>
            <a:ext cx="2952750" cy="457200"/>
          </a:xfrm>
          <a:prstGeom prst="rect">
            <a:avLst/>
          </a:prstGeom>
          <a:noFill/>
          <a:ln w="0">
            <a:noFill/>
            <a:prstDash val="solid"/>
          </a:ln>
        </p:spPr>
        <p:txBody>
          <a:bodyPr lIns="0" tIns="0" rIns="0" bIns="0" anchor="ctr">
            <a:normAutofit/>
          </a:bodyPr>
          <a:lstStyle/>
          <a:p>
            <a:pPr algn="l">
              <a:lnSpc>
                <a:spcPct val="98000"/>
              </a:lnSpc>
              <a:buNone/>
              <a:defRPr sz="1725" b="1" i="0">
                <a:solidFill>
                  <a:srgbClr val="18232F"/>
                </a:solidFill>
                <a:latin typeface="Segoe UI Semibold"/>
                <a:ea typeface="Segoe UI Semibold"/>
                <a:cs typeface="Segoe UI Semibold"/>
              </a:defRPr>
            </a:pPr>
            <a:r>
              <a:rPr sz="1725" b="1" i="0">
                <a:solidFill>
                  <a:srgbClr val="18232F"/>
                </a:solidFill>
                <a:latin typeface="Segoe UI Semibold"/>
                <a:ea typeface="Segoe UI Semibold"/>
                <a:cs typeface="Segoe UI Semibold"/>
              </a:rPr>
              <a:t>Built-in assistant</a:t>
            </a:r>
          </a:p>
        </p:txBody>
      </p:sp>
      <p:sp>
        <p:nvSpPr>
          <p:cNvPr id="20" name="Rectangle 19">
            <a:extLst>
              <a:ext uri="{FF2B5EF4-FFF2-40B4-BE49-F238E27FC236}">
                <a16:creationId xmlns:a16="http://schemas.microsoft.com/office/drawing/2014/main" id="{35E982DA-B819-48F2-AD21-493F5F3B15B1}"/>
              </a:ext>
            </a:extLst>
          </p:cNvPr>
          <p:cNvSpPr>
            <a:spLocks noGrp="1"/>
          </p:cNvSpPr>
          <p:nvPr/>
        </p:nvSpPr>
        <p:spPr>
          <a:xfrm>
            <a:off x="4495800" y="4991100"/>
            <a:ext cx="6210300" cy="495300"/>
          </a:xfrm>
          <a:prstGeom prst="rect">
            <a:avLst/>
          </a:prstGeom>
          <a:noFill/>
          <a:ln w="0">
            <a:noFill/>
            <a:prstDash val="solid"/>
          </a:ln>
        </p:spPr>
        <p:txBody>
          <a:bodyPr lIns="0" tIns="0" rIns="0" bIns="0" anchor="ctr">
            <a:normAutofit/>
          </a:bodyPr>
          <a:lstStyle/>
          <a:p>
            <a:pPr algn="l">
              <a:lnSpc>
                <a:spcPct val="98000"/>
              </a:lnSpc>
              <a:buNone/>
              <a:defRPr sz="1575" b="0" i="0">
                <a:solidFill>
                  <a:srgbClr val="5B6670"/>
                </a:solidFill>
                <a:latin typeface="Segoe UI"/>
                <a:ea typeface="Segoe UI"/>
                <a:cs typeface="Segoe UI"/>
              </a:defRPr>
            </a:pPr>
            <a:r>
              <a:rPr sz="1575" b="0" i="0">
                <a:solidFill>
                  <a:srgbClr val="5B6670"/>
                </a:solidFill>
                <a:latin typeface="Segoe UI"/>
                <a:ea typeface="Segoe UI"/>
                <a:cs typeface="Segoe UI"/>
              </a:rPr>
              <a:t>Answers questions in plain English, and the app works without it</a:t>
            </a:r>
          </a:p>
        </p:txBody>
      </p:sp>
      <p:sp>
        <p:nvSpPr>
          <p:cNvPr id="21" name="Rectangle 20">
            <a:extLst>
              <a:ext uri="{FF2B5EF4-FFF2-40B4-BE49-F238E27FC236}">
                <a16:creationId xmlns:a16="http://schemas.microsoft.com/office/drawing/2014/main" id="{3F33A4C4-91B1-4F72-AC35-4C2B081F1808}"/>
              </a:ext>
            </a:extLst>
          </p:cNvPr>
          <p:cNvSpPr>
            <a:spLocks noGrp="1"/>
          </p:cNvSpPr>
          <p:nvPr/>
        </p:nvSpPr>
        <p:spPr>
          <a:xfrm>
            <a:off x="762000" y="5581650"/>
            <a:ext cx="9944100" cy="9525"/>
          </a:xfrm>
          <a:prstGeom prst="rect">
            <a:avLst/>
          </a:prstGeom>
          <a:solidFill>
            <a:srgbClr val="D5DAD6"/>
          </a:solidFill>
          <a:ln w="0">
            <a:noFill/>
            <a:prstDash val="solid"/>
          </a:ln>
        </p:spPr>
        <p:txBody>
          <a:bodyPr/>
          <a:lstStyle/>
          <a:p>
            <a:endParaRPr lang="en-IN"/>
          </a:p>
        </p:txBody>
      </p:sp>
      <p:sp>
        <p:nvSpPr>
          <p:cNvPr id="22" name="Rectangle 21">
            <a:extLst>
              <a:ext uri="{FF2B5EF4-FFF2-40B4-BE49-F238E27FC236}">
                <a16:creationId xmlns:a16="http://schemas.microsoft.com/office/drawing/2014/main" id="{47F00AD1-54C3-4077-ABF6-9124B0D6CE74}"/>
              </a:ext>
            </a:extLst>
          </p:cNvPr>
          <p:cNvSpPr>
            <a:spLocks noGrp="1"/>
          </p:cNvSpPr>
          <p:nvPr/>
        </p:nvSpPr>
        <p:spPr>
          <a:xfrm>
            <a:off x="762000" y="5829300"/>
            <a:ext cx="9944100" cy="361950"/>
          </a:xfrm>
          <a:prstGeom prst="rect">
            <a:avLst/>
          </a:prstGeom>
          <a:noFill/>
          <a:ln w="0">
            <a:noFill/>
            <a:prstDash val="solid"/>
          </a:ln>
        </p:spPr>
        <p:txBody>
          <a:bodyPr lIns="0" tIns="0" rIns="0" bIns="0" anchor="t">
            <a:normAutofit/>
          </a:bodyPr>
          <a:lstStyle/>
          <a:p>
            <a:pPr algn="l">
              <a:lnSpc>
                <a:spcPct val="98000"/>
              </a:lnSpc>
              <a:buNone/>
              <a:defRPr sz="1650" b="0" i="1">
                <a:solidFill>
                  <a:srgbClr val="18232F"/>
                </a:solidFill>
                <a:latin typeface="Georgia"/>
                <a:ea typeface="Georgia"/>
                <a:cs typeface="Georgia"/>
              </a:defRPr>
            </a:pPr>
            <a:r>
              <a:rPr sz="1650" b="0" i="1">
                <a:solidFill>
                  <a:srgbClr val="18232F"/>
                </a:solidFill>
                <a:latin typeface="Georgia"/>
                <a:ea typeface="Georgia"/>
                <a:cs typeface="Georgia"/>
              </a:rPr>
              <a:t>The first goal was a working process. Speed could come later.</a:t>
            </a:r>
          </a:p>
        </p:txBody>
      </p:sp>
    </p:spTree>
    <p:extLst>
      <p:ext uri="{BB962C8B-B14F-4D97-AF65-F5344CB8AC3E}">
        <p14:creationId xmlns:p14="http://schemas.microsoft.com/office/powerpoint/2010/main" val="59168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64B8988-C92F-4285-BFD3-6BB92361CEFE}"/>
              </a:ext>
            </a:extLst>
          </p:cNvPr>
          <p:cNvSpPr>
            <a:spLocks noGrp="1"/>
          </p:cNvSpPr>
          <p:nvPr/>
        </p:nvSpPr>
        <p:spPr>
          <a:xfrm>
            <a:off x="11106150" y="266700"/>
            <a:ext cx="400050" cy="228600"/>
          </a:xfrm>
          <a:prstGeom prst="rect">
            <a:avLst/>
          </a:prstGeom>
          <a:noFill/>
          <a:ln w="0">
            <a:noFill/>
            <a:prstDash val="solid"/>
          </a:ln>
        </p:spPr>
        <p:txBody>
          <a:bodyPr lIns="0" tIns="0" rIns="0" bIns="0" anchor="ctr">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08</a:t>
            </a:r>
          </a:p>
        </p:txBody>
      </p:sp>
      <p:sp>
        <p:nvSpPr>
          <p:cNvPr id="4" name="Rectangle 3">
            <a:extLst>
              <a:ext uri="{FF2B5EF4-FFF2-40B4-BE49-F238E27FC236}">
                <a16:creationId xmlns:a16="http://schemas.microsoft.com/office/drawing/2014/main" id="{16E54ACD-2A48-4598-AD35-3AF3A83848C5}"/>
              </a:ext>
            </a:extLst>
          </p:cNvPr>
          <p:cNvSpPr>
            <a:spLocks noGrp="1"/>
          </p:cNvSpPr>
          <p:nvPr/>
        </p:nvSpPr>
        <p:spPr>
          <a:xfrm>
            <a:off x="685800" y="714375"/>
            <a:ext cx="10820400" cy="1162050"/>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It worked, but the CPU was too slow</a:t>
            </a:r>
          </a:p>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to learn anything quickly</a:t>
            </a:r>
          </a:p>
        </p:txBody>
      </p:sp>
      <p:sp>
        <p:nvSpPr>
          <p:cNvPr id="5" name="Rectangle 4">
            <a:extLst>
              <a:ext uri="{FF2B5EF4-FFF2-40B4-BE49-F238E27FC236}">
                <a16:creationId xmlns:a16="http://schemas.microsoft.com/office/drawing/2014/main" id="{284F6D0A-948D-491A-B155-489C86080CD7}"/>
              </a:ext>
            </a:extLst>
          </p:cNvPr>
          <p:cNvSpPr>
            <a:spLocks noGrp="1"/>
          </p:cNvSpPr>
          <p:nvPr/>
        </p:nvSpPr>
        <p:spPr>
          <a:xfrm>
            <a:off x="685800" y="6457950"/>
            <a:ext cx="10820400" cy="9525"/>
          </a:xfrm>
          <a:prstGeom prst="rect">
            <a:avLst/>
          </a:prstGeom>
          <a:solidFill>
            <a:srgbClr val="D5DAD6"/>
          </a:solidFill>
          <a:ln w="0">
            <a:noFill/>
            <a:prstDash val="solid"/>
          </a:ln>
        </p:spPr>
        <p:txBody>
          <a:bodyPr/>
          <a:lstStyle/>
          <a:p>
            <a:endParaRPr lang="en-IN"/>
          </a:p>
        </p:txBody>
      </p:sp>
      <p:sp>
        <p:nvSpPr>
          <p:cNvPr id="8" name="Rectangle 7">
            <a:extLst>
              <a:ext uri="{FF2B5EF4-FFF2-40B4-BE49-F238E27FC236}">
                <a16:creationId xmlns:a16="http://schemas.microsoft.com/office/drawing/2014/main" id="{A5C3A069-242F-4FA5-8703-D2AAC7A56F7D}"/>
              </a:ext>
            </a:extLst>
          </p:cNvPr>
          <p:cNvSpPr>
            <a:spLocks noGrp="1"/>
          </p:cNvSpPr>
          <p:nvPr/>
        </p:nvSpPr>
        <p:spPr>
          <a:xfrm>
            <a:off x="781050" y="2400300"/>
            <a:ext cx="4000500" cy="742950"/>
          </a:xfrm>
          <a:prstGeom prst="rect">
            <a:avLst/>
          </a:prstGeom>
          <a:noFill/>
          <a:ln w="0">
            <a:noFill/>
            <a:prstDash val="solid"/>
          </a:ln>
        </p:spPr>
        <p:txBody>
          <a:bodyPr lIns="0" tIns="0" rIns="0" bIns="0" anchor="t">
            <a:normAutofit/>
          </a:bodyPr>
          <a:lstStyle/>
          <a:p>
            <a:pPr algn="l">
              <a:lnSpc>
                <a:spcPct val="98000"/>
              </a:lnSpc>
              <a:buNone/>
              <a:defRPr sz="4350" b="1" i="0">
                <a:solidFill>
                  <a:srgbClr val="B8502A"/>
                </a:solidFill>
                <a:latin typeface="Segoe UI Semibold"/>
                <a:ea typeface="Segoe UI Semibold"/>
                <a:cs typeface="Segoe UI Semibold"/>
              </a:defRPr>
            </a:pPr>
            <a:r>
              <a:rPr sz="4350" b="1" i="0">
                <a:solidFill>
                  <a:srgbClr val="B8502A"/>
                </a:solidFill>
                <a:latin typeface="Segoe UI Semibold"/>
                <a:ea typeface="Segoe UI Semibold"/>
                <a:cs typeface="Segoe UI Semibold"/>
              </a:rPr>
              <a:t>240</a:t>
            </a:r>
          </a:p>
        </p:txBody>
      </p:sp>
      <p:sp>
        <p:nvSpPr>
          <p:cNvPr id="9" name="Rectangle 8">
            <a:extLst>
              <a:ext uri="{FF2B5EF4-FFF2-40B4-BE49-F238E27FC236}">
                <a16:creationId xmlns:a16="http://schemas.microsoft.com/office/drawing/2014/main" id="{75729C6A-0E82-4499-A340-EAD1FEDC727C}"/>
              </a:ext>
            </a:extLst>
          </p:cNvPr>
          <p:cNvSpPr>
            <a:spLocks noGrp="1"/>
          </p:cNvSpPr>
          <p:nvPr/>
        </p:nvSpPr>
        <p:spPr>
          <a:xfrm>
            <a:off x="781050" y="3086100"/>
            <a:ext cx="4000500" cy="304800"/>
          </a:xfrm>
          <a:prstGeom prst="rect">
            <a:avLst/>
          </a:prstGeom>
          <a:noFill/>
          <a:ln w="0">
            <a:noFill/>
            <a:prstDash val="solid"/>
          </a:ln>
        </p:spPr>
        <p:txBody>
          <a:bodyPr lIns="0" tIns="0" rIns="0" bIns="0" anchor="t">
            <a:normAutofit/>
          </a:bodyPr>
          <a:lstStyle/>
          <a:p>
            <a:pPr algn="l">
              <a:lnSpc>
                <a:spcPct val="98000"/>
              </a:lnSpc>
              <a:buNone/>
              <a:defRPr sz="1650" b="1" i="0">
                <a:solidFill>
                  <a:srgbClr val="18232F"/>
                </a:solidFill>
                <a:latin typeface="Segoe UI Semibold"/>
                <a:ea typeface="Segoe UI Semibold"/>
                <a:cs typeface="Segoe UI Semibold"/>
              </a:defRPr>
            </a:pPr>
            <a:r>
              <a:rPr sz="1650" b="1" i="0">
                <a:solidFill>
                  <a:srgbClr val="18232F"/>
                </a:solidFill>
                <a:latin typeface="Segoe UI Semibold"/>
                <a:ea typeface="Segoe UI Semibold"/>
                <a:cs typeface="Segoe UI Semibold"/>
              </a:rPr>
              <a:t>steps a second, one robot</a:t>
            </a:r>
          </a:p>
        </p:txBody>
      </p:sp>
      <p:sp>
        <p:nvSpPr>
          <p:cNvPr id="10" name="Rectangle 9">
            <a:extLst>
              <a:ext uri="{FF2B5EF4-FFF2-40B4-BE49-F238E27FC236}">
                <a16:creationId xmlns:a16="http://schemas.microsoft.com/office/drawing/2014/main" id="{62243497-8D65-4EF0-86BF-805D845C2090}"/>
              </a:ext>
            </a:extLst>
          </p:cNvPr>
          <p:cNvSpPr>
            <a:spLocks noGrp="1"/>
          </p:cNvSpPr>
          <p:nvPr/>
        </p:nvSpPr>
        <p:spPr>
          <a:xfrm>
            <a:off x="781050" y="3390900"/>
            <a:ext cx="4000500" cy="457200"/>
          </a:xfrm>
          <a:prstGeom prst="rect">
            <a:avLst/>
          </a:prstGeom>
          <a:noFill/>
          <a:ln w="0">
            <a:noFill/>
            <a:prstDash val="solid"/>
          </a:ln>
        </p:spPr>
        <p:txBody>
          <a:bodyPr lIns="0" tIns="0" rIns="0" bIns="0" anchor="t">
            <a:normAutofit/>
          </a:bodyPr>
          <a:lstStyle/>
          <a:p>
            <a:pPr algn="l">
              <a:lnSpc>
                <a:spcPct val="100000"/>
              </a:lnSpc>
              <a:buNone/>
              <a:defRPr sz="1275" b="0" i="0">
                <a:solidFill>
                  <a:srgbClr val="5B6670"/>
                </a:solidFill>
                <a:latin typeface="Segoe UI"/>
                <a:ea typeface="Segoe UI"/>
                <a:cs typeface="Segoe UI"/>
              </a:defRPr>
            </a:pPr>
            <a:r>
              <a:rPr sz="1275" b="0" i="0">
                <a:solidFill>
                  <a:srgbClr val="5B6670"/>
                </a:solidFill>
                <a:latin typeface="Segoe UI"/>
                <a:ea typeface="Segoe UI"/>
                <a:cs typeface="Segoe UI"/>
              </a:rPr>
              <a:t>Our first working setup</a:t>
            </a:r>
          </a:p>
        </p:txBody>
      </p:sp>
      <p:sp>
        <p:nvSpPr>
          <p:cNvPr id="11" name="Rectangle 10">
            <a:extLst>
              <a:ext uri="{FF2B5EF4-FFF2-40B4-BE49-F238E27FC236}">
                <a16:creationId xmlns:a16="http://schemas.microsoft.com/office/drawing/2014/main" id="{5D6539E5-3730-40B8-8E12-81D47D59E058}"/>
              </a:ext>
            </a:extLst>
          </p:cNvPr>
          <p:cNvSpPr>
            <a:spLocks noGrp="1"/>
          </p:cNvSpPr>
          <p:nvPr/>
        </p:nvSpPr>
        <p:spPr>
          <a:xfrm>
            <a:off x="762000" y="4210050"/>
            <a:ext cx="4171950" cy="9525"/>
          </a:xfrm>
          <a:prstGeom prst="rect">
            <a:avLst/>
          </a:prstGeom>
          <a:solidFill>
            <a:srgbClr val="F2E2D9"/>
          </a:solidFill>
          <a:ln w="0">
            <a:noFill/>
            <a:prstDash val="solid"/>
          </a:ln>
        </p:spPr>
        <p:txBody>
          <a:bodyPr/>
          <a:lstStyle/>
          <a:p>
            <a:endParaRPr lang="en-IN"/>
          </a:p>
        </p:txBody>
      </p:sp>
      <p:sp>
        <p:nvSpPr>
          <p:cNvPr id="12" name="Rectangle 11">
            <a:extLst>
              <a:ext uri="{FF2B5EF4-FFF2-40B4-BE49-F238E27FC236}">
                <a16:creationId xmlns:a16="http://schemas.microsoft.com/office/drawing/2014/main" id="{9C750CD8-D4EB-450C-8435-672CBE577B60}"/>
              </a:ext>
            </a:extLst>
          </p:cNvPr>
          <p:cNvSpPr>
            <a:spLocks noGrp="1"/>
          </p:cNvSpPr>
          <p:nvPr/>
        </p:nvSpPr>
        <p:spPr>
          <a:xfrm>
            <a:off x="781050" y="4362450"/>
            <a:ext cx="4000500" cy="742950"/>
          </a:xfrm>
          <a:prstGeom prst="rect">
            <a:avLst/>
          </a:prstGeom>
          <a:noFill/>
          <a:ln w="0">
            <a:noFill/>
            <a:prstDash val="solid"/>
          </a:ln>
        </p:spPr>
        <p:txBody>
          <a:bodyPr lIns="0" tIns="0" rIns="0" bIns="0" anchor="t">
            <a:normAutofit/>
          </a:bodyPr>
          <a:lstStyle/>
          <a:p>
            <a:pPr algn="l">
              <a:lnSpc>
                <a:spcPct val="98000"/>
              </a:lnSpc>
              <a:buNone/>
              <a:defRPr sz="4350" b="1" i="0">
                <a:solidFill>
                  <a:srgbClr val="B8502A"/>
                </a:solidFill>
                <a:latin typeface="Segoe UI Semibold"/>
                <a:ea typeface="Segoe UI Semibold"/>
                <a:cs typeface="Segoe UI Semibold"/>
              </a:defRPr>
            </a:pPr>
            <a:r>
              <a:rPr sz="4350" b="1" i="0">
                <a:solidFill>
                  <a:srgbClr val="B8502A"/>
                </a:solidFill>
                <a:latin typeface="Segoe UI Semibold"/>
                <a:ea typeface="Segoe UI Semibold"/>
                <a:cs typeface="Segoe UI Semibold"/>
              </a:rPr>
              <a:t>1,750</a:t>
            </a:r>
          </a:p>
        </p:txBody>
      </p:sp>
      <p:sp>
        <p:nvSpPr>
          <p:cNvPr id="13" name="Rectangle 12">
            <a:extLst>
              <a:ext uri="{FF2B5EF4-FFF2-40B4-BE49-F238E27FC236}">
                <a16:creationId xmlns:a16="http://schemas.microsoft.com/office/drawing/2014/main" id="{E33713E4-E3B5-4A19-805F-7264F1CB0A4F}"/>
              </a:ext>
            </a:extLst>
          </p:cNvPr>
          <p:cNvSpPr>
            <a:spLocks noGrp="1"/>
          </p:cNvSpPr>
          <p:nvPr/>
        </p:nvSpPr>
        <p:spPr>
          <a:xfrm>
            <a:off x="781050" y="5048250"/>
            <a:ext cx="4000500" cy="304800"/>
          </a:xfrm>
          <a:prstGeom prst="rect">
            <a:avLst/>
          </a:prstGeom>
          <a:noFill/>
          <a:ln w="0">
            <a:noFill/>
            <a:prstDash val="solid"/>
          </a:ln>
        </p:spPr>
        <p:txBody>
          <a:bodyPr lIns="0" tIns="0" rIns="0" bIns="0" anchor="t">
            <a:normAutofit/>
          </a:bodyPr>
          <a:lstStyle/>
          <a:p>
            <a:pPr algn="l">
              <a:lnSpc>
                <a:spcPct val="98000"/>
              </a:lnSpc>
              <a:buNone/>
              <a:defRPr sz="1650" b="1" i="0">
                <a:solidFill>
                  <a:srgbClr val="18232F"/>
                </a:solidFill>
                <a:latin typeface="Segoe UI Semibold"/>
                <a:ea typeface="Segoe UI Semibold"/>
                <a:cs typeface="Segoe UI Semibold"/>
              </a:defRPr>
            </a:pPr>
            <a:r>
              <a:rPr sz="1650" b="1" i="0">
                <a:solidFill>
                  <a:srgbClr val="18232F"/>
                </a:solidFill>
                <a:latin typeface="Segoe UI Semibold"/>
                <a:ea typeface="Segoe UI Semibold"/>
                <a:cs typeface="Segoe UI Semibold"/>
              </a:rPr>
              <a:t>steps a second, many robots</a:t>
            </a:r>
          </a:p>
        </p:txBody>
      </p:sp>
      <p:sp>
        <p:nvSpPr>
          <p:cNvPr id="14" name="Rectangle 13">
            <a:extLst>
              <a:ext uri="{FF2B5EF4-FFF2-40B4-BE49-F238E27FC236}">
                <a16:creationId xmlns:a16="http://schemas.microsoft.com/office/drawing/2014/main" id="{1EEA818E-5875-432A-AEF1-3A42EFF69A77}"/>
              </a:ext>
            </a:extLst>
          </p:cNvPr>
          <p:cNvSpPr>
            <a:spLocks noGrp="1"/>
          </p:cNvSpPr>
          <p:nvPr/>
        </p:nvSpPr>
        <p:spPr>
          <a:xfrm>
            <a:off x="781050" y="5353050"/>
            <a:ext cx="4000500" cy="457200"/>
          </a:xfrm>
          <a:prstGeom prst="rect">
            <a:avLst/>
          </a:prstGeom>
          <a:noFill/>
          <a:ln w="0">
            <a:noFill/>
            <a:prstDash val="solid"/>
          </a:ln>
        </p:spPr>
        <p:txBody>
          <a:bodyPr lIns="0" tIns="0" rIns="0" bIns="0" anchor="t">
            <a:normAutofit/>
          </a:bodyPr>
          <a:lstStyle/>
          <a:p>
            <a:pPr algn="l">
              <a:lnSpc>
                <a:spcPct val="100000"/>
              </a:lnSpc>
              <a:buNone/>
              <a:defRPr sz="1275" b="0" i="0">
                <a:solidFill>
                  <a:srgbClr val="5B6670"/>
                </a:solidFill>
                <a:latin typeface="Segoe UI"/>
                <a:ea typeface="Segoe UI"/>
                <a:cs typeface="Segoe UI"/>
              </a:defRPr>
            </a:pPr>
            <a:r>
              <a:rPr sz="1275" b="0" i="0">
                <a:solidFill>
                  <a:srgbClr val="5B6670"/>
                </a:solidFill>
                <a:latin typeface="Segoe UI"/>
                <a:ea typeface="Segoe UI"/>
                <a:cs typeface="Segoe UI"/>
              </a:rPr>
              <a:t>Faster, but still too slow to test ideas</a:t>
            </a:r>
          </a:p>
        </p:txBody>
      </p:sp>
      <p:sp>
        <p:nvSpPr>
          <p:cNvPr id="15" name="Rectangle: Rounded Corners 14">
            <a:extLst>
              <a:ext uri="{FF2B5EF4-FFF2-40B4-BE49-F238E27FC236}">
                <a16:creationId xmlns:a16="http://schemas.microsoft.com/office/drawing/2014/main" id="{45750EFE-9AE2-4287-9D6F-6EA76692C10D}"/>
              </a:ext>
            </a:extLst>
          </p:cNvPr>
          <p:cNvSpPr>
            <a:spLocks noGrp="1"/>
          </p:cNvSpPr>
          <p:nvPr/>
        </p:nvSpPr>
        <p:spPr>
          <a:xfrm>
            <a:off x="5810250" y="2286000"/>
            <a:ext cx="4972050" cy="3124200"/>
          </a:xfrm>
          <a:prstGeom prst="roundRect">
            <a:avLst>
              <a:gd name="adj" fmla="val 6707"/>
            </a:avLst>
          </a:prstGeom>
          <a:solidFill>
            <a:srgbClr val="F2E2D9"/>
          </a:solidFill>
          <a:ln w="0">
            <a:noFill/>
            <a:prstDash val="solid"/>
          </a:ln>
        </p:spPr>
        <p:txBody>
          <a:bodyPr/>
          <a:lstStyle/>
          <a:p>
            <a:endParaRPr lang="en-IN"/>
          </a:p>
        </p:txBody>
      </p:sp>
      <p:sp>
        <p:nvSpPr>
          <p:cNvPr id="16" name="Rectangle 15">
            <a:extLst>
              <a:ext uri="{FF2B5EF4-FFF2-40B4-BE49-F238E27FC236}">
                <a16:creationId xmlns:a16="http://schemas.microsoft.com/office/drawing/2014/main" id="{766DFA2D-BD45-4A9B-A1B2-20088B334354}"/>
              </a:ext>
            </a:extLst>
          </p:cNvPr>
          <p:cNvSpPr>
            <a:spLocks noGrp="1"/>
          </p:cNvSpPr>
          <p:nvPr/>
        </p:nvSpPr>
        <p:spPr>
          <a:xfrm>
            <a:off x="6248400" y="2686050"/>
            <a:ext cx="4000500" cy="342900"/>
          </a:xfrm>
          <a:prstGeom prst="rect">
            <a:avLst/>
          </a:prstGeom>
          <a:noFill/>
          <a:ln w="0">
            <a:noFill/>
            <a:prstDash val="solid"/>
          </a:ln>
        </p:spPr>
        <p:txBody>
          <a:bodyPr lIns="0" tIns="0" rIns="0" bIns="0" anchor="t">
            <a:normAutofit/>
          </a:bodyPr>
          <a:lstStyle/>
          <a:p>
            <a:pPr algn="l">
              <a:lnSpc>
                <a:spcPct val="98000"/>
              </a:lnSpc>
              <a:buNone/>
              <a:defRPr sz="1875" b="1" i="0">
                <a:solidFill>
                  <a:srgbClr val="B8502A"/>
                </a:solidFill>
                <a:latin typeface="Segoe UI Semibold"/>
                <a:ea typeface="Segoe UI Semibold"/>
                <a:cs typeface="Segoe UI Semibold"/>
              </a:defRPr>
            </a:pPr>
            <a:r>
              <a:rPr sz="1875" b="1" i="0">
                <a:solidFill>
                  <a:srgbClr val="B8502A"/>
                </a:solidFill>
                <a:latin typeface="Segoe UI Semibold"/>
                <a:ea typeface="Segoe UI Semibold"/>
                <a:cs typeface="Segoe UI Semibold"/>
              </a:rPr>
              <a:t>Why this mattered</a:t>
            </a:r>
          </a:p>
        </p:txBody>
      </p:sp>
      <p:sp>
        <p:nvSpPr>
          <p:cNvPr id="17" name="Rectangle 16">
            <a:extLst>
              <a:ext uri="{FF2B5EF4-FFF2-40B4-BE49-F238E27FC236}">
                <a16:creationId xmlns:a16="http://schemas.microsoft.com/office/drawing/2014/main" id="{169281B1-36B3-44C6-82F8-999DED63B8CB}"/>
              </a:ext>
            </a:extLst>
          </p:cNvPr>
          <p:cNvSpPr>
            <a:spLocks noGrp="1"/>
          </p:cNvSpPr>
          <p:nvPr/>
        </p:nvSpPr>
        <p:spPr>
          <a:xfrm>
            <a:off x="6248400" y="3333750"/>
            <a:ext cx="4000500" cy="1504950"/>
          </a:xfrm>
          <a:prstGeom prst="rect">
            <a:avLst/>
          </a:prstGeom>
          <a:noFill/>
          <a:ln w="0">
            <a:noFill/>
            <a:prstDash val="solid"/>
          </a:ln>
        </p:spPr>
        <p:txBody>
          <a:bodyPr lIns="0" tIns="0" rIns="0" bIns="0" anchor="t">
            <a:normAutofit fontScale="90617" lnSpcReduction="10000"/>
          </a:bodyPr>
          <a:lstStyle/>
          <a:p>
            <a:pPr algn="l">
              <a:lnSpc>
                <a:spcPct val="100000"/>
              </a:lnSpc>
              <a:buNone/>
              <a:defRPr sz="2025" b="0" i="0">
                <a:solidFill>
                  <a:srgbClr val="18232F"/>
                </a:solidFill>
                <a:latin typeface="Georgia"/>
                <a:ea typeface="Georgia"/>
                <a:cs typeface="Georgia"/>
              </a:defRPr>
            </a:pPr>
            <a:r>
              <a:rPr sz="2025" b="0" i="0">
                <a:solidFill>
                  <a:srgbClr val="18232F"/>
                </a:solidFill>
                <a:latin typeface="Georgia"/>
                <a:ea typeface="Georgia"/>
                <a:cs typeface="Georgia"/>
              </a:rPr>
              <a:t>The app could load a robot, set it up, train it and test it. But checking one change to the reward took hours, so we could only try a handful of ideas.</a:t>
            </a:r>
          </a:p>
        </p:txBody>
      </p:sp>
    </p:spTree>
    <p:extLst>
      <p:ext uri="{BB962C8B-B14F-4D97-AF65-F5344CB8AC3E}">
        <p14:creationId xmlns:p14="http://schemas.microsoft.com/office/powerpoint/2010/main" val="1381410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1544AA4-A710-4387-AB34-A851E314B60D}"/>
              </a:ext>
            </a:extLst>
          </p:cNvPr>
          <p:cNvSpPr>
            <a:spLocks noGrp="1"/>
          </p:cNvSpPr>
          <p:nvPr/>
        </p:nvSpPr>
        <p:spPr>
          <a:xfrm>
            <a:off x="11106150" y="266700"/>
            <a:ext cx="400050" cy="228600"/>
          </a:xfrm>
          <a:prstGeom prst="rect">
            <a:avLst/>
          </a:prstGeom>
          <a:noFill/>
          <a:ln w="0">
            <a:noFill/>
            <a:prstDash val="solid"/>
          </a:ln>
        </p:spPr>
        <p:txBody>
          <a:bodyPr lIns="0" tIns="0" rIns="0" bIns="0" anchor="ctr">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09</a:t>
            </a:r>
          </a:p>
        </p:txBody>
      </p:sp>
      <p:sp>
        <p:nvSpPr>
          <p:cNvPr id="4" name="Rectangle 3">
            <a:extLst>
              <a:ext uri="{FF2B5EF4-FFF2-40B4-BE49-F238E27FC236}">
                <a16:creationId xmlns:a16="http://schemas.microsoft.com/office/drawing/2014/main" id="{1A362DFB-78A3-424B-A340-42F8B99721DA}"/>
              </a:ext>
            </a:extLst>
          </p:cNvPr>
          <p:cNvSpPr>
            <a:spLocks noGrp="1"/>
          </p:cNvSpPr>
          <p:nvPr/>
        </p:nvSpPr>
        <p:spPr>
          <a:xfrm>
            <a:off x="685800" y="714375"/>
            <a:ext cx="10820400" cy="1162050"/>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Linux and the GPU gave us speed,</a:t>
            </a:r>
          </a:p>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but not a robot that walked</a:t>
            </a:r>
          </a:p>
        </p:txBody>
      </p:sp>
      <p:sp>
        <p:nvSpPr>
          <p:cNvPr id="5" name="Rectangle 4">
            <a:extLst>
              <a:ext uri="{FF2B5EF4-FFF2-40B4-BE49-F238E27FC236}">
                <a16:creationId xmlns:a16="http://schemas.microsoft.com/office/drawing/2014/main" id="{CD55F02F-F8C0-4E6C-9971-0D68F5E44C5D}"/>
              </a:ext>
            </a:extLst>
          </p:cNvPr>
          <p:cNvSpPr>
            <a:spLocks noGrp="1"/>
          </p:cNvSpPr>
          <p:nvPr/>
        </p:nvSpPr>
        <p:spPr>
          <a:xfrm>
            <a:off x="685800" y="6457950"/>
            <a:ext cx="10820400" cy="9525"/>
          </a:xfrm>
          <a:prstGeom prst="rect">
            <a:avLst/>
          </a:prstGeom>
          <a:solidFill>
            <a:srgbClr val="D5DAD6"/>
          </a:solidFill>
          <a:ln w="0">
            <a:noFill/>
            <a:prstDash val="solid"/>
          </a:ln>
        </p:spPr>
        <p:txBody>
          <a:bodyPr/>
          <a:lstStyle/>
          <a:p>
            <a:endParaRPr lang="en-IN"/>
          </a:p>
        </p:txBody>
      </p:sp>
      <p:sp>
        <p:nvSpPr>
          <p:cNvPr id="8" name="Rectangle: Rounded Corners 7">
            <a:extLst>
              <a:ext uri="{FF2B5EF4-FFF2-40B4-BE49-F238E27FC236}">
                <a16:creationId xmlns:a16="http://schemas.microsoft.com/office/drawing/2014/main" id="{58C1E04B-DECB-4AA6-A7C4-8E50363D3FBF}"/>
              </a:ext>
            </a:extLst>
          </p:cNvPr>
          <p:cNvSpPr>
            <a:spLocks noGrp="1"/>
          </p:cNvSpPr>
          <p:nvPr/>
        </p:nvSpPr>
        <p:spPr>
          <a:xfrm>
            <a:off x="819150" y="2476500"/>
            <a:ext cx="3067050" cy="1828800"/>
          </a:xfrm>
          <a:prstGeom prst="roundRect">
            <a:avLst>
              <a:gd name="adj" fmla="val 9375"/>
            </a:avLst>
          </a:prstGeom>
          <a:solidFill>
            <a:srgbClr val="FFFFFF"/>
          </a:solidFill>
          <a:ln w="9525">
            <a:solidFill>
              <a:srgbClr val="D5DAD6"/>
            </a:solidFill>
            <a:prstDash val="solid"/>
          </a:ln>
        </p:spPr>
        <p:txBody>
          <a:bodyPr/>
          <a:lstStyle/>
          <a:p>
            <a:endParaRPr lang="en-IN"/>
          </a:p>
        </p:txBody>
      </p:sp>
      <p:sp>
        <p:nvSpPr>
          <p:cNvPr id="9" name="Rectangle 8">
            <a:extLst>
              <a:ext uri="{FF2B5EF4-FFF2-40B4-BE49-F238E27FC236}">
                <a16:creationId xmlns:a16="http://schemas.microsoft.com/office/drawing/2014/main" id="{6466BD24-AADD-4C09-802C-AB58E37B588B}"/>
              </a:ext>
            </a:extLst>
          </p:cNvPr>
          <p:cNvSpPr>
            <a:spLocks noGrp="1"/>
          </p:cNvSpPr>
          <p:nvPr/>
        </p:nvSpPr>
        <p:spPr>
          <a:xfrm>
            <a:off x="1066800" y="2686050"/>
            <a:ext cx="381000" cy="361950"/>
          </a:xfrm>
          <a:prstGeom prst="rect">
            <a:avLst/>
          </a:prstGeom>
          <a:noFill/>
          <a:ln w="0">
            <a:noFill/>
            <a:prstDash val="solid"/>
          </a:ln>
        </p:spPr>
        <p:txBody>
          <a:bodyPr lIns="0" tIns="0" rIns="0" bIns="0" anchor="t">
            <a:normAutofit/>
          </a:bodyPr>
          <a:lstStyle/>
          <a:p>
            <a:pPr algn="l">
              <a:lnSpc>
                <a:spcPct val="98000"/>
              </a:lnSpc>
              <a:buNone/>
              <a:defRPr sz="2250" b="1" i="0">
                <a:solidFill>
                  <a:srgbClr val="B8502A"/>
                </a:solidFill>
                <a:latin typeface="Segoe UI Semibold"/>
                <a:ea typeface="Segoe UI Semibold"/>
                <a:cs typeface="Segoe UI Semibold"/>
              </a:defRPr>
            </a:pPr>
            <a:r>
              <a:rPr sz="2250" b="1" i="0">
                <a:solidFill>
                  <a:srgbClr val="B8502A"/>
                </a:solidFill>
                <a:latin typeface="Segoe UI Semibold"/>
                <a:ea typeface="Segoe UI Semibold"/>
                <a:cs typeface="Segoe UI Semibold"/>
              </a:rPr>
              <a:t>1</a:t>
            </a:r>
          </a:p>
        </p:txBody>
      </p:sp>
      <p:sp>
        <p:nvSpPr>
          <p:cNvPr id="10" name="Rectangle 9">
            <a:extLst>
              <a:ext uri="{FF2B5EF4-FFF2-40B4-BE49-F238E27FC236}">
                <a16:creationId xmlns:a16="http://schemas.microsoft.com/office/drawing/2014/main" id="{F49B7C88-29C8-4F67-80B0-7216F7569A6E}"/>
              </a:ext>
            </a:extLst>
          </p:cNvPr>
          <p:cNvSpPr>
            <a:spLocks noGrp="1"/>
          </p:cNvSpPr>
          <p:nvPr/>
        </p:nvSpPr>
        <p:spPr>
          <a:xfrm>
            <a:off x="1066800" y="3181350"/>
            <a:ext cx="2571750" cy="323850"/>
          </a:xfrm>
          <a:prstGeom prst="rect">
            <a:avLst/>
          </a:prstGeom>
          <a:noFill/>
          <a:ln w="0">
            <a:noFill/>
            <a:prstDash val="solid"/>
          </a:ln>
        </p:spPr>
        <p:txBody>
          <a:bodyPr lIns="0" tIns="0" rIns="0" bIns="0" anchor="t">
            <a:normAutofit/>
          </a:bodyPr>
          <a:lstStyle/>
          <a:p>
            <a:pPr algn="l">
              <a:lnSpc>
                <a:spcPct val="98000"/>
              </a:lnSpc>
              <a:buNone/>
              <a:defRPr sz="1875" b="1" i="0">
                <a:solidFill>
                  <a:srgbClr val="18232F"/>
                </a:solidFill>
                <a:latin typeface="Segoe UI Semibold"/>
                <a:ea typeface="Segoe UI Semibold"/>
                <a:cs typeface="Segoe UI Semibold"/>
              </a:defRPr>
            </a:pPr>
            <a:r>
              <a:rPr sz="1875" b="1" i="0">
                <a:solidFill>
                  <a:srgbClr val="18232F"/>
                </a:solidFill>
                <a:latin typeface="Segoe UI Semibold"/>
                <a:ea typeface="Segoe UI Semibold"/>
                <a:cs typeface="Segoe UI Semibold"/>
              </a:rPr>
              <a:t>Move to Linux</a:t>
            </a:r>
          </a:p>
        </p:txBody>
      </p:sp>
      <p:sp>
        <p:nvSpPr>
          <p:cNvPr id="11" name="Rectangle 10">
            <a:extLst>
              <a:ext uri="{FF2B5EF4-FFF2-40B4-BE49-F238E27FC236}">
                <a16:creationId xmlns:a16="http://schemas.microsoft.com/office/drawing/2014/main" id="{1C54CF9B-32FA-47C4-8B58-26AE035C4BE0}"/>
              </a:ext>
            </a:extLst>
          </p:cNvPr>
          <p:cNvSpPr>
            <a:spLocks noGrp="1"/>
          </p:cNvSpPr>
          <p:nvPr/>
        </p:nvSpPr>
        <p:spPr>
          <a:xfrm>
            <a:off x="1066800" y="3657600"/>
            <a:ext cx="2571750" cy="495300"/>
          </a:xfrm>
          <a:prstGeom prst="rect">
            <a:avLst/>
          </a:prstGeom>
          <a:noFill/>
          <a:ln w="0">
            <a:noFill/>
            <a:prstDash val="solid"/>
          </a:ln>
        </p:spPr>
        <p:txBody>
          <a:bodyPr lIns="0" tIns="0" rIns="0" bIns="0" anchor="t">
            <a:normAutofit/>
          </a:bodyPr>
          <a:lstStyle/>
          <a:p>
            <a:pPr algn="l">
              <a:lnSpc>
                <a:spcPct val="98000"/>
              </a:lnSpc>
              <a:buNone/>
              <a:defRPr sz="1425" b="0" i="0">
                <a:solidFill>
                  <a:srgbClr val="5B6670"/>
                </a:solidFill>
                <a:latin typeface="Segoe UI"/>
                <a:ea typeface="Segoe UI"/>
                <a:cs typeface="Segoe UI"/>
              </a:defRPr>
            </a:pPr>
            <a:r>
              <a:rPr sz="1425" b="0" i="0">
                <a:solidFill>
                  <a:srgbClr val="5B6670"/>
                </a:solidFill>
                <a:latin typeface="Segoe UI"/>
                <a:ea typeface="Segoe UI"/>
                <a:cs typeface="Segoe UI"/>
              </a:rPr>
              <a:t>The only way to get GPU support</a:t>
            </a:r>
          </a:p>
        </p:txBody>
      </p:sp>
      <p:sp>
        <p:nvSpPr>
          <p:cNvPr id="12" name="Rectangle 11">
            <a:extLst>
              <a:ext uri="{FF2B5EF4-FFF2-40B4-BE49-F238E27FC236}">
                <a16:creationId xmlns:a16="http://schemas.microsoft.com/office/drawing/2014/main" id="{3018C230-2942-4AA8-9613-1BD601F0EBEA}"/>
              </a:ext>
            </a:extLst>
          </p:cNvPr>
          <p:cNvSpPr>
            <a:spLocks noGrp="1"/>
          </p:cNvSpPr>
          <p:nvPr/>
        </p:nvSpPr>
        <p:spPr>
          <a:xfrm>
            <a:off x="3924300" y="3181350"/>
            <a:ext cx="457200" cy="381000"/>
          </a:xfrm>
          <a:prstGeom prst="rect">
            <a:avLst/>
          </a:prstGeom>
          <a:noFill/>
          <a:ln w="0">
            <a:noFill/>
            <a:prstDash val="solid"/>
          </a:ln>
        </p:spPr>
        <p:txBody>
          <a:bodyPr lIns="0" tIns="0" rIns="0" bIns="0" anchor="t">
            <a:normAutofit/>
          </a:bodyPr>
          <a:lstStyle/>
          <a:p>
            <a:pPr algn="ctr">
              <a:lnSpc>
                <a:spcPct val="98000"/>
              </a:lnSpc>
              <a:buNone/>
              <a:defRPr sz="2100" b="0" i="0">
                <a:solidFill>
                  <a:srgbClr val="B8502A"/>
                </a:solidFill>
                <a:latin typeface="Segoe UI"/>
                <a:ea typeface="Segoe UI"/>
                <a:cs typeface="Segoe UI"/>
              </a:defRPr>
            </a:pPr>
            <a:r>
              <a:rPr sz="2100" b="0" i="0">
                <a:solidFill>
                  <a:srgbClr val="B8502A"/>
                </a:solidFill>
                <a:latin typeface="Segoe UI"/>
                <a:ea typeface="Segoe UI"/>
                <a:cs typeface="Segoe UI"/>
              </a:rPr>
              <a:t>→</a:t>
            </a:r>
          </a:p>
        </p:txBody>
      </p:sp>
      <p:sp>
        <p:nvSpPr>
          <p:cNvPr id="13" name="Rectangle: Rounded Corners 12">
            <a:extLst>
              <a:ext uri="{FF2B5EF4-FFF2-40B4-BE49-F238E27FC236}">
                <a16:creationId xmlns:a16="http://schemas.microsoft.com/office/drawing/2014/main" id="{F4670719-B42A-485F-BB7F-B6A55470C38B}"/>
              </a:ext>
            </a:extLst>
          </p:cNvPr>
          <p:cNvSpPr>
            <a:spLocks noGrp="1"/>
          </p:cNvSpPr>
          <p:nvPr/>
        </p:nvSpPr>
        <p:spPr>
          <a:xfrm>
            <a:off x="4381500" y="2476500"/>
            <a:ext cx="3067050" cy="1828800"/>
          </a:xfrm>
          <a:prstGeom prst="roundRect">
            <a:avLst>
              <a:gd name="adj" fmla="val 9375"/>
            </a:avLst>
          </a:prstGeom>
          <a:solidFill>
            <a:srgbClr val="FFFFFF"/>
          </a:solidFill>
          <a:ln w="9525">
            <a:solidFill>
              <a:srgbClr val="D5DAD6"/>
            </a:solidFill>
            <a:prstDash val="solid"/>
          </a:ln>
        </p:spPr>
        <p:txBody>
          <a:bodyPr/>
          <a:lstStyle/>
          <a:p>
            <a:endParaRPr lang="en-IN"/>
          </a:p>
        </p:txBody>
      </p:sp>
      <p:sp>
        <p:nvSpPr>
          <p:cNvPr id="14" name="Rectangle 13">
            <a:extLst>
              <a:ext uri="{FF2B5EF4-FFF2-40B4-BE49-F238E27FC236}">
                <a16:creationId xmlns:a16="http://schemas.microsoft.com/office/drawing/2014/main" id="{3AA38DE0-5AFA-4001-A381-ED55E81EFB34}"/>
              </a:ext>
            </a:extLst>
          </p:cNvPr>
          <p:cNvSpPr>
            <a:spLocks noGrp="1"/>
          </p:cNvSpPr>
          <p:nvPr/>
        </p:nvSpPr>
        <p:spPr>
          <a:xfrm>
            <a:off x="4629150" y="2686050"/>
            <a:ext cx="381000" cy="361950"/>
          </a:xfrm>
          <a:prstGeom prst="rect">
            <a:avLst/>
          </a:prstGeom>
          <a:noFill/>
          <a:ln w="0">
            <a:noFill/>
            <a:prstDash val="solid"/>
          </a:ln>
        </p:spPr>
        <p:txBody>
          <a:bodyPr lIns="0" tIns="0" rIns="0" bIns="0" anchor="t">
            <a:normAutofit/>
          </a:bodyPr>
          <a:lstStyle/>
          <a:p>
            <a:pPr algn="l">
              <a:lnSpc>
                <a:spcPct val="98000"/>
              </a:lnSpc>
              <a:buNone/>
              <a:defRPr sz="2250" b="1" i="0">
                <a:solidFill>
                  <a:srgbClr val="B8502A"/>
                </a:solidFill>
                <a:latin typeface="Segoe UI Semibold"/>
                <a:ea typeface="Segoe UI Semibold"/>
                <a:cs typeface="Segoe UI Semibold"/>
              </a:defRPr>
            </a:pPr>
            <a:r>
              <a:rPr sz="2250" b="1" i="0">
                <a:solidFill>
                  <a:srgbClr val="B8502A"/>
                </a:solidFill>
                <a:latin typeface="Segoe UI Semibold"/>
                <a:ea typeface="Segoe UI Semibold"/>
                <a:cs typeface="Segoe UI Semibold"/>
              </a:rPr>
              <a:t>2</a:t>
            </a:r>
          </a:p>
        </p:txBody>
      </p:sp>
      <p:sp>
        <p:nvSpPr>
          <p:cNvPr id="15" name="Rectangle 14">
            <a:extLst>
              <a:ext uri="{FF2B5EF4-FFF2-40B4-BE49-F238E27FC236}">
                <a16:creationId xmlns:a16="http://schemas.microsoft.com/office/drawing/2014/main" id="{B514F4F4-72C1-46B0-8EA5-F2FBCB2D0352}"/>
              </a:ext>
            </a:extLst>
          </p:cNvPr>
          <p:cNvSpPr>
            <a:spLocks noGrp="1"/>
          </p:cNvSpPr>
          <p:nvPr/>
        </p:nvSpPr>
        <p:spPr>
          <a:xfrm>
            <a:off x="4629150" y="3181350"/>
            <a:ext cx="2571750" cy="323850"/>
          </a:xfrm>
          <a:prstGeom prst="rect">
            <a:avLst/>
          </a:prstGeom>
          <a:noFill/>
          <a:ln w="0">
            <a:noFill/>
            <a:prstDash val="solid"/>
          </a:ln>
        </p:spPr>
        <p:txBody>
          <a:bodyPr lIns="0" tIns="0" rIns="0" bIns="0" anchor="t">
            <a:normAutofit/>
          </a:bodyPr>
          <a:lstStyle/>
          <a:p>
            <a:pPr algn="l">
              <a:lnSpc>
                <a:spcPct val="98000"/>
              </a:lnSpc>
              <a:buNone/>
              <a:defRPr sz="1875" b="1" i="0">
                <a:solidFill>
                  <a:srgbClr val="18232F"/>
                </a:solidFill>
                <a:latin typeface="Segoe UI Semibold"/>
                <a:ea typeface="Segoe UI Semibold"/>
                <a:cs typeface="Segoe UI Semibold"/>
              </a:defRPr>
            </a:pPr>
            <a:r>
              <a:rPr sz="1875" b="1" i="0">
                <a:solidFill>
                  <a:srgbClr val="18232F"/>
                </a:solidFill>
                <a:latin typeface="Segoe UI Semibold"/>
                <a:ea typeface="Segoe UI Semibold"/>
                <a:cs typeface="Segoe UI Semibold"/>
              </a:rPr>
              <a:t>Adopt Brax</a:t>
            </a:r>
          </a:p>
        </p:txBody>
      </p:sp>
      <p:sp>
        <p:nvSpPr>
          <p:cNvPr id="16" name="Rectangle 15">
            <a:extLst>
              <a:ext uri="{FF2B5EF4-FFF2-40B4-BE49-F238E27FC236}">
                <a16:creationId xmlns:a16="http://schemas.microsoft.com/office/drawing/2014/main" id="{524B9B8D-BD4B-4798-9222-26CA26F7E865}"/>
              </a:ext>
            </a:extLst>
          </p:cNvPr>
          <p:cNvSpPr>
            <a:spLocks noGrp="1"/>
          </p:cNvSpPr>
          <p:nvPr/>
        </p:nvSpPr>
        <p:spPr>
          <a:xfrm>
            <a:off x="4629150" y="3657600"/>
            <a:ext cx="2571750" cy="495300"/>
          </a:xfrm>
          <a:prstGeom prst="rect">
            <a:avLst/>
          </a:prstGeom>
          <a:noFill/>
          <a:ln w="0">
            <a:noFill/>
            <a:prstDash val="solid"/>
          </a:ln>
        </p:spPr>
        <p:txBody>
          <a:bodyPr lIns="0" tIns="0" rIns="0" bIns="0" anchor="t">
            <a:normAutofit/>
          </a:bodyPr>
          <a:lstStyle/>
          <a:p>
            <a:pPr algn="l">
              <a:lnSpc>
                <a:spcPct val="98000"/>
              </a:lnSpc>
              <a:buNone/>
              <a:defRPr sz="1425" b="0" i="0">
                <a:solidFill>
                  <a:srgbClr val="5B6670"/>
                </a:solidFill>
                <a:latin typeface="Segoe UI"/>
                <a:ea typeface="Segoe UI"/>
                <a:cs typeface="Segoe UI"/>
              </a:defRPr>
            </a:pPr>
            <a:r>
              <a:rPr sz="1425" b="0" i="0">
                <a:solidFill>
                  <a:srgbClr val="5B6670"/>
                </a:solidFill>
                <a:latin typeface="Segoe UI"/>
                <a:ea typeface="Segoe UI"/>
                <a:cs typeface="Segoe UI"/>
              </a:rPr>
              <a:t>Train many robots at the same time</a:t>
            </a:r>
          </a:p>
        </p:txBody>
      </p:sp>
      <p:sp>
        <p:nvSpPr>
          <p:cNvPr id="17" name="Rectangle 16">
            <a:extLst>
              <a:ext uri="{FF2B5EF4-FFF2-40B4-BE49-F238E27FC236}">
                <a16:creationId xmlns:a16="http://schemas.microsoft.com/office/drawing/2014/main" id="{8F04E640-7B82-4EFD-B82B-14905EA0CF8D}"/>
              </a:ext>
            </a:extLst>
          </p:cNvPr>
          <p:cNvSpPr>
            <a:spLocks noGrp="1"/>
          </p:cNvSpPr>
          <p:nvPr/>
        </p:nvSpPr>
        <p:spPr>
          <a:xfrm>
            <a:off x="7486650" y="3181350"/>
            <a:ext cx="457200" cy="381000"/>
          </a:xfrm>
          <a:prstGeom prst="rect">
            <a:avLst/>
          </a:prstGeom>
          <a:noFill/>
          <a:ln w="0">
            <a:noFill/>
            <a:prstDash val="solid"/>
          </a:ln>
        </p:spPr>
        <p:txBody>
          <a:bodyPr lIns="0" tIns="0" rIns="0" bIns="0" anchor="t">
            <a:normAutofit/>
          </a:bodyPr>
          <a:lstStyle/>
          <a:p>
            <a:pPr algn="ctr">
              <a:lnSpc>
                <a:spcPct val="98000"/>
              </a:lnSpc>
              <a:buNone/>
              <a:defRPr sz="2100" b="0" i="0">
                <a:solidFill>
                  <a:srgbClr val="B8502A"/>
                </a:solidFill>
                <a:latin typeface="Segoe UI"/>
                <a:ea typeface="Segoe UI"/>
                <a:cs typeface="Segoe UI"/>
              </a:defRPr>
            </a:pPr>
            <a:r>
              <a:rPr sz="2100" b="0" i="0">
                <a:solidFill>
                  <a:srgbClr val="B8502A"/>
                </a:solidFill>
                <a:latin typeface="Segoe UI"/>
                <a:ea typeface="Segoe UI"/>
                <a:cs typeface="Segoe UI"/>
              </a:rPr>
              <a:t>→</a:t>
            </a:r>
          </a:p>
        </p:txBody>
      </p:sp>
      <p:sp>
        <p:nvSpPr>
          <p:cNvPr id="18" name="Rectangle: Rounded Corners 17">
            <a:extLst>
              <a:ext uri="{FF2B5EF4-FFF2-40B4-BE49-F238E27FC236}">
                <a16:creationId xmlns:a16="http://schemas.microsoft.com/office/drawing/2014/main" id="{C91BA089-8F7F-4C37-BED8-9F0FF7526AD7}"/>
              </a:ext>
            </a:extLst>
          </p:cNvPr>
          <p:cNvSpPr>
            <a:spLocks noGrp="1"/>
          </p:cNvSpPr>
          <p:nvPr/>
        </p:nvSpPr>
        <p:spPr>
          <a:xfrm>
            <a:off x="7943850" y="2476500"/>
            <a:ext cx="3067050" cy="1828800"/>
          </a:xfrm>
          <a:prstGeom prst="roundRect">
            <a:avLst>
              <a:gd name="adj" fmla="val 9375"/>
            </a:avLst>
          </a:prstGeom>
          <a:solidFill>
            <a:srgbClr val="FFFFFF"/>
          </a:solidFill>
          <a:ln w="9525">
            <a:solidFill>
              <a:srgbClr val="D5DAD6"/>
            </a:solidFill>
            <a:prstDash val="solid"/>
          </a:ln>
        </p:spPr>
        <p:txBody>
          <a:bodyPr/>
          <a:lstStyle/>
          <a:p>
            <a:endParaRPr lang="en-IN"/>
          </a:p>
        </p:txBody>
      </p:sp>
      <p:sp>
        <p:nvSpPr>
          <p:cNvPr id="19" name="Rectangle 18">
            <a:extLst>
              <a:ext uri="{FF2B5EF4-FFF2-40B4-BE49-F238E27FC236}">
                <a16:creationId xmlns:a16="http://schemas.microsoft.com/office/drawing/2014/main" id="{ED263EED-1ED8-4259-A09E-6758CCD1764A}"/>
              </a:ext>
            </a:extLst>
          </p:cNvPr>
          <p:cNvSpPr>
            <a:spLocks noGrp="1"/>
          </p:cNvSpPr>
          <p:nvPr/>
        </p:nvSpPr>
        <p:spPr>
          <a:xfrm>
            <a:off x="8191500" y="2686050"/>
            <a:ext cx="381000" cy="361950"/>
          </a:xfrm>
          <a:prstGeom prst="rect">
            <a:avLst/>
          </a:prstGeom>
          <a:noFill/>
          <a:ln w="0">
            <a:noFill/>
            <a:prstDash val="solid"/>
          </a:ln>
        </p:spPr>
        <p:txBody>
          <a:bodyPr lIns="0" tIns="0" rIns="0" bIns="0" anchor="t">
            <a:normAutofit/>
          </a:bodyPr>
          <a:lstStyle/>
          <a:p>
            <a:pPr algn="l">
              <a:lnSpc>
                <a:spcPct val="98000"/>
              </a:lnSpc>
              <a:buNone/>
              <a:defRPr sz="2250" b="1" i="0">
                <a:solidFill>
                  <a:srgbClr val="B8502A"/>
                </a:solidFill>
                <a:latin typeface="Segoe UI Semibold"/>
                <a:ea typeface="Segoe UI Semibold"/>
                <a:cs typeface="Segoe UI Semibold"/>
              </a:defRPr>
            </a:pPr>
            <a:r>
              <a:rPr sz="2250" b="1" i="0">
                <a:solidFill>
                  <a:srgbClr val="B8502A"/>
                </a:solidFill>
                <a:latin typeface="Segoe UI Semibold"/>
                <a:ea typeface="Segoe UI Semibold"/>
                <a:cs typeface="Segoe UI Semibold"/>
              </a:rPr>
              <a:t>3</a:t>
            </a:r>
          </a:p>
        </p:txBody>
      </p:sp>
      <p:sp>
        <p:nvSpPr>
          <p:cNvPr id="20" name="Rectangle 19">
            <a:extLst>
              <a:ext uri="{FF2B5EF4-FFF2-40B4-BE49-F238E27FC236}">
                <a16:creationId xmlns:a16="http://schemas.microsoft.com/office/drawing/2014/main" id="{9997CA37-49E2-4312-835C-6B2DBCAEC9B1}"/>
              </a:ext>
            </a:extLst>
          </p:cNvPr>
          <p:cNvSpPr>
            <a:spLocks noGrp="1"/>
          </p:cNvSpPr>
          <p:nvPr/>
        </p:nvSpPr>
        <p:spPr>
          <a:xfrm>
            <a:off x="8191500" y="3181350"/>
            <a:ext cx="2571750" cy="323850"/>
          </a:xfrm>
          <a:prstGeom prst="rect">
            <a:avLst/>
          </a:prstGeom>
          <a:noFill/>
          <a:ln w="0">
            <a:noFill/>
            <a:prstDash val="solid"/>
          </a:ln>
        </p:spPr>
        <p:txBody>
          <a:bodyPr lIns="0" tIns="0" rIns="0" bIns="0" anchor="t">
            <a:normAutofit/>
          </a:bodyPr>
          <a:lstStyle/>
          <a:p>
            <a:pPr algn="l">
              <a:lnSpc>
                <a:spcPct val="98000"/>
              </a:lnSpc>
              <a:buNone/>
              <a:defRPr sz="1875" b="1" i="0">
                <a:solidFill>
                  <a:srgbClr val="18232F"/>
                </a:solidFill>
                <a:latin typeface="Segoe UI Semibold"/>
                <a:ea typeface="Segoe UI Semibold"/>
                <a:cs typeface="Segoe UI Semibold"/>
              </a:defRPr>
            </a:pPr>
            <a:r>
              <a:rPr sz="1875" b="1" i="0">
                <a:solidFill>
                  <a:srgbClr val="18232F"/>
                </a:solidFill>
                <a:latin typeface="Segoe UI Semibold"/>
                <a:ea typeface="Segoe UI Semibold"/>
                <a:cs typeface="Segoe UI Semibold"/>
              </a:rPr>
              <a:t>Train the robot</a:t>
            </a:r>
          </a:p>
        </p:txBody>
      </p:sp>
      <p:sp>
        <p:nvSpPr>
          <p:cNvPr id="21" name="Rectangle 20">
            <a:extLst>
              <a:ext uri="{FF2B5EF4-FFF2-40B4-BE49-F238E27FC236}">
                <a16:creationId xmlns:a16="http://schemas.microsoft.com/office/drawing/2014/main" id="{67D88AAE-B334-4DAE-A7A1-7CA479E5F65C}"/>
              </a:ext>
            </a:extLst>
          </p:cNvPr>
          <p:cNvSpPr>
            <a:spLocks noGrp="1"/>
          </p:cNvSpPr>
          <p:nvPr/>
        </p:nvSpPr>
        <p:spPr>
          <a:xfrm>
            <a:off x="8191500" y="3657600"/>
            <a:ext cx="2571750" cy="495300"/>
          </a:xfrm>
          <a:prstGeom prst="rect">
            <a:avLst/>
          </a:prstGeom>
          <a:noFill/>
          <a:ln w="0">
            <a:noFill/>
            <a:prstDash val="solid"/>
          </a:ln>
        </p:spPr>
        <p:txBody>
          <a:bodyPr lIns="0" tIns="0" rIns="0" bIns="0" anchor="t">
            <a:normAutofit/>
          </a:bodyPr>
          <a:lstStyle/>
          <a:p>
            <a:pPr algn="l">
              <a:lnSpc>
                <a:spcPct val="98000"/>
              </a:lnSpc>
              <a:buNone/>
              <a:defRPr sz="1425" b="0" i="0">
                <a:solidFill>
                  <a:srgbClr val="5B6670"/>
                </a:solidFill>
                <a:latin typeface="Segoe UI"/>
                <a:ea typeface="Segoe UI"/>
                <a:cs typeface="Segoe UI"/>
              </a:defRPr>
            </a:pPr>
            <a:r>
              <a:rPr sz="1425" b="0" i="0">
                <a:solidFill>
                  <a:srgbClr val="5B6670"/>
                </a:solidFill>
                <a:latin typeface="Segoe UI"/>
                <a:ea typeface="Segoe UI"/>
                <a:cs typeface="Segoe UI"/>
              </a:rPr>
              <a:t>It never walked properly</a:t>
            </a:r>
          </a:p>
        </p:txBody>
      </p:sp>
      <p:sp>
        <p:nvSpPr>
          <p:cNvPr id="22" name="Rectangle: Rounded Corners 21">
            <a:extLst>
              <a:ext uri="{FF2B5EF4-FFF2-40B4-BE49-F238E27FC236}">
                <a16:creationId xmlns:a16="http://schemas.microsoft.com/office/drawing/2014/main" id="{41CB3AFD-6CE1-4E02-85DC-06BBE8B02C76}"/>
              </a:ext>
            </a:extLst>
          </p:cNvPr>
          <p:cNvSpPr>
            <a:spLocks noGrp="1"/>
          </p:cNvSpPr>
          <p:nvPr/>
        </p:nvSpPr>
        <p:spPr>
          <a:xfrm>
            <a:off x="1714500" y="4953000"/>
            <a:ext cx="8763000" cy="704850"/>
          </a:xfrm>
          <a:prstGeom prst="roundRect">
            <a:avLst>
              <a:gd name="adj" fmla="val 24324"/>
            </a:avLst>
          </a:prstGeom>
          <a:solidFill>
            <a:srgbClr val="F2E2D9"/>
          </a:solidFill>
          <a:ln w="0">
            <a:noFill/>
            <a:prstDash val="solid"/>
          </a:ln>
        </p:spPr>
        <p:txBody>
          <a:bodyPr/>
          <a:lstStyle/>
          <a:p>
            <a:endParaRPr lang="en-IN"/>
          </a:p>
        </p:txBody>
      </p:sp>
      <p:sp>
        <p:nvSpPr>
          <p:cNvPr id="23" name="Rectangle 22">
            <a:extLst>
              <a:ext uri="{FF2B5EF4-FFF2-40B4-BE49-F238E27FC236}">
                <a16:creationId xmlns:a16="http://schemas.microsoft.com/office/drawing/2014/main" id="{9728C1E1-85AB-4D71-87EC-ED55D7E7B3C8}"/>
              </a:ext>
            </a:extLst>
          </p:cNvPr>
          <p:cNvSpPr>
            <a:spLocks noGrp="1"/>
          </p:cNvSpPr>
          <p:nvPr/>
        </p:nvSpPr>
        <p:spPr>
          <a:xfrm>
            <a:off x="2000250" y="5124450"/>
            <a:ext cx="8191500" cy="400050"/>
          </a:xfrm>
          <a:prstGeom prst="rect">
            <a:avLst/>
          </a:prstGeom>
          <a:noFill/>
          <a:ln w="0">
            <a:noFill/>
            <a:prstDash val="solid"/>
          </a:ln>
        </p:spPr>
        <p:txBody>
          <a:bodyPr lIns="0" tIns="0" rIns="0" bIns="0" anchor="ctr">
            <a:normAutofit fontScale="78686" lnSpcReduction="20000"/>
          </a:bodyPr>
          <a:lstStyle/>
          <a:p>
            <a:pPr algn="ctr">
              <a:lnSpc>
                <a:spcPct val="98000"/>
              </a:lnSpc>
              <a:buNone/>
              <a:defRPr sz="1875" b="0" i="1">
                <a:solidFill>
                  <a:srgbClr val="18232F"/>
                </a:solidFill>
                <a:latin typeface="Georgia"/>
                <a:ea typeface="Georgia"/>
                <a:cs typeface="Georgia"/>
              </a:defRPr>
            </a:pPr>
            <a:r>
              <a:rPr sz="1875" b="0" i="1">
                <a:solidFill>
                  <a:srgbClr val="18232F"/>
                </a:solidFill>
                <a:latin typeface="Georgia"/>
                <a:ea typeface="Georgia"/>
                <a:cs typeface="Georgia"/>
              </a:rPr>
              <a:t>Speed only helps if the physics and the reward make the robot move correctly.</a:t>
            </a:r>
          </a:p>
        </p:txBody>
      </p:sp>
    </p:spTree>
    <p:extLst>
      <p:ext uri="{BB962C8B-B14F-4D97-AF65-F5344CB8AC3E}">
        <p14:creationId xmlns:p14="http://schemas.microsoft.com/office/powerpoint/2010/main" val="1802095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A7F8A5-BBFB-405F-A840-18D39ACA83DF}"/>
              </a:ext>
            </a:extLst>
          </p:cNvPr>
          <p:cNvSpPr>
            <a:spLocks noGrp="1"/>
          </p:cNvSpPr>
          <p:nvPr/>
        </p:nvSpPr>
        <p:spPr>
          <a:xfrm>
            <a:off x="11106150" y="266700"/>
            <a:ext cx="400050" cy="228600"/>
          </a:xfrm>
          <a:prstGeom prst="rect">
            <a:avLst/>
          </a:prstGeom>
          <a:noFill/>
          <a:ln w="0">
            <a:noFill/>
            <a:prstDash val="solid"/>
          </a:ln>
        </p:spPr>
        <p:txBody>
          <a:bodyPr lIns="0" tIns="0" rIns="0" bIns="0" anchor="ctr">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10</a:t>
            </a:r>
          </a:p>
        </p:txBody>
      </p:sp>
      <p:sp>
        <p:nvSpPr>
          <p:cNvPr id="4" name="Rectangle 3">
            <a:extLst>
              <a:ext uri="{FF2B5EF4-FFF2-40B4-BE49-F238E27FC236}">
                <a16:creationId xmlns:a16="http://schemas.microsoft.com/office/drawing/2014/main" id="{D83EEA27-8BE2-4416-A21C-516DDA6675D8}"/>
              </a:ext>
            </a:extLst>
          </p:cNvPr>
          <p:cNvSpPr>
            <a:spLocks noGrp="1"/>
          </p:cNvSpPr>
          <p:nvPr/>
        </p:nvSpPr>
        <p:spPr>
          <a:xfrm>
            <a:off x="3183673" y="2788501"/>
            <a:ext cx="5117295" cy="800100"/>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dirty="0">
                <a:solidFill>
                  <a:srgbClr val="18232F"/>
                </a:solidFill>
                <a:latin typeface="Georgia"/>
                <a:ea typeface="Georgia"/>
                <a:cs typeface="Georgia"/>
              </a:rPr>
              <a:t>Then the laptop died.</a:t>
            </a:r>
          </a:p>
        </p:txBody>
      </p:sp>
      <p:sp>
        <p:nvSpPr>
          <p:cNvPr id="5" name="Rectangle 4">
            <a:extLst>
              <a:ext uri="{FF2B5EF4-FFF2-40B4-BE49-F238E27FC236}">
                <a16:creationId xmlns:a16="http://schemas.microsoft.com/office/drawing/2014/main" id="{8B37E7E6-418F-411A-A800-7B8F0DD4519C}"/>
              </a:ext>
            </a:extLst>
          </p:cNvPr>
          <p:cNvSpPr>
            <a:spLocks noGrp="1"/>
          </p:cNvSpPr>
          <p:nvPr/>
        </p:nvSpPr>
        <p:spPr>
          <a:xfrm>
            <a:off x="685800" y="6457950"/>
            <a:ext cx="10820400" cy="9525"/>
          </a:xfrm>
          <a:prstGeom prst="rect">
            <a:avLst/>
          </a:prstGeom>
          <a:solidFill>
            <a:srgbClr val="D5DAD6"/>
          </a:solidFill>
          <a:ln w="0">
            <a:noFill/>
            <a:prstDash val="solid"/>
          </a:ln>
        </p:spPr>
        <p:txBody>
          <a:bodyPr/>
          <a:lstStyle/>
          <a:p>
            <a:endParaRPr lang="en-IN"/>
          </a:p>
        </p:txBody>
      </p:sp>
    </p:spTree>
    <p:extLst>
      <p:ext uri="{BB962C8B-B14F-4D97-AF65-F5344CB8AC3E}">
        <p14:creationId xmlns:p14="http://schemas.microsoft.com/office/powerpoint/2010/main" val="1653855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B315501-A71E-4269-8631-97A7D5257B5E}"/>
              </a:ext>
            </a:extLst>
          </p:cNvPr>
          <p:cNvSpPr>
            <a:spLocks noGrp="1"/>
          </p:cNvSpPr>
          <p:nvPr/>
        </p:nvSpPr>
        <p:spPr>
          <a:xfrm>
            <a:off x="11106150" y="266700"/>
            <a:ext cx="400050" cy="228600"/>
          </a:xfrm>
          <a:prstGeom prst="rect">
            <a:avLst/>
          </a:prstGeom>
          <a:noFill/>
          <a:ln w="0">
            <a:noFill/>
            <a:prstDash val="solid"/>
          </a:ln>
        </p:spPr>
        <p:txBody>
          <a:bodyPr lIns="0" tIns="0" rIns="0" bIns="0" anchor="ctr">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11</a:t>
            </a:r>
          </a:p>
        </p:txBody>
      </p:sp>
      <p:sp>
        <p:nvSpPr>
          <p:cNvPr id="4" name="Rectangle 3">
            <a:extLst>
              <a:ext uri="{FF2B5EF4-FFF2-40B4-BE49-F238E27FC236}">
                <a16:creationId xmlns:a16="http://schemas.microsoft.com/office/drawing/2014/main" id="{B9C4E41B-A083-44BA-8274-BA0FEDA5D684}"/>
              </a:ext>
            </a:extLst>
          </p:cNvPr>
          <p:cNvSpPr>
            <a:spLocks noGrp="1"/>
          </p:cNvSpPr>
          <p:nvPr/>
        </p:nvSpPr>
        <p:spPr>
          <a:xfrm>
            <a:off x="685800" y="714375"/>
            <a:ext cx="10820400" cy="1162050"/>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We kept the same simple process</a:t>
            </a:r>
          </a:p>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and changed the training engine</a:t>
            </a:r>
          </a:p>
        </p:txBody>
      </p:sp>
      <p:sp>
        <p:nvSpPr>
          <p:cNvPr id="5" name="Rectangle 4">
            <a:extLst>
              <a:ext uri="{FF2B5EF4-FFF2-40B4-BE49-F238E27FC236}">
                <a16:creationId xmlns:a16="http://schemas.microsoft.com/office/drawing/2014/main" id="{F0119981-4827-463C-A457-95278AEC7B6F}"/>
              </a:ext>
            </a:extLst>
          </p:cNvPr>
          <p:cNvSpPr>
            <a:spLocks noGrp="1"/>
          </p:cNvSpPr>
          <p:nvPr/>
        </p:nvSpPr>
        <p:spPr>
          <a:xfrm>
            <a:off x="685800" y="6457950"/>
            <a:ext cx="10820400" cy="9525"/>
          </a:xfrm>
          <a:prstGeom prst="rect">
            <a:avLst/>
          </a:prstGeom>
          <a:solidFill>
            <a:srgbClr val="D5DAD6"/>
          </a:solidFill>
          <a:ln w="0">
            <a:noFill/>
            <a:prstDash val="solid"/>
          </a:ln>
        </p:spPr>
        <p:txBody>
          <a:bodyPr/>
          <a:lstStyle/>
          <a:p>
            <a:endParaRPr lang="en-IN"/>
          </a:p>
        </p:txBody>
      </p:sp>
      <p:sp>
        <p:nvSpPr>
          <p:cNvPr id="8" name="Rectangle 7">
            <a:extLst>
              <a:ext uri="{FF2B5EF4-FFF2-40B4-BE49-F238E27FC236}">
                <a16:creationId xmlns:a16="http://schemas.microsoft.com/office/drawing/2014/main" id="{C9538A48-F813-40E8-8C9A-13C76EFF7E76}"/>
              </a:ext>
            </a:extLst>
          </p:cNvPr>
          <p:cNvSpPr>
            <a:spLocks noGrp="1"/>
          </p:cNvSpPr>
          <p:nvPr/>
        </p:nvSpPr>
        <p:spPr>
          <a:xfrm>
            <a:off x="6048375" y="2428875"/>
            <a:ext cx="38100" cy="2571750"/>
          </a:xfrm>
          <a:prstGeom prst="rect">
            <a:avLst/>
          </a:prstGeom>
          <a:solidFill>
            <a:srgbClr val="DDEBE7"/>
          </a:solidFill>
          <a:ln w="0">
            <a:noFill/>
            <a:prstDash val="solid"/>
          </a:ln>
        </p:spPr>
        <p:txBody>
          <a:bodyPr/>
          <a:lstStyle/>
          <a:p>
            <a:endParaRPr lang="en-IN"/>
          </a:p>
        </p:txBody>
      </p:sp>
      <p:sp>
        <p:nvSpPr>
          <p:cNvPr id="9" name="Rectangle 8">
            <a:extLst>
              <a:ext uri="{FF2B5EF4-FFF2-40B4-BE49-F238E27FC236}">
                <a16:creationId xmlns:a16="http://schemas.microsoft.com/office/drawing/2014/main" id="{8FD9D0DA-A199-4C93-89F3-4E67968865BE}"/>
              </a:ext>
            </a:extLst>
          </p:cNvPr>
          <p:cNvSpPr>
            <a:spLocks noGrp="1"/>
          </p:cNvSpPr>
          <p:nvPr/>
        </p:nvSpPr>
        <p:spPr>
          <a:xfrm>
            <a:off x="3028950" y="3676650"/>
            <a:ext cx="6096000" cy="38100"/>
          </a:xfrm>
          <a:prstGeom prst="rect">
            <a:avLst/>
          </a:prstGeom>
          <a:solidFill>
            <a:srgbClr val="DDEBE7"/>
          </a:solidFill>
          <a:ln w="0">
            <a:noFill/>
            <a:prstDash val="solid"/>
          </a:ln>
        </p:spPr>
        <p:txBody>
          <a:bodyPr/>
          <a:lstStyle/>
          <a:p>
            <a:endParaRPr lang="en-IN"/>
          </a:p>
        </p:txBody>
      </p:sp>
      <p:sp>
        <p:nvSpPr>
          <p:cNvPr id="10" name="Rectangle: Rounded Corners 9">
            <a:extLst>
              <a:ext uri="{FF2B5EF4-FFF2-40B4-BE49-F238E27FC236}">
                <a16:creationId xmlns:a16="http://schemas.microsoft.com/office/drawing/2014/main" id="{C0A686A9-1B16-412B-B258-0B0F94595CEA}"/>
              </a:ext>
            </a:extLst>
          </p:cNvPr>
          <p:cNvSpPr>
            <a:spLocks noGrp="1"/>
          </p:cNvSpPr>
          <p:nvPr/>
        </p:nvSpPr>
        <p:spPr>
          <a:xfrm>
            <a:off x="1524000" y="2133600"/>
            <a:ext cx="3790950" cy="1066800"/>
          </a:xfrm>
          <a:prstGeom prst="roundRect">
            <a:avLst>
              <a:gd name="adj" fmla="val 16071"/>
            </a:avLst>
          </a:prstGeom>
          <a:solidFill>
            <a:srgbClr val="FFFFFF"/>
          </a:solidFill>
          <a:ln w="9525">
            <a:solidFill>
              <a:srgbClr val="D5DAD6"/>
            </a:solidFill>
            <a:prstDash val="solid"/>
          </a:ln>
        </p:spPr>
        <p:txBody>
          <a:bodyPr/>
          <a:lstStyle/>
          <a:p>
            <a:endParaRPr lang="en-IN"/>
          </a:p>
        </p:txBody>
      </p:sp>
      <p:sp>
        <p:nvSpPr>
          <p:cNvPr id="11" name="Rectangle 10">
            <a:extLst>
              <a:ext uri="{FF2B5EF4-FFF2-40B4-BE49-F238E27FC236}">
                <a16:creationId xmlns:a16="http://schemas.microsoft.com/office/drawing/2014/main" id="{DD62D916-301F-4539-8EBF-D14CA070C78D}"/>
              </a:ext>
            </a:extLst>
          </p:cNvPr>
          <p:cNvSpPr>
            <a:spLocks noGrp="1"/>
          </p:cNvSpPr>
          <p:nvPr/>
        </p:nvSpPr>
        <p:spPr>
          <a:xfrm>
            <a:off x="1790700" y="2343150"/>
            <a:ext cx="3257550" cy="304800"/>
          </a:xfrm>
          <a:prstGeom prst="rect">
            <a:avLst/>
          </a:prstGeom>
          <a:noFill/>
          <a:ln w="0">
            <a:noFill/>
            <a:prstDash val="solid"/>
          </a:ln>
        </p:spPr>
        <p:txBody>
          <a:bodyPr lIns="0" tIns="0" rIns="0" bIns="0" anchor="t">
            <a:normAutofit/>
          </a:bodyPr>
          <a:lstStyle/>
          <a:p>
            <a:pPr algn="ctr">
              <a:lnSpc>
                <a:spcPct val="98000"/>
              </a:lnSpc>
              <a:buNone/>
              <a:defRPr sz="1875" b="1" i="0">
                <a:solidFill>
                  <a:srgbClr val="18232F"/>
                </a:solidFill>
                <a:latin typeface="Segoe UI Semibold"/>
                <a:ea typeface="Segoe UI Semibold"/>
                <a:cs typeface="Segoe UI Semibold"/>
              </a:defRPr>
            </a:pPr>
            <a:r>
              <a:rPr sz="1875" b="1" i="0">
                <a:solidFill>
                  <a:srgbClr val="18232F"/>
                </a:solidFill>
                <a:latin typeface="Segoe UI Semibold"/>
                <a:ea typeface="Segoe UI Semibold"/>
                <a:cs typeface="Segoe UI Semibold"/>
              </a:rPr>
              <a:t>EasyRTG desktop</a:t>
            </a:r>
          </a:p>
        </p:txBody>
      </p:sp>
      <p:sp>
        <p:nvSpPr>
          <p:cNvPr id="12" name="Rectangle 11">
            <a:extLst>
              <a:ext uri="{FF2B5EF4-FFF2-40B4-BE49-F238E27FC236}">
                <a16:creationId xmlns:a16="http://schemas.microsoft.com/office/drawing/2014/main" id="{6A8B02BE-7C82-44AA-9D2E-3320D96403BB}"/>
              </a:ext>
            </a:extLst>
          </p:cNvPr>
          <p:cNvSpPr>
            <a:spLocks noGrp="1"/>
          </p:cNvSpPr>
          <p:nvPr/>
        </p:nvSpPr>
        <p:spPr>
          <a:xfrm>
            <a:off x="1790700" y="2762250"/>
            <a:ext cx="3257550" cy="247650"/>
          </a:xfrm>
          <a:prstGeom prst="rect">
            <a:avLst/>
          </a:prstGeom>
          <a:noFill/>
          <a:ln w="0">
            <a:noFill/>
            <a:prstDash val="solid"/>
          </a:ln>
        </p:spPr>
        <p:txBody>
          <a:bodyPr lIns="0" tIns="0" rIns="0" bIns="0" anchor="t">
            <a:normAutofit/>
          </a:bodyPr>
          <a:lstStyle/>
          <a:p>
            <a:pPr algn="ctr">
              <a:lnSpc>
                <a:spcPct val="98000"/>
              </a:lnSpc>
              <a:buNone/>
              <a:defRPr sz="1350" b="0" i="0">
                <a:solidFill>
                  <a:srgbClr val="5B6670"/>
                </a:solidFill>
                <a:latin typeface="Segoe UI"/>
                <a:ea typeface="Segoe UI"/>
                <a:cs typeface="Segoe UI"/>
              </a:defRPr>
            </a:pPr>
            <a:r>
              <a:rPr sz="1350" b="0" i="0">
                <a:solidFill>
                  <a:srgbClr val="5B6670"/>
                </a:solidFill>
                <a:latin typeface="Segoe UI"/>
                <a:ea typeface="Segoe UI"/>
                <a:cs typeface="Segoe UI"/>
              </a:rPr>
              <a:t>Load, set up, watch, compare</a:t>
            </a:r>
          </a:p>
        </p:txBody>
      </p:sp>
      <p:sp>
        <p:nvSpPr>
          <p:cNvPr id="13" name="Rectangle: Rounded Corners 12">
            <a:extLst>
              <a:ext uri="{FF2B5EF4-FFF2-40B4-BE49-F238E27FC236}">
                <a16:creationId xmlns:a16="http://schemas.microsoft.com/office/drawing/2014/main" id="{C23C8482-4F47-40FD-9252-EF1480D3B117}"/>
              </a:ext>
            </a:extLst>
          </p:cNvPr>
          <p:cNvSpPr>
            <a:spLocks noGrp="1"/>
          </p:cNvSpPr>
          <p:nvPr/>
        </p:nvSpPr>
        <p:spPr>
          <a:xfrm>
            <a:off x="6877050" y="2133600"/>
            <a:ext cx="3790950" cy="1066800"/>
          </a:xfrm>
          <a:prstGeom prst="roundRect">
            <a:avLst>
              <a:gd name="adj" fmla="val 16071"/>
            </a:avLst>
          </a:prstGeom>
          <a:solidFill>
            <a:srgbClr val="FFFFFF"/>
          </a:solidFill>
          <a:ln w="9525">
            <a:solidFill>
              <a:srgbClr val="D5DAD6"/>
            </a:solidFill>
            <a:prstDash val="solid"/>
          </a:ln>
        </p:spPr>
        <p:txBody>
          <a:bodyPr/>
          <a:lstStyle/>
          <a:p>
            <a:endParaRPr lang="en-IN"/>
          </a:p>
        </p:txBody>
      </p:sp>
      <p:sp>
        <p:nvSpPr>
          <p:cNvPr id="14" name="Rectangle 13">
            <a:extLst>
              <a:ext uri="{FF2B5EF4-FFF2-40B4-BE49-F238E27FC236}">
                <a16:creationId xmlns:a16="http://schemas.microsoft.com/office/drawing/2014/main" id="{F0DD7EB6-083B-43DA-B3D7-26089BA3452D}"/>
              </a:ext>
            </a:extLst>
          </p:cNvPr>
          <p:cNvSpPr>
            <a:spLocks noGrp="1"/>
          </p:cNvSpPr>
          <p:nvPr/>
        </p:nvSpPr>
        <p:spPr>
          <a:xfrm>
            <a:off x="7143750" y="2343150"/>
            <a:ext cx="3257550" cy="304800"/>
          </a:xfrm>
          <a:prstGeom prst="rect">
            <a:avLst/>
          </a:prstGeom>
          <a:noFill/>
          <a:ln w="0">
            <a:noFill/>
            <a:prstDash val="solid"/>
          </a:ln>
        </p:spPr>
        <p:txBody>
          <a:bodyPr lIns="0" tIns="0" rIns="0" bIns="0" anchor="t">
            <a:normAutofit/>
          </a:bodyPr>
          <a:lstStyle/>
          <a:p>
            <a:pPr algn="ctr">
              <a:lnSpc>
                <a:spcPct val="98000"/>
              </a:lnSpc>
              <a:buNone/>
              <a:defRPr sz="1875" b="1" i="0">
                <a:solidFill>
                  <a:srgbClr val="18232F"/>
                </a:solidFill>
                <a:latin typeface="Segoe UI Semibold"/>
                <a:ea typeface="Segoe UI Semibold"/>
                <a:cs typeface="Segoe UI Semibold"/>
              </a:defRPr>
            </a:pPr>
            <a:r>
              <a:rPr sz="1875" b="1" i="0">
                <a:solidFill>
                  <a:srgbClr val="18232F"/>
                </a:solidFill>
                <a:latin typeface="Segoe UI Semibold"/>
                <a:ea typeface="Segoe UI Semibold"/>
                <a:cs typeface="Segoe UI Semibold"/>
              </a:rPr>
              <a:t>Agent + FastAPI</a:t>
            </a:r>
          </a:p>
        </p:txBody>
      </p:sp>
      <p:sp>
        <p:nvSpPr>
          <p:cNvPr id="15" name="Rectangle 14">
            <a:extLst>
              <a:ext uri="{FF2B5EF4-FFF2-40B4-BE49-F238E27FC236}">
                <a16:creationId xmlns:a16="http://schemas.microsoft.com/office/drawing/2014/main" id="{2DC2617B-D7A2-4422-ACF4-556B58CF6E46}"/>
              </a:ext>
            </a:extLst>
          </p:cNvPr>
          <p:cNvSpPr>
            <a:spLocks noGrp="1"/>
          </p:cNvSpPr>
          <p:nvPr/>
        </p:nvSpPr>
        <p:spPr>
          <a:xfrm>
            <a:off x="7143750" y="2762250"/>
            <a:ext cx="3257550" cy="247650"/>
          </a:xfrm>
          <a:prstGeom prst="rect">
            <a:avLst/>
          </a:prstGeom>
          <a:noFill/>
          <a:ln w="0">
            <a:noFill/>
            <a:prstDash val="solid"/>
          </a:ln>
        </p:spPr>
        <p:txBody>
          <a:bodyPr lIns="0" tIns="0" rIns="0" bIns="0" anchor="t">
            <a:normAutofit fontScale="84264" lnSpcReduction="10000"/>
          </a:bodyPr>
          <a:lstStyle/>
          <a:p>
            <a:pPr algn="ctr">
              <a:lnSpc>
                <a:spcPct val="98000"/>
              </a:lnSpc>
              <a:buNone/>
              <a:defRPr sz="1350" b="0" i="0">
                <a:solidFill>
                  <a:srgbClr val="5B6670"/>
                </a:solidFill>
                <a:latin typeface="Segoe UI"/>
                <a:ea typeface="Segoe UI"/>
                <a:cs typeface="Segoe UI"/>
              </a:defRPr>
            </a:pPr>
            <a:r>
              <a:rPr sz="1350" b="0" i="0">
                <a:solidFill>
                  <a:srgbClr val="5B6670"/>
                </a:solidFill>
                <a:latin typeface="Segoe UI"/>
                <a:ea typeface="Segoe UI"/>
                <a:cs typeface="Segoe UI"/>
              </a:rPr>
              <a:t>Reads your goal, checks changes, starts runs</a:t>
            </a:r>
          </a:p>
        </p:txBody>
      </p:sp>
      <p:sp>
        <p:nvSpPr>
          <p:cNvPr id="16" name="Rectangle: Rounded Corners 15">
            <a:extLst>
              <a:ext uri="{FF2B5EF4-FFF2-40B4-BE49-F238E27FC236}">
                <a16:creationId xmlns:a16="http://schemas.microsoft.com/office/drawing/2014/main" id="{99320496-8D51-4D29-A64B-F9AA8E3299BE}"/>
              </a:ext>
            </a:extLst>
          </p:cNvPr>
          <p:cNvSpPr>
            <a:spLocks noGrp="1"/>
          </p:cNvSpPr>
          <p:nvPr/>
        </p:nvSpPr>
        <p:spPr>
          <a:xfrm>
            <a:off x="1524000" y="4171950"/>
            <a:ext cx="3790950" cy="1066800"/>
          </a:xfrm>
          <a:prstGeom prst="roundRect">
            <a:avLst>
              <a:gd name="adj" fmla="val 16071"/>
            </a:avLst>
          </a:prstGeom>
          <a:solidFill>
            <a:srgbClr val="DDEBE7"/>
          </a:solidFill>
          <a:ln w="9525">
            <a:solidFill>
              <a:srgbClr val="D5DAD6"/>
            </a:solidFill>
            <a:prstDash val="solid"/>
          </a:ln>
        </p:spPr>
        <p:txBody>
          <a:bodyPr/>
          <a:lstStyle/>
          <a:p>
            <a:endParaRPr lang="en-IN"/>
          </a:p>
        </p:txBody>
      </p:sp>
      <p:sp>
        <p:nvSpPr>
          <p:cNvPr id="17" name="Rectangle 16">
            <a:extLst>
              <a:ext uri="{FF2B5EF4-FFF2-40B4-BE49-F238E27FC236}">
                <a16:creationId xmlns:a16="http://schemas.microsoft.com/office/drawing/2014/main" id="{642DD98D-24D0-457E-80AC-A421DE2B5AC4}"/>
              </a:ext>
            </a:extLst>
          </p:cNvPr>
          <p:cNvSpPr>
            <a:spLocks noGrp="1"/>
          </p:cNvSpPr>
          <p:nvPr/>
        </p:nvSpPr>
        <p:spPr>
          <a:xfrm>
            <a:off x="1790700" y="4381500"/>
            <a:ext cx="3257550" cy="304800"/>
          </a:xfrm>
          <a:prstGeom prst="rect">
            <a:avLst/>
          </a:prstGeom>
          <a:noFill/>
          <a:ln w="0">
            <a:noFill/>
            <a:prstDash val="solid"/>
          </a:ln>
        </p:spPr>
        <p:txBody>
          <a:bodyPr lIns="0" tIns="0" rIns="0" bIns="0" anchor="t">
            <a:normAutofit/>
          </a:bodyPr>
          <a:lstStyle/>
          <a:p>
            <a:pPr algn="ctr">
              <a:lnSpc>
                <a:spcPct val="98000"/>
              </a:lnSpc>
              <a:buNone/>
              <a:defRPr sz="1875" b="1" i="0">
                <a:solidFill>
                  <a:srgbClr val="18232F"/>
                </a:solidFill>
                <a:latin typeface="Segoe UI Semibold"/>
                <a:ea typeface="Segoe UI Semibold"/>
                <a:cs typeface="Segoe UI Semibold"/>
              </a:defRPr>
            </a:pPr>
            <a:r>
              <a:rPr sz="1875" b="1" i="0">
                <a:solidFill>
                  <a:srgbClr val="18232F"/>
                </a:solidFill>
                <a:latin typeface="Segoe UI Semibold"/>
                <a:ea typeface="Segoe UI Semibold"/>
                <a:cs typeface="Segoe UI Semibold"/>
              </a:rPr>
              <a:t>NVIDIA Isaac Sim + PPO</a:t>
            </a:r>
          </a:p>
        </p:txBody>
      </p:sp>
      <p:sp>
        <p:nvSpPr>
          <p:cNvPr id="18" name="Rectangle 17">
            <a:extLst>
              <a:ext uri="{FF2B5EF4-FFF2-40B4-BE49-F238E27FC236}">
                <a16:creationId xmlns:a16="http://schemas.microsoft.com/office/drawing/2014/main" id="{312D76C0-886D-4CD1-96BB-0D9494AFBF04}"/>
              </a:ext>
            </a:extLst>
          </p:cNvPr>
          <p:cNvSpPr>
            <a:spLocks noGrp="1"/>
          </p:cNvSpPr>
          <p:nvPr/>
        </p:nvSpPr>
        <p:spPr>
          <a:xfrm>
            <a:off x="1790700" y="4800600"/>
            <a:ext cx="3257550" cy="247650"/>
          </a:xfrm>
          <a:prstGeom prst="rect">
            <a:avLst/>
          </a:prstGeom>
          <a:noFill/>
          <a:ln w="0">
            <a:noFill/>
            <a:prstDash val="solid"/>
          </a:ln>
        </p:spPr>
        <p:txBody>
          <a:bodyPr lIns="0" tIns="0" rIns="0" bIns="0" anchor="t">
            <a:normAutofit/>
          </a:bodyPr>
          <a:lstStyle/>
          <a:p>
            <a:pPr algn="ctr">
              <a:lnSpc>
                <a:spcPct val="98000"/>
              </a:lnSpc>
              <a:buNone/>
              <a:defRPr sz="1350" b="0" i="0">
                <a:solidFill>
                  <a:srgbClr val="5B6670"/>
                </a:solidFill>
                <a:latin typeface="Segoe UI"/>
                <a:ea typeface="Segoe UI"/>
                <a:cs typeface="Segoe UI"/>
              </a:defRPr>
            </a:pPr>
            <a:r>
              <a:rPr sz="1350" b="0" i="0">
                <a:solidFill>
                  <a:srgbClr val="5B6670"/>
                </a:solidFill>
                <a:latin typeface="Segoe UI"/>
                <a:ea typeface="Segoe UI"/>
                <a:cs typeface="Segoe UI"/>
              </a:rPr>
              <a:t>Thousands of robots training on the GPU</a:t>
            </a:r>
          </a:p>
        </p:txBody>
      </p:sp>
      <p:sp>
        <p:nvSpPr>
          <p:cNvPr id="19" name="Rectangle: Rounded Corners 18">
            <a:extLst>
              <a:ext uri="{FF2B5EF4-FFF2-40B4-BE49-F238E27FC236}">
                <a16:creationId xmlns:a16="http://schemas.microsoft.com/office/drawing/2014/main" id="{B6FF0E90-BC6B-4F20-B692-9BD085ED7A45}"/>
              </a:ext>
            </a:extLst>
          </p:cNvPr>
          <p:cNvSpPr>
            <a:spLocks noGrp="1"/>
          </p:cNvSpPr>
          <p:nvPr/>
        </p:nvSpPr>
        <p:spPr>
          <a:xfrm>
            <a:off x="6877050" y="4171950"/>
            <a:ext cx="3790950" cy="1066800"/>
          </a:xfrm>
          <a:prstGeom prst="roundRect">
            <a:avLst>
              <a:gd name="adj" fmla="val 16071"/>
            </a:avLst>
          </a:prstGeom>
          <a:solidFill>
            <a:srgbClr val="FFFFFF"/>
          </a:solidFill>
          <a:ln w="9525">
            <a:solidFill>
              <a:srgbClr val="D5DAD6"/>
            </a:solidFill>
            <a:prstDash val="solid"/>
          </a:ln>
        </p:spPr>
        <p:txBody>
          <a:bodyPr/>
          <a:lstStyle/>
          <a:p>
            <a:endParaRPr lang="en-IN"/>
          </a:p>
        </p:txBody>
      </p:sp>
      <p:sp>
        <p:nvSpPr>
          <p:cNvPr id="20" name="Rectangle 19">
            <a:extLst>
              <a:ext uri="{FF2B5EF4-FFF2-40B4-BE49-F238E27FC236}">
                <a16:creationId xmlns:a16="http://schemas.microsoft.com/office/drawing/2014/main" id="{C0AAC631-793E-436D-87FA-4AFF5F09BEEF}"/>
              </a:ext>
            </a:extLst>
          </p:cNvPr>
          <p:cNvSpPr>
            <a:spLocks noGrp="1"/>
          </p:cNvSpPr>
          <p:nvPr/>
        </p:nvSpPr>
        <p:spPr>
          <a:xfrm>
            <a:off x="7143750" y="4381500"/>
            <a:ext cx="3257550" cy="304800"/>
          </a:xfrm>
          <a:prstGeom prst="rect">
            <a:avLst/>
          </a:prstGeom>
          <a:noFill/>
          <a:ln w="0">
            <a:noFill/>
            <a:prstDash val="solid"/>
          </a:ln>
        </p:spPr>
        <p:txBody>
          <a:bodyPr lIns="0" tIns="0" rIns="0" bIns="0" anchor="t">
            <a:normAutofit/>
          </a:bodyPr>
          <a:lstStyle/>
          <a:p>
            <a:pPr algn="ctr">
              <a:lnSpc>
                <a:spcPct val="98000"/>
              </a:lnSpc>
              <a:buNone/>
              <a:defRPr sz="1875" b="1" i="0">
                <a:solidFill>
                  <a:srgbClr val="18232F"/>
                </a:solidFill>
                <a:latin typeface="Segoe UI Semibold"/>
                <a:ea typeface="Segoe UI Semibold"/>
                <a:cs typeface="Segoe UI Semibold"/>
              </a:defRPr>
            </a:pPr>
            <a:r>
              <a:rPr sz="1875" b="1" i="0">
                <a:solidFill>
                  <a:srgbClr val="18232F"/>
                </a:solidFill>
                <a:latin typeface="Segoe UI Semibold"/>
                <a:ea typeface="Segoe UI Semibold"/>
                <a:cs typeface="Segoe UI Semibold"/>
              </a:rPr>
              <a:t>Saved records</a:t>
            </a:r>
          </a:p>
        </p:txBody>
      </p:sp>
      <p:sp>
        <p:nvSpPr>
          <p:cNvPr id="21" name="Rectangle 20">
            <a:extLst>
              <a:ext uri="{FF2B5EF4-FFF2-40B4-BE49-F238E27FC236}">
                <a16:creationId xmlns:a16="http://schemas.microsoft.com/office/drawing/2014/main" id="{6B3E6EEC-A774-4377-86F7-7E2455796551}"/>
              </a:ext>
            </a:extLst>
          </p:cNvPr>
          <p:cNvSpPr>
            <a:spLocks noGrp="1"/>
          </p:cNvSpPr>
          <p:nvPr/>
        </p:nvSpPr>
        <p:spPr>
          <a:xfrm>
            <a:off x="7143750" y="4800600"/>
            <a:ext cx="3257550" cy="247650"/>
          </a:xfrm>
          <a:prstGeom prst="rect">
            <a:avLst/>
          </a:prstGeom>
          <a:noFill/>
          <a:ln w="0">
            <a:noFill/>
            <a:prstDash val="solid"/>
          </a:ln>
        </p:spPr>
        <p:txBody>
          <a:bodyPr lIns="0" tIns="0" rIns="0" bIns="0" anchor="t">
            <a:normAutofit/>
          </a:bodyPr>
          <a:lstStyle/>
          <a:p>
            <a:pPr algn="ctr">
              <a:lnSpc>
                <a:spcPct val="98000"/>
              </a:lnSpc>
              <a:buNone/>
              <a:defRPr sz="1350" b="0" i="0">
                <a:solidFill>
                  <a:srgbClr val="5B6670"/>
                </a:solidFill>
                <a:latin typeface="Segoe UI"/>
                <a:ea typeface="Segoe UI"/>
                <a:cs typeface="Segoe UI"/>
              </a:defRPr>
            </a:pPr>
            <a:r>
              <a:rPr sz="1350" b="0" i="0">
                <a:solidFill>
                  <a:srgbClr val="5B6670"/>
                </a:solidFill>
                <a:latin typeface="Segoe UI"/>
                <a:ea typeface="Segoe UI"/>
                <a:cs typeface="Segoe UI"/>
              </a:rPr>
              <a:t>Settings, numbers, saved robots and videos</a:t>
            </a:r>
          </a:p>
        </p:txBody>
      </p:sp>
      <p:sp>
        <p:nvSpPr>
          <p:cNvPr id="22" name="Rectangle 21">
            <a:extLst>
              <a:ext uri="{FF2B5EF4-FFF2-40B4-BE49-F238E27FC236}">
                <a16:creationId xmlns:a16="http://schemas.microsoft.com/office/drawing/2014/main" id="{73A8AAA4-9C59-44C2-8273-90EB28F9C05E}"/>
              </a:ext>
            </a:extLst>
          </p:cNvPr>
          <p:cNvSpPr>
            <a:spLocks noGrp="1"/>
          </p:cNvSpPr>
          <p:nvPr/>
        </p:nvSpPr>
        <p:spPr>
          <a:xfrm>
            <a:off x="2000250" y="5772150"/>
            <a:ext cx="8191500" cy="361950"/>
          </a:xfrm>
          <a:prstGeom prst="rect">
            <a:avLst/>
          </a:prstGeom>
          <a:noFill/>
          <a:ln w="0">
            <a:noFill/>
            <a:prstDash val="solid"/>
          </a:ln>
        </p:spPr>
        <p:txBody>
          <a:bodyPr lIns="0" tIns="0" rIns="0" bIns="0" anchor="t">
            <a:normAutofit/>
          </a:bodyPr>
          <a:lstStyle/>
          <a:p>
            <a:pPr algn="ctr">
              <a:lnSpc>
                <a:spcPct val="98000"/>
              </a:lnSpc>
              <a:buNone/>
              <a:defRPr sz="1650" b="1" i="0">
                <a:solidFill>
                  <a:srgbClr val="0B6B64"/>
                </a:solidFill>
                <a:latin typeface="Segoe UI Semibold"/>
                <a:ea typeface="Segoe UI Semibold"/>
                <a:cs typeface="Segoe UI Semibold"/>
              </a:defRPr>
            </a:pPr>
            <a:r>
              <a:rPr sz="1650" b="1" i="0">
                <a:solidFill>
                  <a:srgbClr val="0B6B64"/>
                </a:solidFill>
                <a:latin typeface="Segoe UI Semibold"/>
                <a:ea typeface="Segoe UI Semibold"/>
                <a:cs typeface="Segoe UI Semibold"/>
              </a:rPr>
              <a:t>Windows stayed the app the user opens. Isaac Sim does the heavy training.</a:t>
            </a:r>
          </a:p>
        </p:txBody>
      </p:sp>
    </p:spTree>
    <p:extLst>
      <p:ext uri="{BB962C8B-B14F-4D97-AF65-F5344CB8AC3E}">
        <p14:creationId xmlns:p14="http://schemas.microsoft.com/office/powerpoint/2010/main" val="976771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5904A87-00D9-4F1F-8246-3EC89849529E}"/>
              </a:ext>
            </a:extLst>
          </p:cNvPr>
          <p:cNvSpPr>
            <a:spLocks noGrp="1"/>
          </p:cNvSpPr>
          <p:nvPr/>
        </p:nvSpPr>
        <p:spPr>
          <a:xfrm>
            <a:off x="11106150" y="266700"/>
            <a:ext cx="400050" cy="228600"/>
          </a:xfrm>
          <a:prstGeom prst="rect">
            <a:avLst/>
          </a:prstGeom>
          <a:noFill/>
          <a:ln w="0">
            <a:noFill/>
            <a:prstDash val="solid"/>
          </a:ln>
        </p:spPr>
        <p:txBody>
          <a:bodyPr lIns="0" tIns="0" rIns="0" bIns="0" anchor="ctr">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12</a:t>
            </a:r>
          </a:p>
        </p:txBody>
      </p:sp>
      <p:sp>
        <p:nvSpPr>
          <p:cNvPr id="4" name="Rectangle 3">
            <a:extLst>
              <a:ext uri="{FF2B5EF4-FFF2-40B4-BE49-F238E27FC236}">
                <a16:creationId xmlns:a16="http://schemas.microsoft.com/office/drawing/2014/main" id="{C7B0A23C-5EA5-4906-BBE6-2C98A901648E}"/>
              </a:ext>
            </a:extLst>
          </p:cNvPr>
          <p:cNvSpPr>
            <a:spLocks noGrp="1"/>
          </p:cNvSpPr>
          <p:nvPr/>
        </p:nvSpPr>
        <p:spPr>
          <a:xfrm>
            <a:off x="685800" y="714375"/>
            <a:ext cx="10820400" cy="1162050"/>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The assistant helps at every step,</a:t>
            </a:r>
          </a:p>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not only inside the chat box</a:t>
            </a:r>
          </a:p>
        </p:txBody>
      </p:sp>
      <p:sp>
        <p:nvSpPr>
          <p:cNvPr id="5" name="Rectangle 4">
            <a:extLst>
              <a:ext uri="{FF2B5EF4-FFF2-40B4-BE49-F238E27FC236}">
                <a16:creationId xmlns:a16="http://schemas.microsoft.com/office/drawing/2014/main" id="{73F91E7B-D017-4686-8D7F-552B8193CFBD}"/>
              </a:ext>
            </a:extLst>
          </p:cNvPr>
          <p:cNvSpPr>
            <a:spLocks noGrp="1"/>
          </p:cNvSpPr>
          <p:nvPr/>
        </p:nvSpPr>
        <p:spPr>
          <a:xfrm>
            <a:off x="685800" y="6457950"/>
            <a:ext cx="10820400" cy="9525"/>
          </a:xfrm>
          <a:prstGeom prst="rect">
            <a:avLst/>
          </a:prstGeom>
          <a:solidFill>
            <a:srgbClr val="D5DAD6"/>
          </a:solidFill>
          <a:ln w="0">
            <a:noFill/>
            <a:prstDash val="solid"/>
          </a:ln>
        </p:spPr>
        <p:txBody>
          <a:bodyPr/>
          <a:lstStyle/>
          <a:p>
            <a:endParaRPr lang="en-IN"/>
          </a:p>
        </p:txBody>
      </p:sp>
      <p:sp>
        <p:nvSpPr>
          <p:cNvPr id="8" name="Rectangle 7">
            <a:extLst>
              <a:ext uri="{FF2B5EF4-FFF2-40B4-BE49-F238E27FC236}">
                <a16:creationId xmlns:a16="http://schemas.microsoft.com/office/drawing/2014/main" id="{F0145B11-FAEC-4710-90E3-3C3118331669}"/>
              </a:ext>
            </a:extLst>
          </p:cNvPr>
          <p:cNvSpPr>
            <a:spLocks noGrp="1"/>
          </p:cNvSpPr>
          <p:nvPr/>
        </p:nvSpPr>
        <p:spPr>
          <a:xfrm>
            <a:off x="1143000" y="3333750"/>
            <a:ext cx="9696450" cy="47625"/>
          </a:xfrm>
          <a:prstGeom prst="rect">
            <a:avLst/>
          </a:prstGeom>
          <a:solidFill>
            <a:srgbClr val="DDEBE7"/>
          </a:solidFill>
          <a:ln w="0">
            <a:noFill/>
            <a:prstDash val="solid"/>
          </a:ln>
        </p:spPr>
        <p:txBody>
          <a:bodyPr/>
          <a:lstStyle/>
          <a:p>
            <a:endParaRPr lang="en-IN"/>
          </a:p>
        </p:txBody>
      </p:sp>
      <p:sp>
        <p:nvSpPr>
          <p:cNvPr id="9" name="Rectangle: Rounded Corners 8">
            <a:extLst>
              <a:ext uri="{FF2B5EF4-FFF2-40B4-BE49-F238E27FC236}">
                <a16:creationId xmlns:a16="http://schemas.microsoft.com/office/drawing/2014/main" id="{F23FF41B-D88F-40E7-B900-860CEA2FA6A6}"/>
              </a:ext>
            </a:extLst>
          </p:cNvPr>
          <p:cNvSpPr>
            <a:spLocks noGrp="1"/>
          </p:cNvSpPr>
          <p:nvPr/>
        </p:nvSpPr>
        <p:spPr>
          <a:xfrm>
            <a:off x="723900" y="2647950"/>
            <a:ext cx="2381250" cy="1562100"/>
          </a:xfrm>
          <a:prstGeom prst="roundRect">
            <a:avLst>
              <a:gd name="adj" fmla="val 10976"/>
            </a:avLst>
          </a:prstGeom>
          <a:solidFill>
            <a:srgbClr val="FFFFFF"/>
          </a:solidFill>
          <a:ln w="9525">
            <a:solidFill>
              <a:srgbClr val="D5DAD6"/>
            </a:solidFill>
            <a:prstDash val="solid"/>
          </a:ln>
        </p:spPr>
        <p:txBody>
          <a:bodyPr/>
          <a:lstStyle/>
          <a:p>
            <a:endParaRPr lang="en-IN"/>
          </a:p>
        </p:txBody>
      </p:sp>
      <p:sp>
        <p:nvSpPr>
          <p:cNvPr id="10" name="Rectangle 9">
            <a:extLst>
              <a:ext uri="{FF2B5EF4-FFF2-40B4-BE49-F238E27FC236}">
                <a16:creationId xmlns:a16="http://schemas.microsoft.com/office/drawing/2014/main" id="{B09702B1-7525-4498-B855-FEF8C5188F12}"/>
              </a:ext>
            </a:extLst>
          </p:cNvPr>
          <p:cNvSpPr>
            <a:spLocks noGrp="1"/>
          </p:cNvSpPr>
          <p:nvPr/>
        </p:nvSpPr>
        <p:spPr>
          <a:xfrm>
            <a:off x="933450" y="2819400"/>
            <a:ext cx="381000" cy="228600"/>
          </a:xfrm>
          <a:prstGeom prst="rect">
            <a:avLst/>
          </a:prstGeom>
          <a:noFill/>
          <a:ln w="0">
            <a:noFill/>
            <a:prstDash val="solid"/>
          </a:ln>
        </p:spPr>
        <p:txBody>
          <a:bodyPr lIns="0" tIns="0" rIns="0" bIns="0" anchor="t">
            <a:normAutofit/>
          </a:bodyPr>
          <a:lstStyle/>
          <a:p>
            <a:pPr algn="l">
              <a:lnSpc>
                <a:spcPct val="98000"/>
              </a:lnSpc>
              <a:buNone/>
              <a:defRPr sz="1050" b="1" i="0">
                <a:solidFill>
                  <a:srgbClr val="0B6B64"/>
                </a:solidFill>
                <a:latin typeface="Segoe UI Semibold"/>
                <a:ea typeface="Segoe UI Semibold"/>
                <a:cs typeface="Segoe UI Semibold"/>
              </a:defRPr>
            </a:pPr>
            <a:r>
              <a:rPr sz="1050" b="1" i="0">
                <a:solidFill>
                  <a:srgbClr val="0B6B64"/>
                </a:solidFill>
                <a:latin typeface="Segoe UI Semibold"/>
                <a:ea typeface="Segoe UI Semibold"/>
                <a:cs typeface="Segoe UI Semibold"/>
              </a:rPr>
              <a:t>01</a:t>
            </a:r>
          </a:p>
        </p:txBody>
      </p:sp>
      <p:sp>
        <p:nvSpPr>
          <p:cNvPr id="11" name="Rectangle 10">
            <a:extLst>
              <a:ext uri="{FF2B5EF4-FFF2-40B4-BE49-F238E27FC236}">
                <a16:creationId xmlns:a16="http://schemas.microsoft.com/office/drawing/2014/main" id="{FCB1B359-AEAB-438D-BC70-65C31120CE7D}"/>
              </a:ext>
            </a:extLst>
          </p:cNvPr>
          <p:cNvSpPr>
            <a:spLocks noGrp="1"/>
          </p:cNvSpPr>
          <p:nvPr/>
        </p:nvSpPr>
        <p:spPr>
          <a:xfrm>
            <a:off x="933450" y="3200400"/>
            <a:ext cx="1962150" cy="323850"/>
          </a:xfrm>
          <a:prstGeom prst="rect">
            <a:avLst/>
          </a:prstGeom>
          <a:noFill/>
          <a:ln w="0">
            <a:noFill/>
            <a:prstDash val="solid"/>
          </a:ln>
        </p:spPr>
        <p:txBody>
          <a:bodyPr lIns="0" tIns="0" rIns="0" bIns="0" anchor="t">
            <a:normAutofit/>
          </a:bodyPr>
          <a:lstStyle/>
          <a:p>
            <a:pPr algn="l">
              <a:lnSpc>
                <a:spcPct val="98000"/>
              </a:lnSpc>
              <a:buNone/>
              <a:defRPr sz="1875" b="1" i="0">
                <a:solidFill>
                  <a:srgbClr val="18232F"/>
                </a:solidFill>
                <a:latin typeface="Segoe UI Semibold"/>
                <a:ea typeface="Segoe UI Semibold"/>
                <a:cs typeface="Segoe UI Semibold"/>
              </a:defRPr>
            </a:pPr>
            <a:r>
              <a:rPr sz="1875" b="1" i="0">
                <a:solidFill>
                  <a:srgbClr val="18232F"/>
                </a:solidFill>
                <a:latin typeface="Segoe UI Semibold"/>
                <a:ea typeface="Segoe UI Semibold"/>
                <a:cs typeface="Segoe UI Semibold"/>
              </a:rPr>
              <a:t>Inspect</a:t>
            </a:r>
          </a:p>
        </p:txBody>
      </p:sp>
      <p:sp>
        <p:nvSpPr>
          <p:cNvPr id="12" name="Rectangle 11">
            <a:extLst>
              <a:ext uri="{FF2B5EF4-FFF2-40B4-BE49-F238E27FC236}">
                <a16:creationId xmlns:a16="http://schemas.microsoft.com/office/drawing/2014/main" id="{8889BCCE-9475-4B3A-84CD-021C33F2D8C7}"/>
              </a:ext>
            </a:extLst>
          </p:cNvPr>
          <p:cNvSpPr>
            <a:spLocks noGrp="1"/>
          </p:cNvSpPr>
          <p:nvPr/>
        </p:nvSpPr>
        <p:spPr>
          <a:xfrm>
            <a:off x="933450" y="3667125"/>
            <a:ext cx="1962150" cy="457200"/>
          </a:xfrm>
          <a:prstGeom prst="rect">
            <a:avLst/>
          </a:prstGeom>
          <a:noFill/>
          <a:ln w="0">
            <a:noFill/>
            <a:prstDash val="solid"/>
          </a:ln>
        </p:spPr>
        <p:txBody>
          <a:bodyPr lIns="0" tIns="0" rIns="0" bIns="0" anchor="t">
            <a:normAutofit/>
          </a:bodyPr>
          <a:lstStyle/>
          <a:p>
            <a:pPr algn="l">
              <a:lnSpc>
                <a:spcPct val="98000"/>
              </a:lnSpc>
              <a:buNone/>
              <a:defRPr sz="1350" b="0" i="0">
                <a:solidFill>
                  <a:srgbClr val="5B6670"/>
                </a:solidFill>
                <a:latin typeface="Segoe UI"/>
                <a:ea typeface="Segoe UI"/>
                <a:cs typeface="Segoe UI"/>
              </a:defRPr>
            </a:pPr>
            <a:r>
              <a:rPr sz="1350" b="0" i="0">
                <a:solidFill>
                  <a:srgbClr val="5B6670"/>
                </a:solidFill>
                <a:latin typeface="Segoe UI"/>
                <a:ea typeface="Segoe UI"/>
                <a:cs typeface="Segoe UI"/>
              </a:rPr>
              <a:t>Reads the robot's joints and limits</a:t>
            </a:r>
          </a:p>
        </p:txBody>
      </p:sp>
      <p:sp>
        <p:nvSpPr>
          <p:cNvPr id="13" name="Rectangle 12">
            <a:extLst>
              <a:ext uri="{FF2B5EF4-FFF2-40B4-BE49-F238E27FC236}">
                <a16:creationId xmlns:a16="http://schemas.microsoft.com/office/drawing/2014/main" id="{23B1858B-8B25-48CA-A6A9-B004753EFC91}"/>
              </a:ext>
            </a:extLst>
          </p:cNvPr>
          <p:cNvSpPr>
            <a:spLocks noGrp="1"/>
          </p:cNvSpPr>
          <p:nvPr/>
        </p:nvSpPr>
        <p:spPr>
          <a:xfrm>
            <a:off x="3124200" y="3209925"/>
            <a:ext cx="400050" cy="323850"/>
          </a:xfrm>
          <a:prstGeom prst="rect">
            <a:avLst/>
          </a:prstGeom>
          <a:noFill/>
          <a:ln w="0">
            <a:noFill/>
            <a:prstDash val="solid"/>
          </a:ln>
        </p:spPr>
        <p:txBody>
          <a:bodyPr lIns="0" tIns="0" rIns="0" bIns="0" anchor="t">
            <a:normAutofit/>
          </a:bodyPr>
          <a:lstStyle/>
          <a:p>
            <a:pPr algn="ctr">
              <a:lnSpc>
                <a:spcPct val="98000"/>
              </a:lnSpc>
              <a:buNone/>
              <a:defRPr sz="1950" b="0" i="0">
                <a:solidFill>
                  <a:srgbClr val="0B6B64"/>
                </a:solidFill>
                <a:latin typeface="Segoe UI"/>
                <a:ea typeface="Segoe UI"/>
                <a:cs typeface="Segoe UI"/>
              </a:defRPr>
            </a:pPr>
            <a:r>
              <a:rPr sz="1950" b="0" i="0">
                <a:solidFill>
                  <a:srgbClr val="0B6B64"/>
                </a:solidFill>
                <a:latin typeface="Segoe UI"/>
                <a:ea typeface="Segoe UI"/>
                <a:cs typeface="Segoe UI"/>
              </a:rPr>
              <a:t>→</a:t>
            </a:r>
          </a:p>
        </p:txBody>
      </p:sp>
      <p:sp>
        <p:nvSpPr>
          <p:cNvPr id="14" name="Rectangle: Rounded Corners 13">
            <a:extLst>
              <a:ext uri="{FF2B5EF4-FFF2-40B4-BE49-F238E27FC236}">
                <a16:creationId xmlns:a16="http://schemas.microsoft.com/office/drawing/2014/main" id="{323698F4-72F4-47C6-A632-0029D61ACBF7}"/>
              </a:ext>
            </a:extLst>
          </p:cNvPr>
          <p:cNvSpPr>
            <a:spLocks noGrp="1"/>
          </p:cNvSpPr>
          <p:nvPr/>
        </p:nvSpPr>
        <p:spPr>
          <a:xfrm>
            <a:off x="3543300" y="2647950"/>
            <a:ext cx="2381250" cy="1562100"/>
          </a:xfrm>
          <a:prstGeom prst="roundRect">
            <a:avLst>
              <a:gd name="adj" fmla="val 10976"/>
            </a:avLst>
          </a:prstGeom>
          <a:solidFill>
            <a:srgbClr val="FFFFFF"/>
          </a:solidFill>
          <a:ln w="9525">
            <a:solidFill>
              <a:srgbClr val="D5DAD6"/>
            </a:solidFill>
            <a:prstDash val="solid"/>
          </a:ln>
        </p:spPr>
        <p:txBody>
          <a:bodyPr/>
          <a:lstStyle/>
          <a:p>
            <a:endParaRPr lang="en-IN"/>
          </a:p>
        </p:txBody>
      </p:sp>
      <p:sp>
        <p:nvSpPr>
          <p:cNvPr id="15" name="Rectangle 14">
            <a:extLst>
              <a:ext uri="{FF2B5EF4-FFF2-40B4-BE49-F238E27FC236}">
                <a16:creationId xmlns:a16="http://schemas.microsoft.com/office/drawing/2014/main" id="{A174E2B2-36CD-463D-83EC-2A8DD8B7585B}"/>
              </a:ext>
            </a:extLst>
          </p:cNvPr>
          <p:cNvSpPr>
            <a:spLocks noGrp="1"/>
          </p:cNvSpPr>
          <p:nvPr/>
        </p:nvSpPr>
        <p:spPr>
          <a:xfrm>
            <a:off x="3752850" y="2819400"/>
            <a:ext cx="381000" cy="228600"/>
          </a:xfrm>
          <a:prstGeom prst="rect">
            <a:avLst/>
          </a:prstGeom>
          <a:noFill/>
          <a:ln w="0">
            <a:noFill/>
            <a:prstDash val="solid"/>
          </a:ln>
        </p:spPr>
        <p:txBody>
          <a:bodyPr lIns="0" tIns="0" rIns="0" bIns="0" anchor="t">
            <a:normAutofit/>
          </a:bodyPr>
          <a:lstStyle/>
          <a:p>
            <a:pPr algn="l">
              <a:lnSpc>
                <a:spcPct val="98000"/>
              </a:lnSpc>
              <a:buNone/>
              <a:defRPr sz="1050" b="1" i="0">
                <a:solidFill>
                  <a:srgbClr val="0B6B64"/>
                </a:solidFill>
                <a:latin typeface="Segoe UI Semibold"/>
                <a:ea typeface="Segoe UI Semibold"/>
                <a:cs typeface="Segoe UI Semibold"/>
              </a:defRPr>
            </a:pPr>
            <a:r>
              <a:rPr sz="1050" b="1" i="0">
                <a:solidFill>
                  <a:srgbClr val="0B6B64"/>
                </a:solidFill>
                <a:latin typeface="Segoe UI Semibold"/>
                <a:ea typeface="Segoe UI Semibold"/>
                <a:cs typeface="Segoe UI Semibold"/>
              </a:rPr>
              <a:t>02</a:t>
            </a:r>
          </a:p>
        </p:txBody>
      </p:sp>
      <p:sp>
        <p:nvSpPr>
          <p:cNvPr id="16" name="Rectangle 15">
            <a:extLst>
              <a:ext uri="{FF2B5EF4-FFF2-40B4-BE49-F238E27FC236}">
                <a16:creationId xmlns:a16="http://schemas.microsoft.com/office/drawing/2014/main" id="{541C9B5C-066C-49DC-8ECF-B8CBA6971531}"/>
              </a:ext>
            </a:extLst>
          </p:cNvPr>
          <p:cNvSpPr>
            <a:spLocks noGrp="1"/>
          </p:cNvSpPr>
          <p:nvPr/>
        </p:nvSpPr>
        <p:spPr>
          <a:xfrm>
            <a:off x="3752850" y="3200400"/>
            <a:ext cx="1962150" cy="323850"/>
          </a:xfrm>
          <a:prstGeom prst="rect">
            <a:avLst/>
          </a:prstGeom>
          <a:noFill/>
          <a:ln w="0">
            <a:noFill/>
            <a:prstDash val="solid"/>
          </a:ln>
        </p:spPr>
        <p:txBody>
          <a:bodyPr lIns="0" tIns="0" rIns="0" bIns="0" anchor="t">
            <a:normAutofit/>
          </a:bodyPr>
          <a:lstStyle/>
          <a:p>
            <a:pPr algn="l">
              <a:lnSpc>
                <a:spcPct val="98000"/>
              </a:lnSpc>
              <a:buNone/>
              <a:defRPr sz="1875" b="1" i="0">
                <a:solidFill>
                  <a:srgbClr val="18232F"/>
                </a:solidFill>
                <a:latin typeface="Segoe UI Semibold"/>
                <a:ea typeface="Segoe UI Semibold"/>
                <a:cs typeface="Segoe UI Semibold"/>
              </a:defRPr>
            </a:pPr>
            <a:r>
              <a:rPr sz="1875" b="1" i="0">
                <a:solidFill>
                  <a:srgbClr val="18232F"/>
                </a:solidFill>
                <a:latin typeface="Segoe UI Semibold"/>
                <a:ea typeface="Segoe UI Semibold"/>
                <a:cs typeface="Segoe UI Semibold"/>
              </a:rPr>
              <a:t>Translate</a:t>
            </a:r>
          </a:p>
        </p:txBody>
      </p:sp>
      <p:sp>
        <p:nvSpPr>
          <p:cNvPr id="17" name="Rectangle 16">
            <a:extLst>
              <a:ext uri="{FF2B5EF4-FFF2-40B4-BE49-F238E27FC236}">
                <a16:creationId xmlns:a16="http://schemas.microsoft.com/office/drawing/2014/main" id="{920D4716-6602-4420-996C-FD628A47120C}"/>
              </a:ext>
            </a:extLst>
          </p:cNvPr>
          <p:cNvSpPr>
            <a:spLocks noGrp="1"/>
          </p:cNvSpPr>
          <p:nvPr/>
        </p:nvSpPr>
        <p:spPr>
          <a:xfrm>
            <a:off x="3752850" y="3667125"/>
            <a:ext cx="1962150" cy="457200"/>
          </a:xfrm>
          <a:prstGeom prst="rect">
            <a:avLst/>
          </a:prstGeom>
          <a:noFill/>
          <a:ln w="0">
            <a:noFill/>
            <a:prstDash val="solid"/>
          </a:ln>
        </p:spPr>
        <p:txBody>
          <a:bodyPr lIns="0" tIns="0" rIns="0" bIns="0" anchor="t">
            <a:normAutofit/>
          </a:bodyPr>
          <a:lstStyle/>
          <a:p>
            <a:pPr algn="l">
              <a:lnSpc>
                <a:spcPct val="98000"/>
              </a:lnSpc>
              <a:buNone/>
              <a:defRPr sz="1350" b="0" i="0">
                <a:solidFill>
                  <a:srgbClr val="5B6670"/>
                </a:solidFill>
                <a:latin typeface="Segoe UI"/>
                <a:ea typeface="Segoe UI"/>
                <a:cs typeface="Segoe UI"/>
              </a:defRPr>
            </a:pPr>
            <a:r>
              <a:rPr sz="1350" b="0" i="0">
                <a:solidFill>
                  <a:srgbClr val="5B6670"/>
                </a:solidFill>
                <a:latin typeface="Segoe UI"/>
                <a:ea typeface="Segoe UI"/>
                <a:cs typeface="Segoe UI"/>
              </a:rPr>
              <a:t>Turns your goal into a reward</a:t>
            </a:r>
          </a:p>
        </p:txBody>
      </p:sp>
      <p:sp>
        <p:nvSpPr>
          <p:cNvPr id="18" name="Rectangle 17">
            <a:extLst>
              <a:ext uri="{FF2B5EF4-FFF2-40B4-BE49-F238E27FC236}">
                <a16:creationId xmlns:a16="http://schemas.microsoft.com/office/drawing/2014/main" id="{6362F077-7CD8-456B-9448-30710ADFD4F8}"/>
              </a:ext>
            </a:extLst>
          </p:cNvPr>
          <p:cNvSpPr>
            <a:spLocks noGrp="1"/>
          </p:cNvSpPr>
          <p:nvPr/>
        </p:nvSpPr>
        <p:spPr>
          <a:xfrm>
            <a:off x="5943600" y="3209925"/>
            <a:ext cx="400050" cy="323850"/>
          </a:xfrm>
          <a:prstGeom prst="rect">
            <a:avLst/>
          </a:prstGeom>
          <a:noFill/>
          <a:ln w="0">
            <a:noFill/>
            <a:prstDash val="solid"/>
          </a:ln>
        </p:spPr>
        <p:txBody>
          <a:bodyPr lIns="0" tIns="0" rIns="0" bIns="0" anchor="t">
            <a:normAutofit/>
          </a:bodyPr>
          <a:lstStyle/>
          <a:p>
            <a:pPr algn="ctr">
              <a:lnSpc>
                <a:spcPct val="98000"/>
              </a:lnSpc>
              <a:buNone/>
              <a:defRPr sz="1950" b="0" i="0">
                <a:solidFill>
                  <a:srgbClr val="0B6B64"/>
                </a:solidFill>
                <a:latin typeface="Segoe UI"/>
                <a:ea typeface="Segoe UI"/>
                <a:cs typeface="Segoe UI"/>
              </a:defRPr>
            </a:pPr>
            <a:r>
              <a:rPr sz="1950" b="0" i="0">
                <a:solidFill>
                  <a:srgbClr val="0B6B64"/>
                </a:solidFill>
                <a:latin typeface="Segoe UI"/>
                <a:ea typeface="Segoe UI"/>
                <a:cs typeface="Segoe UI"/>
              </a:rPr>
              <a:t>→</a:t>
            </a:r>
          </a:p>
        </p:txBody>
      </p:sp>
      <p:sp>
        <p:nvSpPr>
          <p:cNvPr id="19" name="Rectangle: Rounded Corners 18">
            <a:extLst>
              <a:ext uri="{FF2B5EF4-FFF2-40B4-BE49-F238E27FC236}">
                <a16:creationId xmlns:a16="http://schemas.microsoft.com/office/drawing/2014/main" id="{6A45BBB7-F537-40A1-8939-91EE1C60C195}"/>
              </a:ext>
            </a:extLst>
          </p:cNvPr>
          <p:cNvSpPr>
            <a:spLocks noGrp="1"/>
          </p:cNvSpPr>
          <p:nvPr/>
        </p:nvSpPr>
        <p:spPr>
          <a:xfrm>
            <a:off x="6362700" y="2647950"/>
            <a:ext cx="2381250" cy="1562100"/>
          </a:xfrm>
          <a:prstGeom prst="roundRect">
            <a:avLst>
              <a:gd name="adj" fmla="val 10976"/>
            </a:avLst>
          </a:prstGeom>
          <a:solidFill>
            <a:srgbClr val="FFFFFF"/>
          </a:solidFill>
          <a:ln w="9525">
            <a:solidFill>
              <a:srgbClr val="D5DAD6"/>
            </a:solidFill>
            <a:prstDash val="solid"/>
          </a:ln>
        </p:spPr>
        <p:txBody>
          <a:bodyPr/>
          <a:lstStyle/>
          <a:p>
            <a:endParaRPr lang="en-IN"/>
          </a:p>
        </p:txBody>
      </p:sp>
      <p:sp>
        <p:nvSpPr>
          <p:cNvPr id="20" name="Rectangle 19">
            <a:extLst>
              <a:ext uri="{FF2B5EF4-FFF2-40B4-BE49-F238E27FC236}">
                <a16:creationId xmlns:a16="http://schemas.microsoft.com/office/drawing/2014/main" id="{CF623297-2926-4E1C-A33F-FC62581EEEDA}"/>
              </a:ext>
            </a:extLst>
          </p:cNvPr>
          <p:cNvSpPr>
            <a:spLocks noGrp="1"/>
          </p:cNvSpPr>
          <p:nvPr/>
        </p:nvSpPr>
        <p:spPr>
          <a:xfrm>
            <a:off x="6572250" y="2819400"/>
            <a:ext cx="381000" cy="228600"/>
          </a:xfrm>
          <a:prstGeom prst="rect">
            <a:avLst/>
          </a:prstGeom>
          <a:noFill/>
          <a:ln w="0">
            <a:noFill/>
            <a:prstDash val="solid"/>
          </a:ln>
        </p:spPr>
        <p:txBody>
          <a:bodyPr lIns="0" tIns="0" rIns="0" bIns="0" anchor="t">
            <a:normAutofit/>
          </a:bodyPr>
          <a:lstStyle/>
          <a:p>
            <a:pPr algn="l">
              <a:lnSpc>
                <a:spcPct val="98000"/>
              </a:lnSpc>
              <a:buNone/>
              <a:defRPr sz="1050" b="1" i="0">
                <a:solidFill>
                  <a:srgbClr val="0B6B64"/>
                </a:solidFill>
                <a:latin typeface="Segoe UI Semibold"/>
                <a:ea typeface="Segoe UI Semibold"/>
                <a:cs typeface="Segoe UI Semibold"/>
              </a:defRPr>
            </a:pPr>
            <a:r>
              <a:rPr sz="1050" b="1" i="0">
                <a:solidFill>
                  <a:srgbClr val="0B6B64"/>
                </a:solidFill>
                <a:latin typeface="Segoe UI Semibold"/>
                <a:ea typeface="Segoe UI Semibold"/>
                <a:cs typeface="Segoe UI Semibold"/>
              </a:rPr>
              <a:t>03</a:t>
            </a:r>
          </a:p>
        </p:txBody>
      </p:sp>
      <p:sp>
        <p:nvSpPr>
          <p:cNvPr id="21" name="Rectangle 20">
            <a:extLst>
              <a:ext uri="{FF2B5EF4-FFF2-40B4-BE49-F238E27FC236}">
                <a16:creationId xmlns:a16="http://schemas.microsoft.com/office/drawing/2014/main" id="{467484CE-D23B-4A88-BF7B-B94709B95386}"/>
              </a:ext>
            </a:extLst>
          </p:cNvPr>
          <p:cNvSpPr>
            <a:spLocks noGrp="1"/>
          </p:cNvSpPr>
          <p:nvPr/>
        </p:nvSpPr>
        <p:spPr>
          <a:xfrm>
            <a:off x="6572250" y="3200400"/>
            <a:ext cx="1962150" cy="323850"/>
          </a:xfrm>
          <a:prstGeom prst="rect">
            <a:avLst/>
          </a:prstGeom>
          <a:noFill/>
          <a:ln w="0">
            <a:noFill/>
            <a:prstDash val="solid"/>
          </a:ln>
        </p:spPr>
        <p:txBody>
          <a:bodyPr lIns="0" tIns="0" rIns="0" bIns="0" anchor="t">
            <a:normAutofit/>
          </a:bodyPr>
          <a:lstStyle/>
          <a:p>
            <a:pPr algn="l">
              <a:lnSpc>
                <a:spcPct val="98000"/>
              </a:lnSpc>
              <a:buNone/>
              <a:defRPr sz="1875" b="1" i="0">
                <a:solidFill>
                  <a:srgbClr val="18232F"/>
                </a:solidFill>
                <a:latin typeface="Segoe UI Semibold"/>
                <a:ea typeface="Segoe UI Semibold"/>
                <a:cs typeface="Segoe UI Semibold"/>
              </a:defRPr>
            </a:pPr>
            <a:r>
              <a:rPr sz="1875" b="1" i="0">
                <a:solidFill>
                  <a:srgbClr val="18232F"/>
                </a:solidFill>
                <a:latin typeface="Segoe UI Semibold"/>
                <a:ea typeface="Segoe UI Semibold"/>
                <a:cs typeface="Segoe UI Semibold"/>
              </a:rPr>
              <a:t>Run &amp; watch</a:t>
            </a:r>
          </a:p>
        </p:txBody>
      </p:sp>
      <p:sp>
        <p:nvSpPr>
          <p:cNvPr id="22" name="Rectangle 21">
            <a:extLst>
              <a:ext uri="{FF2B5EF4-FFF2-40B4-BE49-F238E27FC236}">
                <a16:creationId xmlns:a16="http://schemas.microsoft.com/office/drawing/2014/main" id="{19FA9EF9-27C6-4897-9C47-FB9AB56CDA49}"/>
              </a:ext>
            </a:extLst>
          </p:cNvPr>
          <p:cNvSpPr>
            <a:spLocks noGrp="1"/>
          </p:cNvSpPr>
          <p:nvPr/>
        </p:nvSpPr>
        <p:spPr>
          <a:xfrm>
            <a:off x="6572250" y="3667125"/>
            <a:ext cx="1962150" cy="457200"/>
          </a:xfrm>
          <a:prstGeom prst="rect">
            <a:avLst/>
          </a:prstGeom>
          <a:noFill/>
          <a:ln w="0">
            <a:noFill/>
            <a:prstDash val="solid"/>
          </a:ln>
        </p:spPr>
        <p:txBody>
          <a:bodyPr lIns="0" tIns="0" rIns="0" bIns="0" anchor="t">
            <a:normAutofit/>
          </a:bodyPr>
          <a:lstStyle/>
          <a:p>
            <a:pPr algn="l">
              <a:lnSpc>
                <a:spcPct val="98000"/>
              </a:lnSpc>
              <a:buNone/>
              <a:defRPr sz="1350" b="0" i="0">
                <a:solidFill>
                  <a:srgbClr val="5B6670"/>
                </a:solidFill>
                <a:latin typeface="Segoe UI"/>
                <a:ea typeface="Segoe UI"/>
                <a:cs typeface="Segoe UI"/>
              </a:defRPr>
            </a:pPr>
            <a:r>
              <a:rPr sz="1350" b="0" i="0">
                <a:solidFill>
                  <a:srgbClr val="5B6670"/>
                </a:solidFill>
                <a:latin typeface="Segoe UI"/>
                <a:ea typeface="Segoe UI"/>
                <a:cs typeface="Segoe UI"/>
              </a:rPr>
              <a:t>Starts training and reports progress</a:t>
            </a:r>
          </a:p>
        </p:txBody>
      </p:sp>
      <p:sp>
        <p:nvSpPr>
          <p:cNvPr id="23" name="Rectangle 22">
            <a:extLst>
              <a:ext uri="{FF2B5EF4-FFF2-40B4-BE49-F238E27FC236}">
                <a16:creationId xmlns:a16="http://schemas.microsoft.com/office/drawing/2014/main" id="{9F38040C-96DD-4B99-87E5-2D76068F8849}"/>
              </a:ext>
            </a:extLst>
          </p:cNvPr>
          <p:cNvSpPr>
            <a:spLocks noGrp="1"/>
          </p:cNvSpPr>
          <p:nvPr/>
        </p:nvSpPr>
        <p:spPr>
          <a:xfrm>
            <a:off x="8763000" y="3209925"/>
            <a:ext cx="400050" cy="323850"/>
          </a:xfrm>
          <a:prstGeom prst="rect">
            <a:avLst/>
          </a:prstGeom>
          <a:noFill/>
          <a:ln w="0">
            <a:noFill/>
            <a:prstDash val="solid"/>
          </a:ln>
        </p:spPr>
        <p:txBody>
          <a:bodyPr lIns="0" tIns="0" rIns="0" bIns="0" anchor="t">
            <a:normAutofit/>
          </a:bodyPr>
          <a:lstStyle/>
          <a:p>
            <a:pPr algn="ctr">
              <a:lnSpc>
                <a:spcPct val="98000"/>
              </a:lnSpc>
              <a:buNone/>
              <a:defRPr sz="1950" b="0" i="0">
                <a:solidFill>
                  <a:srgbClr val="0B6B64"/>
                </a:solidFill>
                <a:latin typeface="Segoe UI"/>
                <a:ea typeface="Segoe UI"/>
                <a:cs typeface="Segoe UI"/>
              </a:defRPr>
            </a:pPr>
            <a:r>
              <a:rPr sz="1950" b="0" i="0">
                <a:solidFill>
                  <a:srgbClr val="0B6B64"/>
                </a:solidFill>
                <a:latin typeface="Segoe UI"/>
                <a:ea typeface="Segoe UI"/>
                <a:cs typeface="Segoe UI"/>
              </a:rPr>
              <a:t>→</a:t>
            </a:r>
          </a:p>
        </p:txBody>
      </p:sp>
      <p:sp>
        <p:nvSpPr>
          <p:cNvPr id="24" name="Rectangle: Rounded Corners 23">
            <a:extLst>
              <a:ext uri="{FF2B5EF4-FFF2-40B4-BE49-F238E27FC236}">
                <a16:creationId xmlns:a16="http://schemas.microsoft.com/office/drawing/2014/main" id="{47EB2B42-D1DF-4B10-89AE-6E2AE7C8308C}"/>
              </a:ext>
            </a:extLst>
          </p:cNvPr>
          <p:cNvSpPr>
            <a:spLocks noGrp="1"/>
          </p:cNvSpPr>
          <p:nvPr/>
        </p:nvSpPr>
        <p:spPr>
          <a:xfrm>
            <a:off x="9166349" y="2647950"/>
            <a:ext cx="2381250" cy="1562100"/>
          </a:xfrm>
          <a:prstGeom prst="roundRect">
            <a:avLst>
              <a:gd name="adj" fmla="val 10976"/>
            </a:avLst>
          </a:prstGeom>
          <a:solidFill>
            <a:srgbClr val="FFFFFF"/>
          </a:solidFill>
          <a:ln w="9525">
            <a:solidFill>
              <a:srgbClr val="D5DAD6"/>
            </a:solidFill>
            <a:prstDash val="solid"/>
          </a:ln>
        </p:spPr>
        <p:txBody>
          <a:bodyPr/>
          <a:lstStyle/>
          <a:p>
            <a:endParaRPr lang="en-IN"/>
          </a:p>
        </p:txBody>
      </p:sp>
      <p:sp>
        <p:nvSpPr>
          <p:cNvPr id="25" name="Rectangle 24">
            <a:extLst>
              <a:ext uri="{FF2B5EF4-FFF2-40B4-BE49-F238E27FC236}">
                <a16:creationId xmlns:a16="http://schemas.microsoft.com/office/drawing/2014/main" id="{F6CAF92E-7EF2-4824-8FAE-57878F51ED3C}"/>
              </a:ext>
            </a:extLst>
          </p:cNvPr>
          <p:cNvSpPr>
            <a:spLocks noGrp="1"/>
          </p:cNvSpPr>
          <p:nvPr/>
        </p:nvSpPr>
        <p:spPr>
          <a:xfrm>
            <a:off x="9391650" y="2819400"/>
            <a:ext cx="381000" cy="228600"/>
          </a:xfrm>
          <a:prstGeom prst="rect">
            <a:avLst/>
          </a:prstGeom>
          <a:noFill/>
          <a:ln w="0">
            <a:noFill/>
            <a:prstDash val="solid"/>
          </a:ln>
        </p:spPr>
        <p:txBody>
          <a:bodyPr lIns="0" tIns="0" rIns="0" bIns="0" anchor="t">
            <a:normAutofit/>
          </a:bodyPr>
          <a:lstStyle/>
          <a:p>
            <a:pPr algn="l">
              <a:lnSpc>
                <a:spcPct val="98000"/>
              </a:lnSpc>
              <a:buNone/>
              <a:defRPr sz="1050" b="1" i="0">
                <a:solidFill>
                  <a:srgbClr val="0B6B64"/>
                </a:solidFill>
                <a:latin typeface="Segoe UI Semibold"/>
                <a:ea typeface="Segoe UI Semibold"/>
                <a:cs typeface="Segoe UI Semibold"/>
              </a:defRPr>
            </a:pPr>
            <a:r>
              <a:rPr sz="1050" b="1" i="0">
                <a:solidFill>
                  <a:srgbClr val="0B6B64"/>
                </a:solidFill>
                <a:latin typeface="Segoe UI Semibold"/>
                <a:ea typeface="Segoe UI Semibold"/>
                <a:cs typeface="Segoe UI Semibold"/>
              </a:rPr>
              <a:t>04</a:t>
            </a:r>
          </a:p>
        </p:txBody>
      </p:sp>
      <p:sp>
        <p:nvSpPr>
          <p:cNvPr id="26" name="Rectangle 25">
            <a:extLst>
              <a:ext uri="{FF2B5EF4-FFF2-40B4-BE49-F238E27FC236}">
                <a16:creationId xmlns:a16="http://schemas.microsoft.com/office/drawing/2014/main" id="{6922EE20-F765-4798-A1CB-49CDD9FF2402}"/>
              </a:ext>
            </a:extLst>
          </p:cNvPr>
          <p:cNvSpPr>
            <a:spLocks noGrp="1"/>
          </p:cNvSpPr>
          <p:nvPr/>
        </p:nvSpPr>
        <p:spPr>
          <a:xfrm>
            <a:off x="9391649" y="3200399"/>
            <a:ext cx="2076451" cy="457200"/>
          </a:xfrm>
          <a:prstGeom prst="rect">
            <a:avLst/>
          </a:prstGeom>
          <a:noFill/>
          <a:ln w="0">
            <a:noFill/>
            <a:prstDash val="solid"/>
          </a:ln>
        </p:spPr>
        <p:txBody>
          <a:bodyPr lIns="0" tIns="0" rIns="0" bIns="0" anchor="t">
            <a:normAutofit fontScale="92500" lnSpcReduction="10000"/>
          </a:bodyPr>
          <a:lstStyle/>
          <a:p>
            <a:pPr algn="l">
              <a:lnSpc>
                <a:spcPct val="98000"/>
              </a:lnSpc>
              <a:buNone/>
              <a:defRPr sz="1875" b="1" i="0">
                <a:solidFill>
                  <a:srgbClr val="18232F"/>
                </a:solidFill>
                <a:latin typeface="Segoe UI Semibold"/>
                <a:ea typeface="Segoe UI Semibold"/>
                <a:cs typeface="Segoe UI Semibold"/>
              </a:defRPr>
            </a:pPr>
            <a:r>
              <a:rPr sz="1875" b="1" i="0" dirty="0">
                <a:solidFill>
                  <a:srgbClr val="18232F"/>
                </a:solidFill>
                <a:latin typeface="Segoe UI Semibold"/>
                <a:ea typeface="Segoe UI Semibold"/>
                <a:cs typeface="Segoe UI Semibold"/>
              </a:rPr>
              <a:t>Evaluate (planned)</a:t>
            </a:r>
            <a:endParaRPr sz="1875" b="1" i="0" dirty="0">
              <a:solidFill>
                <a:srgbClr val="18232F"/>
              </a:solidFill>
              <a:latin typeface="Segoe UI Semibold"/>
              <a:ea typeface="Segoe UI Semibold"/>
              <a:cs typeface="Segoe UI Semibold"/>
            </a:endParaRPr>
          </a:p>
        </p:txBody>
      </p:sp>
      <p:sp>
        <p:nvSpPr>
          <p:cNvPr id="27" name="Rectangle 26">
            <a:extLst>
              <a:ext uri="{FF2B5EF4-FFF2-40B4-BE49-F238E27FC236}">
                <a16:creationId xmlns:a16="http://schemas.microsoft.com/office/drawing/2014/main" id="{292F6F63-3EF1-459E-BE69-A186D3F533A1}"/>
              </a:ext>
            </a:extLst>
          </p:cNvPr>
          <p:cNvSpPr>
            <a:spLocks noGrp="1"/>
          </p:cNvSpPr>
          <p:nvPr/>
        </p:nvSpPr>
        <p:spPr>
          <a:xfrm>
            <a:off x="9391650" y="3667125"/>
            <a:ext cx="1962150" cy="457200"/>
          </a:xfrm>
          <a:prstGeom prst="rect">
            <a:avLst/>
          </a:prstGeom>
          <a:noFill/>
          <a:ln w="0">
            <a:noFill/>
            <a:prstDash val="solid"/>
          </a:ln>
        </p:spPr>
        <p:txBody>
          <a:bodyPr lIns="0" tIns="0" rIns="0" bIns="0" anchor="t">
            <a:normAutofit/>
          </a:bodyPr>
          <a:lstStyle/>
          <a:p>
            <a:pPr algn="l">
              <a:lnSpc>
                <a:spcPct val="98000"/>
              </a:lnSpc>
              <a:buNone/>
              <a:defRPr sz="1350" b="0" i="0">
                <a:solidFill>
                  <a:srgbClr val="5B6670"/>
                </a:solidFill>
                <a:latin typeface="Segoe UI"/>
                <a:ea typeface="Segoe UI"/>
                <a:cs typeface="Segoe UI"/>
              </a:defRPr>
            </a:pPr>
            <a:r>
              <a:rPr sz="1350" b="0" i="0">
                <a:solidFill>
                  <a:srgbClr val="5B6670"/>
                </a:solidFill>
                <a:latin typeface="Segoe UI"/>
                <a:ea typeface="Segoe UI"/>
                <a:cs typeface="Segoe UI"/>
              </a:rPr>
              <a:t>Runs a saved robot and compares results</a:t>
            </a:r>
          </a:p>
        </p:txBody>
      </p:sp>
      <p:sp>
        <p:nvSpPr>
          <p:cNvPr id="28" name="Rectangle: Rounded Corners 27">
            <a:extLst>
              <a:ext uri="{FF2B5EF4-FFF2-40B4-BE49-F238E27FC236}">
                <a16:creationId xmlns:a16="http://schemas.microsoft.com/office/drawing/2014/main" id="{641006B4-E296-4718-9B2E-590705324BED}"/>
              </a:ext>
            </a:extLst>
          </p:cNvPr>
          <p:cNvSpPr>
            <a:spLocks noGrp="1"/>
          </p:cNvSpPr>
          <p:nvPr/>
        </p:nvSpPr>
        <p:spPr>
          <a:xfrm>
            <a:off x="2000250" y="4953000"/>
            <a:ext cx="8191500" cy="685800"/>
          </a:xfrm>
          <a:prstGeom prst="roundRect">
            <a:avLst>
              <a:gd name="adj" fmla="val 25000"/>
            </a:avLst>
          </a:prstGeom>
          <a:solidFill>
            <a:srgbClr val="DDEBE7"/>
          </a:solidFill>
          <a:ln w="0">
            <a:noFill/>
            <a:prstDash val="solid"/>
          </a:ln>
        </p:spPr>
        <p:txBody>
          <a:bodyPr/>
          <a:lstStyle/>
          <a:p>
            <a:endParaRPr lang="en-IN"/>
          </a:p>
        </p:txBody>
      </p:sp>
      <p:sp>
        <p:nvSpPr>
          <p:cNvPr id="29" name="Rectangle 28">
            <a:extLst>
              <a:ext uri="{FF2B5EF4-FFF2-40B4-BE49-F238E27FC236}">
                <a16:creationId xmlns:a16="http://schemas.microsoft.com/office/drawing/2014/main" id="{161D7FFE-9EF6-4007-B8F9-259AC5C60A4D}"/>
              </a:ext>
            </a:extLst>
          </p:cNvPr>
          <p:cNvSpPr>
            <a:spLocks noGrp="1"/>
          </p:cNvSpPr>
          <p:nvPr/>
        </p:nvSpPr>
        <p:spPr>
          <a:xfrm>
            <a:off x="2266950" y="5124450"/>
            <a:ext cx="7658100" cy="361950"/>
          </a:xfrm>
          <a:prstGeom prst="rect">
            <a:avLst/>
          </a:prstGeom>
          <a:noFill/>
          <a:ln w="0">
            <a:noFill/>
            <a:prstDash val="solid"/>
          </a:ln>
        </p:spPr>
        <p:txBody>
          <a:bodyPr lIns="0" tIns="0" rIns="0" bIns="0" anchor="ctr">
            <a:normAutofit fontScale="92500"/>
          </a:bodyPr>
          <a:lstStyle/>
          <a:p>
            <a:pPr algn="ctr">
              <a:lnSpc>
                <a:spcPct val="98000"/>
              </a:lnSpc>
              <a:buNone/>
              <a:defRPr sz="1725" b="1" i="0">
                <a:solidFill>
                  <a:srgbClr val="18232F"/>
                </a:solidFill>
                <a:latin typeface="Segoe UI Semibold"/>
                <a:ea typeface="Segoe UI Semibold"/>
                <a:cs typeface="Segoe UI Semibold"/>
              </a:defRPr>
            </a:pPr>
            <a:r>
              <a:rPr sz="1725" b="1" i="0">
                <a:solidFill>
                  <a:srgbClr val="18232F"/>
                </a:solidFill>
                <a:latin typeface="Segoe UI Semibold"/>
                <a:ea typeface="Segoe UI Semibold"/>
                <a:cs typeface="Segoe UI Semibold"/>
              </a:rPr>
              <a:t>Anything that changes the setup, or starts training, asks you first.</a:t>
            </a:r>
          </a:p>
        </p:txBody>
      </p:sp>
    </p:spTree>
    <p:extLst>
      <p:ext uri="{BB962C8B-B14F-4D97-AF65-F5344CB8AC3E}">
        <p14:creationId xmlns:p14="http://schemas.microsoft.com/office/powerpoint/2010/main" val="2050130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6D621B8-D40A-402F-9F58-9FE2A9EAC728}"/>
              </a:ext>
            </a:extLst>
          </p:cNvPr>
          <p:cNvSpPr>
            <a:spLocks noGrp="1"/>
          </p:cNvSpPr>
          <p:nvPr/>
        </p:nvSpPr>
        <p:spPr>
          <a:xfrm>
            <a:off x="11106150" y="266700"/>
            <a:ext cx="400050" cy="228600"/>
          </a:xfrm>
          <a:prstGeom prst="rect">
            <a:avLst/>
          </a:prstGeom>
          <a:noFill/>
          <a:ln w="0">
            <a:noFill/>
            <a:prstDash val="solid"/>
          </a:ln>
        </p:spPr>
        <p:txBody>
          <a:bodyPr lIns="0" tIns="0" rIns="0" bIns="0" anchor="ctr">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19</a:t>
            </a:r>
          </a:p>
        </p:txBody>
      </p:sp>
      <p:sp>
        <p:nvSpPr>
          <p:cNvPr id="4" name="Rectangle 3">
            <a:extLst>
              <a:ext uri="{FF2B5EF4-FFF2-40B4-BE49-F238E27FC236}">
                <a16:creationId xmlns:a16="http://schemas.microsoft.com/office/drawing/2014/main" id="{AE56F03B-783F-4443-B5BD-3669E7B1B3B1}"/>
              </a:ext>
            </a:extLst>
          </p:cNvPr>
          <p:cNvSpPr>
            <a:spLocks noGrp="1"/>
          </p:cNvSpPr>
          <p:nvPr/>
        </p:nvSpPr>
        <p:spPr>
          <a:xfrm>
            <a:off x="685800" y="714375"/>
            <a:ext cx="10820400" cy="800100"/>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The GPU changed how fast we could try ideas</a:t>
            </a:r>
          </a:p>
        </p:txBody>
      </p:sp>
      <p:sp>
        <p:nvSpPr>
          <p:cNvPr id="5" name="Rectangle 4">
            <a:extLst>
              <a:ext uri="{FF2B5EF4-FFF2-40B4-BE49-F238E27FC236}">
                <a16:creationId xmlns:a16="http://schemas.microsoft.com/office/drawing/2014/main" id="{25B9013E-2E60-4CCE-832D-24E7B16322E1}"/>
              </a:ext>
            </a:extLst>
          </p:cNvPr>
          <p:cNvSpPr>
            <a:spLocks noGrp="1"/>
          </p:cNvSpPr>
          <p:nvPr/>
        </p:nvSpPr>
        <p:spPr>
          <a:xfrm>
            <a:off x="685800" y="6457950"/>
            <a:ext cx="10820400" cy="9525"/>
          </a:xfrm>
          <a:prstGeom prst="rect">
            <a:avLst/>
          </a:prstGeom>
          <a:solidFill>
            <a:srgbClr val="D5DAD6"/>
          </a:solidFill>
          <a:ln w="0">
            <a:noFill/>
            <a:prstDash val="solid"/>
          </a:ln>
        </p:spPr>
        <p:txBody>
          <a:bodyPr/>
          <a:lstStyle/>
          <a:p>
            <a:endParaRPr lang="en-IN"/>
          </a:p>
        </p:txBody>
      </p:sp>
      <p:sp>
        <p:nvSpPr>
          <p:cNvPr id="8" name="Rectangle 7">
            <a:extLst>
              <a:ext uri="{FF2B5EF4-FFF2-40B4-BE49-F238E27FC236}">
                <a16:creationId xmlns:a16="http://schemas.microsoft.com/office/drawing/2014/main" id="{6D41DD33-552A-422B-9C47-D4726DB93C55}"/>
              </a:ext>
            </a:extLst>
          </p:cNvPr>
          <p:cNvSpPr>
            <a:spLocks noGrp="1"/>
          </p:cNvSpPr>
          <p:nvPr/>
        </p:nvSpPr>
        <p:spPr>
          <a:xfrm>
            <a:off x="781050" y="1943100"/>
            <a:ext cx="6191250" cy="285750"/>
          </a:xfrm>
          <a:prstGeom prst="rect">
            <a:avLst/>
          </a:prstGeom>
          <a:noFill/>
          <a:ln w="0">
            <a:noFill/>
            <a:prstDash val="solid"/>
          </a:ln>
        </p:spPr>
        <p:txBody>
          <a:bodyPr lIns="0" tIns="0" rIns="0" bIns="0" anchor="t">
            <a:normAutofit/>
          </a:bodyPr>
          <a:lstStyle/>
          <a:p>
            <a:pPr algn="l">
              <a:lnSpc>
                <a:spcPct val="98000"/>
              </a:lnSpc>
              <a:buNone/>
              <a:defRPr sz="1650" b="1" i="0">
                <a:solidFill>
                  <a:srgbClr val="5B6670"/>
                </a:solidFill>
                <a:latin typeface="Segoe UI Semibold"/>
                <a:ea typeface="Segoe UI Semibold"/>
                <a:cs typeface="Segoe UI Semibold"/>
              </a:defRPr>
            </a:pPr>
            <a:r>
              <a:rPr sz="1650" b="1" i="0">
                <a:solidFill>
                  <a:srgbClr val="5B6670"/>
                </a:solidFill>
                <a:latin typeface="Segoe UI Semibold"/>
                <a:ea typeface="Segoe UI Semibold"/>
                <a:cs typeface="Segoe UI Semibold"/>
              </a:rPr>
              <a:t>Steps of simulation per second</a:t>
            </a:r>
          </a:p>
        </p:txBody>
      </p:sp>
      <p:sp>
        <p:nvSpPr>
          <p:cNvPr id="10" name="Rectangle: Rounded Corners 9">
            <a:extLst>
              <a:ext uri="{FF2B5EF4-FFF2-40B4-BE49-F238E27FC236}">
                <a16:creationId xmlns:a16="http://schemas.microsoft.com/office/drawing/2014/main" id="{E9F18377-093E-4EA1-8814-8A6A54BF0175}"/>
              </a:ext>
            </a:extLst>
          </p:cNvPr>
          <p:cNvSpPr>
            <a:spLocks noGrp="1"/>
          </p:cNvSpPr>
          <p:nvPr/>
        </p:nvSpPr>
        <p:spPr>
          <a:xfrm>
            <a:off x="9410700" y="2324100"/>
            <a:ext cx="1885950" cy="2609850"/>
          </a:xfrm>
          <a:prstGeom prst="roundRect">
            <a:avLst>
              <a:gd name="adj" fmla="val 10101"/>
            </a:avLst>
          </a:prstGeom>
          <a:solidFill>
            <a:srgbClr val="DDEBE7"/>
          </a:solidFill>
          <a:ln w="0">
            <a:noFill/>
            <a:prstDash val="solid"/>
          </a:ln>
        </p:spPr>
        <p:txBody>
          <a:bodyPr/>
          <a:lstStyle/>
          <a:p>
            <a:endParaRPr lang="en-IN"/>
          </a:p>
        </p:txBody>
      </p:sp>
      <p:sp>
        <p:nvSpPr>
          <p:cNvPr id="11" name="Rectangle 10">
            <a:extLst>
              <a:ext uri="{FF2B5EF4-FFF2-40B4-BE49-F238E27FC236}">
                <a16:creationId xmlns:a16="http://schemas.microsoft.com/office/drawing/2014/main" id="{44F244EA-1164-4008-A306-44FA6F784F20}"/>
              </a:ext>
            </a:extLst>
          </p:cNvPr>
          <p:cNvSpPr>
            <a:spLocks noGrp="1"/>
          </p:cNvSpPr>
          <p:nvPr/>
        </p:nvSpPr>
        <p:spPr>
          <a:xfrm>
            <a:off x="9639300" y="2667000"/>
            <a:ext cx="1428750" cy="628650"/>
          </a:xfrm>
          <a:prstGeom prst="rect">
            <a:avLst/>
          </a:prstGeom>
          <a:noFill/>
          <a:ln w="0">
            <a:noFill/>
            <a:prstDash val="solid"/>
          </a:ln>
        </p:spPr>
        <p:txBody>
          <a:bodyPr lIns="0" tIns="0" rIns="0" bIns="0" anchor="t">
            <a:normAutofit/>
          </a:bodyPr>
          <a:lstStyle/>
          <a:p>
            <a:pPr algn="ctr">
              <a:lnSpc>
                <a:spcPct val="98000"/>
              </a:lnSpc>
              <a:buNone/>
              <a:defRPr sz="3600" b="1" i="0">
                <a:solidFill>
                  <a:srgbClr val="0B6B64"/>
                </a:solidFill>
                <a:latin typeface="Segoe UI Semibold"/>
                <a:ea typeface="Segoe UI Semibold"/>
                <a:cs typeface="Segoe UI Semibold"/>
              </a:defRPr>
            </a:pPr>
            <a:r>
              <a:rPr sz="3600" b="1" i="0">
                <a:solidFill>
                  <a:srgbClr val="0B6B64"/>
                </a:solidFill>
                <a:latin typeface="Segoe UI Semibold"/>
                <a:ea typeface="Segoe UI Semibold"/>
                <a:cs typeface="Segoe UI Semibold"/>
              </a:rPr>
              <a:t>≈25k</a:t>
            </a:r>
          </a:p>
        </p:txBody>
      </p:sp>
      <p:sp>
        <p:nvSpPr>
          <p:cNvPr id="12" name="Rectangle 11">
            <a:extLst>
              <a:ext uri="{FF2B5EF4-FFF2-40B4-BE49-F238E27FC236}">
                <a16:creationId xmlns:a16="http://schemas.microsoft.com/office/drawing/2014/main" id="{8F168FFC-451E-4420-A9BA-0D59FB0CA0DE}"/>
              </a:ext>
            </a:extLst>
          </p:cNvPr>
          <p:cNvSpPr>
            <a:spLocks noGrp="1"/>
          </p:cNvSpPr>
          <p:nvPr/>
        </p:nvSpPr>
        <p:spPr>
          <a:xfrm>
            <a:off x="9639300" y="3409950"/>
            <a:ext cx="1428750" cy="571500"/>
          </a:xfrm>
          <a:prstGeom prst="rect">
            <a:avLst/>
          </a:prstGeom>
          <a:noFill/>
          <a:ln w="0">
            <a:noFill/>
            <a:prstDash val="solid"/>
          </a:ln>
        </p:spPr>
        <p:txBody>
          <a:bodyPr lIns="0" tIns="0" rIns="0" bIns="0" anchor="t">
            <a:normAutofit/>
          </a:bodyPr>
          <a:lstStyle/>
          <a:p>
            <a:pPr algn="ctr">
              <a:lnSpc>
                <a:spcPct val="98000"/>
              </a:lnSpc>
              <a:buNone/>
              <a:defRPr sz="1575" b="1" i="0">
                <a:solidFill>
                  <a:srgbClr val="18232F"/>
                </a:solidFill>
                <a:latin typeface="Segoe UI Semibold"/>
                <a:ea typeface="Segoe UI Semibold"/>
                <a:cs typeface="Segoe UI Semibold"/>
              </a:defRPr>
            </a:pPr>
            <a:r>
              <a:rPr sz="1575" b="1" i="0">
                <a:solidFill>
                  <a:srgbClr val="18232F"/>
                </a:solidFill>
                <a:latin typeface="Segoe UI Semibold"/>
                <a:ea typeface="Segoe UI Semibold"/>
                <a:cs typeface="Segoe UI Semibold"/>
              </a:rPr>
              <a:t>Go1 target</a:t>
            </a:r>
          </a:p>
          <a:p>
            <a:pPr algn="ctr">
              <a:lnSpc>
                <a:spcPct val="98000"/>
              </a:lnSpc>
              <a:buNone/>
              <a:defRPr sz="1575" b="1" i="0">
                <a:solidFill>
                  <a:srgbClr val="18232F"/>
                </a:solidFill>
                <a:latin typeface="Segoe UI Semibold"/>
                <a:ea typeface="Segoe UI Semibold"/>
                <a:cs typeface="Segoe UI Semibold"/>
              </a:defRPr>
            </a:pPr>
            <a:r>
              <a:rPr sz="1575" b="1" i="0">
                <a:solidFill>
                  <a:srgbClr val="18232F"/>
                </a:solidFill>
                <a:latin typeface="Segoe UI Semibold"/>
                <a:ea typeface="Segoe UI Semibold"/>
                <a:cs typeface="Segoe UI Semibold"/>
              </a:rPr>
              <a:t>was reached</a:t>
            </a:r>
          </a:p>
        </p:txBody>
      </p:sp>
      <p:sp>
        <p:nvSpPr>
          <p:cNvPr id="13" name="Rectangle 12">
            <a:extLst>
              <a:ext uri="{FF2B5EF4-FFF2-40B4-BE49-F238E27FC236}">
                <a16:creationId xmlns:a16="http://schemas.microsoft.com/office/drawing/2014/main" id="{54281767-8A52-4E4A-A18E-B71ED7D4323E}"/>
              </a:ext>
            </a:extLst>
          </p:cNvPr>
          <p:cNvSpPr>
            <a:spLocks noGrp="1"/>
          </p:cNvSpPr>
          <p:nvPr/>
        </p:nvSpPr>
        <p:spPr>
          <a:xfrm>
            <a:off x="9658350" y="4191000"/>
            <a:ext cx="1390650" cy="9525"/>
          </a:xfrm>
          <a:prstGeom prst="rect">
            <a:avLst/>
          </a:prstGeom>
          <a:solidFill>
            <a:srgbClr val="D5DAD6"/>
          </a:solidFill>
          <a:ln w="0">
            <a:noFill/>
            <a:prstDash val="solid"/>
          </a:ln>
        </p:spPr>
        <p:txBody>
          <a:bodyPr/>
          <a:lstStyle/>
          <a:p>
            <a:endParaRPr lang="en-IN"/>
          </a:p>
        </p:txBody>
      </p:sp>
      <p:sp>
        <p:nvSpPr>
          <p:cNvPr id="14" name="Rectangle 13">
            <a:extLst>
              <a:ext uri="{FF2B5EF4-FFF2-40B4-BE49-F238E27FC236}">
                <a16:creationId xmlns:a16="http://schemas.microsoft.com/office/drawing/2014/main" id="{7B6EF41D-3679-408F-8CBA-795F51C73F1D}"/>
              </a:ext>
            </a:extLst>
          </p:cNvPr>
          <p:cNvSpPr>
            <a:spLocks noGrp="1"/>
          </p:cNvSpPr>
          <p:nvPr/>
        </p:nvSpPr>
        <p:spPr>
          <a:xfrm>
            <a:off x="9639300" y="4381500"/>
            <a:ext cx="1428750" cy="514350"/>
          </a:xfrm>
          <a:prstGeom prst="rect">
            <a:avLst/>
          </a:prstGeom>
          <a:noFill/>
          <a:ln w="0">
            <a:noFill/>
            <a:prstDash val="solid"/>
          </a:ln>
        </p:spPr>
        <p:txBody>
          <a:bodyPr lIns="0" tIns="0" rIns="0" bIns="0" anchor="t">
            <a:normAutofit/>
          </a:bodyPr>
          <a:lstStyle/>
          <a:p>
            <a:pPr algn="ctr">
              <a:lnSpc>
                <a:spcPct val="98000"/>
              </a:lnSpc>
              <a:buNone/>
              <a:defRPr sz="1425" b="1" i="0">
                <a:solidFill>
                  <a:srgbClr val="0B6B64"/>
                </a:solidFill>
                <a:latin typeface="Segoe UI Semibold"/>
                <a:ea typeface="Segoe UI Semibold"/>
                <a:cs typeface="Segoe UI Semibold"/>
              </a:defRPr>
            </a:pPr>
            <a:r>
              <a:rPr sz="1425" b="1" i="0">
                <a:solidFill>
                  <a:srgbClr val="0B6B64"/>
                </a:solidFill>
                <a:latin typeface="Segoe UI Semibold"/>
                <a:ea typeface="Segoe UI Semibold"/>
                <a:cs typeface="Segoe UI Semibold"/>
              </a:rPr>
              <a:t>14.6k peak</a:t>
            </a:r>
          </a:p>
          <a:p>
            <a:pPr algn="ctr">
              <a:lnSpc>
                <a:spcPct val="98000"/>
              </a:lnSpc>
              <a:buNone/>
              <a:defRPr sz="1425" b="1" i="0">
                <a:solidFill>
                  <a:srgbClr val="0B6B64"/>
                </a:solidFill>
                <a:latin typeface="Segoe UI Semibold"/>
                <a:ea typeface="Segoe UI Semibold"/>
                <a:cs typeface="Segoe UI Semibold"/>
              </a:defRPr>
            </a:pPr>
            <a:r>
              <a:rPr sz="1425" b="1" i="0">
                <a:solidFill>
                  <a:srgbClr val="0B6B64"/>
                </a:solidFill>
                <a:latin typeface="Segoe UI Semibold"/>
                <a:ea typeface="Segoe UI Semibold"/>
                <a:cs typeface="Segoe UI Semibold"/>
              </a:rPr>
              <a:t>Valkyrie</a:t>
            </a:r>
          </a:p>
        </p:txBody>
      </p:sp>
      <p:sp>
        <p:nvSpPr>
          <p:cNvPr id="15" name="Rectangle 14">
            <a:extLst>
              <a:ext uri="{FF2B5EF4-FFF2-40B4-BE49-F238E27FC236}">
                <a16:creationId xmlns:a16="http://schemas.microsoft.com/office/drawing/2014/main" id="{B3F5359D-7897-4E64-9526-13AB59737564}"/>
              </a:ext>
            </a:extLst>
          </p:cNvPr>
          <p:cNvSpPr>
            <a:spLocks noGrp="1"/>
          </p:cNvSpPr>
          <p:nvPr/>
        </p:nvSpPr>
        <p:spPr>
          <a:xfrm>
            <a:off x="9410700" y="5219700"/>
            <a:ext cx="1885950" cy="495300"/>
          </a:xfrm>
          <a:prstGeom prst="rect">
            <a:avLst/>
          </a:prstGeom>
          <a:noFill/>
          <a:ln w="0">
            <a:noFill/>
            <a:prstDash val="solid"/>
          </a:ln>
        </p:spPr>
        <p:txBody>
          <a:bodyPr lIns="0" tIns="0" rIns="0" bIns="0" anchor="t">
            <a:normAutofit fontScale="98261"/>
          </a:bodyPr>
          <a:lstStyle/>
          <a:p>
            <a:pPr algn="ctr">
              <a:lnSpc>
                <a:spcPct val="98000"/>
              </a:lnSpc>
              <a:buNone/>
              <a:defRPr sz="1125" b="0" i="0">
                <a:solidFill>
                  <a:srgbClr val="5B6670"/>
                </a:solidFill>
                <a:latin typeface="Segoe UI"/>
                <a:ea typeface="Segoe UI"/>
                <a:cs typeface="Segoe UI"/>
              </a:defRPr>
            </a:pPr>
            <a:r>
              <a:rPr sz="1125" b="0" i="0">
                <a:solidFill>
                  <a:srgbClr val="5B6670"/>
                </a:solidFill>
                <a:latin typeface="Segoe UI"/>
                <a:ea typeface="Segoe UI"/>
                <a:cs typeface="Segoe UI"/>
              </a:rPr>
              <a:t>A rough comparison between our own setups. It is not a controlled benchmark.</a:t>
            </a:r>
          </a:p>
        </p:txBody>
      </p:sp>
      <p:pic>
        <p:nvPicPr>
          <p:cNvPr id="897" name="Chart 898"/>
          <p:cNvPicPr>
            <a:picLocks noChangeAspect="1"/>
          </p:cNvPicPr>
          <p:nvPr/>
        </p:nvPicPr>
        <p:blipFill>
          <a:blip r:embed="rId9"/>
          <a:stretch>
            <a:fillRect/>
          </a:stretch>
        </p:blipFill>
        <p:spPr>
          <a:xfrm>
            <a:off x="731520" y="2103120"/>
            <a:ext cx="7589520" cy="2999232"/>
          </a:xfrm>
          <a:prstGeom prst="rect">
            <a:avLst/>
          </a:prstGeom>
        </p:spPr>
      </p:pic>
      <p:sp>
        <p:nvSpPr>
          <p:cNvPr id="899" name="Rectangle 900"/>
          <p:cNvSpPr>
            <a:spLocks noGrp="1"/>
          </p:cNvSpPr>
          <p:nvPr/>
        </p:nvSpPr>
        <p:spPr>
          <a:xfrm>
            <a:off x="731520" y="5797296"/>
            <a:ext cx="10424160" cy="502920"/>
          </a:xfrm>
          <a:prstGeom prst="rect">
            <a:avLst/>
          </a:prstGeom>
          <a:noFill/>
          <a:ln w="0">
            <a:noFill/>
            <a:prstDash val="solid"/>
          </a:ln>
        </p:spPr>
        <p:txBody>
          <a:bodyPr lIns="0" tIns="0" rIns="0" bIns="0" anchor="t">
            <a:normAutofit/>
          </a:bodyPr>
          <a:lstStyle/>
          <a:p>
            <a:pPr algn="l">
              <a:lnSpc>
                <a:spcPct val="98000"/>
              </a:lnSpc>
              <a:buNone/>
              <a:defRPr sz="1275" b="1" i="0">
                <a:solidFill>
                  <a:srgbClr val="5B6670"/>
                </a:solidFill>
                <a:latin typeface="Segoe UI Semibold"/>
                <a:ea typeface="Segoe UI Semibold"/>
                <a:cs typeface="Segoe UI Semibold"/>
              </a:defRPr>
            </a:pPr>
            <a:r>
              <a:rPr sz="1275" b="1" i="0">
                <a:solidFill>
                  <a:srgbClr val="5B6670"/>
                </a:solidFill>
                <a:latin typeface="Segoe UI Semibold"/>
                <a:ea typeface="Segoe UI Semibold"/>
                <a:cs typeface="Segoe UI Semibold"/>
              </a:rPr>
              <a:t>A longer bar is better. The GPU simulates roughly a hundred times more steps per second than the CPU did,</a:t>
            </a:r>
          </a:p>
          <a:p>
            <a:pPr algn="l">
              <a:lnSpc>
                <a:spcPct val="98000"/>
              </a:lnSpc>
              <a:buNone/>
              <a:defRPr sz="1275" b="1" i="0">
                <a:solidFill>
                  <a:srgbClr val="5B6670"/>
                </a:solidFill>
                <a:latin typeface="Segoe UI Semibold"/>
                <a:ea typeface="Segoe UI Semibold"/>
                <a:cs typeface="Segoe UI Semibold"/>
              </a:defRPr>
            </a:pPr>
            <a:r>
              <a:rPr sz="1275" b="1" i="0">
                <a:solidFill>
                  <a:srgbClr val="5B6670"/>
                </a:solidFill>
                <a:latin typeface="Segoe UI Semibold"/>
                <a:ea typeface="Segoe UI Semibold"/>
                <a:cs typeface="Segoe UI Semibold"/>
              </a:rPr>
              <a:t>which is what made it possible to test a change in minutes instead of hours.</a:t>
            </a:r>
          </a:p>
        </p:txBody>
      </p:sp>
    </p:spTree>
    <p:extLst>
      <p:ext uri="{BB962C8B-B14F-4D97-AF65-F5344CB8AC3E}">
        <p14:creationId xmlns:p14="http://schemas.microsoft.com/office/powerpoint/2010/main" val="662610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68928C3-E24E-44FA-8736-014B1F9A7379}"/>
              </a:ext>
            </a:extLst>
          </p:cNvPr>
          <p:cNvSpPr>
            <a:spLocks noGrp="1"/>
          </p:cNvSpPr>
          <p:nvPr/>
        </p:nvSpPr>
        <p:spPr>
          <a:xfrm>
            <a:off x="11106150" y="266700"/>
            <a:ext cx="400050" cy="228600"/>
          </a:xfrm>
          <a:prstGeom prst="rect">
            <a:avLst/>
          </a:prstGeom>
          <a:noFill/>
          <a:ln w="0">
            <a:noFill/>
            <a:prstDash val="solid"/>
          </a:ln>
        </p:spPr>
        <p:txBody>
          <a:bodyPr lIns="0" tIns="0" rIns="0" bIns="0" anchor="ctr">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31</a:t>
            </a:r>
          </a:p>
        </p:txBody>
      </p:sp>
      <p:sp>
        <p:nvSpPr>
          <p:cNvPr id="4" name="Rectangle 3">
            <a:extLst>
              <a:ext uri="{FF2B5EF4-FFF2-40B4-BE49-F238E27FC236}">
                <a16:creationId xmlns:a16="http://schemas.microsoft.com/office/drawing/2014/main" id="{7B13E72D-836E-421B-838C-61F09A76AE80}"/>
              </a:ext>
            </a:extLst>
          </p:cNvPr>
          <p:cNvSpPr>
            <a:spLocks noGrp="1"/>
          </p:cNvSpPr>
          <p:nvPr/>
        </p:nvSpPr>
        <p:spPr>
          <a:xfrm>
            <a:off x="685800" y="714375"/>
            <a:ext cx="10820400" cy="1162050"/>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The Go1 learned to gallop, and we can measure it</a:t>
            </a:r>
          </a:p>
        </p:txBody>
      </p:sp>
      <p:sp>
        <p:nvSpPr>
          <p:cNvPr id="5" name="Rectangle 4">
            <a:extLst>
              <a:ext uri="{FF2B5EF4-FFF2-40B4-BE49-F238E27FC236}">
                <a16:creationId xmlns:a16="http://schemas.microsoft.com/office/drawing/2014/main" id="{AC7FCFC8-5FE4-4105-B29C-9410A432C3A5}"/>
              </a:ext>
            </a:extLst>
          </p:cNvPr>
          <p:cNvSpPr>
            <a:spLocks noGrp="1"/>
          </p:cNvSpPr>
          <p:nvPr/>
        </p:nvSpPr>
        <p:spPr>
          <a:xfrm>
            <a:off x="685800" y="6457950"/>
            <a:ext cx="10820400" cy="9525"/>
          </a:xfrm>
          <a:prstGeom prst="rect">
            <a:avLst/>
          </a:prstGeom>
          <a:solidFill>
            <a:srgbClr val="D5DAD6"/>
          </a:solidFill>
          <a:ln w="0">
            <a:noFill/>
            <a:prstDash val="solid"/>
          </a:ln>
        </p:spPr>
        <p:txBody>
          <a:bodyPr/>
          <a:lstStyle/>
          <a:p>
            <a:endParaRPr lang="en-IN"/>
          </a:p>
        </p:txBody>
      </p:sp>
      <p:sp>
        <p:nvSpPr>
          <p:cNvPr id="8" name="Rectangle: Rounded Corners 7">
            <a:extLst>
              <a:ext uri="{FF2B5EF4-FFF2-40B4-BE49-F238E27FC236}">
                <a16:creationId xmlns:a16="http://schemas.microsoft.com/office/drawing/2014/main" id="{543B62D2-1C79-4278-8D99-B4C98ADEF4DD}"/>
              </a:ext>
            </a:extLst>
          </p:cNvPr>
          <p:cNvSpPr>
            <a:spLocks noGrp="1"/>
          </p:cNvSpPr>
          <p:nvPr/>
        </p:nvSpPr>
        <p:spPr>
          <a:xfrm>
            <a:off x="6124575" y="1952625"/>
            <a:ext cx="5295900" cy="3429000"/>
          </a:xfrm>
          <a:prstGeom prst="roundRect">
            <a:avLst>
              <a:gd name="adj" fmla="val 5000"/>
            </a:avLst>
          </a:prstGeom>
          <a:solidFill>
            <a:srgbClr val="FFFFFF"/>
          </a:solidFill>
          <a:ln w="9525">
            <a:solidFill>
              <a:srgbClr val="D5DAD6"/>
            </a:solidFill>
            <a:prstDash val="solid"/>
          </a:ln>
        </p:spPr>
        <p:txBody>
          <a:bodyPr/>
          <a:lstStyle/>
          <a:p>
            <a:endParaRPr lang="en-IN"/>
          </a:p>
        </p:txBody>
      </p:sp>
      <p:pic>
        <p:nvPicPr>
          <p:cNvPr id="27" name="Picture 26"/>
          <p:cNvPicPr>
            <a:picLocks noChangeAspect="1"/>
          </p:cNvPicPr>
          <p:nvPr/>
        </p:nvPicPr>
        <p:blipFill>
          <a:blip r:embed="rId2"/>
          <a:srcRect l="6303" r="6303"/>
          <a:stretch>
            <a:fillRect/>
          </a:stretch>
        </p:blipFill>
        <p:spPr>
          <a:xfrm>
            <a:off x="6153150" y="1981200"/>
            <a:ext cx="5238750" cy="3371850"/>
          </a:xfrm>
          <a:prstGeom prst="roundRect">
            <a:avLst>
              <a:gd name="adj" fmla="val 5085"/>
            </a:avLst>
          </a:prstGeom>
        </p:spPr>
      </p:pic>
      <p:sp>
        <p:nvSpPr>
          <p:cNvPr id="10" name="Rectangle: Rounded Corners 9">
            <a:extLst>
              <a:ext uri="{FF2B5EF4-FFF2-40B4-BE49-F238E27FC236}">
                <a16:creationId xmlns:a16="http://schemas.microsoft.com/office/drawing/2014/main" id="{1909B7E7-7AEF-412C-8B18-CA28D199E162}"/>
              </a:ext>
            </a:extLst>
          </p:cNvPr>
          <p:cNvSpPr>
            <a:spLocks noGrp="1"/>
          </p:cNvSpPr>
          <p:nvPr/>
        </p:nvSpPr>
        <p:spPr>
          <a:xfrm>
            <a:off x="6515100" y="5048250"/>
            <a:ext cx="1676400" cy="323850"/>
          </a:xfrm>
          <a:prstGeom prst="roundRect">
            <a:avLst>
              <a:gd name="adj" fmla="val 50000"/>
            </a:avLst>
          </a:prstGeom>
          <a:solidFill>
            <a:srgbClr val="0B6B64"/>
          </a:solidFill>
          <a:ln w="0">
            <a:noFill/>
            <a:prstDash val="solid"/>
          </a:ln>
        </p:spPr>
        <p:txBody>
          <a:bodyPr/>
          <a:lstStyle/>
          <a:p>
            <a:endParaRPr lang="en-IN"/>
          </a:p>
        </p:txBody>
      </p:sp>
      <p:sp>
        <p:nvSpPr>
          <p:cNvPr id="11" name="Rectangle 10">
            <a:extLst>
              <a:ext uri="{FF2B5EF4-FFF2-40B4-BE49-F238E27FC236}">
                <a16:creationId xmlns:a16="http://schemas.microsoft.com/office/drawing/2014/main" id="{BBDFB4F4-7227-4952-A5B5-D8FCDE8A7C9F}"/>
              </a:ext>
            </a:extLst>
          </p:cNvPr>
          <p:cNvSpPr>
            <a:spLocks noGrp="1"/>
          </p:cNvSpPr>
          <p:nvPr/>
        </p:nvSpPr>
        <p:spPr>
          <a:xfrm>
            <a:off x="6515100" y="5057775"/>
            <a:ext cx="1676400" cy="304800"/>
          </a:xfrm>
          <a:prstGeom prst="rect">
            <a:avLst/>
          </a:prstGeom>
          <a:noFill/>
          <a:ln w="0">
            <a:noFill/>
            <a:prstDash val="solid"/>
          </a:ln>
        </p:spPr>
        <p:txBody>
          <a:bodyPr lIns="0" tIns="0" rIns="0" bIns="0" anchor="ctr">
            <a:normAutofit/>
          </a:bodyPr>
          <a:lstStyle/>
          <a:p>
            <a:pPr algn="ctr">
              <a:lnSpc>
                <a:spcPct val="98000"/>
              </a:lnSpc>
              <a:buNone/>
              <a:defRPr sz="1050" b="1" i="0">
                <a:solidFill>
                  <a:srgbClr val="FFFFFF"/>
                </a:solidFill>
                <a:latin typeface="Segoe UI Semibold"/>
                <a:ea typeface="Segoe UI Semibold"/>
                <a:cs typeface="Segoe UI Semibold"/>
              </a:defRPr>
            </a:pPr>
            <a:r>
              <a:rPr sz="1050" b="1" i="0">
                <a:solidFill>
                  <a:srgbClr val="FFFFFF"/>
                </a:solidFill>
                <a:latin typeface="Segoe UI Semibold"/>
                <a:ea typeface="Segoe UI Semibold"/>
                <a:cs typeface="Segoe UI Semibold"/>
              </a:rPr>
              <a:t>40M STEPS · 6,400 ROBOTS</a:t>
            </a:r>
          </a:p>
        </p:txBody>
      </p:sp>
      <p:sp>
        <p:nvSpPr>
          <p:cNvPr id="12" name="Rectangle 11">
            <a:extLst>
              <a:ext uri="{FF2B5EF4-FFF2-40B4-BE49-F238E27FC236}">
                <a16:creationId xmlns:a16="http://schemas.microsoft.com/office/drawing/2014/main" id="{BFBFD5CB-C0C7-446A-8EF4-24BA7BE31837}"/>
              </a:ext>
            </a:extLst>
          </p:cNvPr>
          <p:cNvSpPr>
            <a:spLocks noGrp="1"/>
          </p:cNvSpPr>
          <p:nvPr/>
        </p:nvSpPr>
        <p:spPr>
          <a:xfrm>
            <a:off x="781050" y="2076450"/>
            <a:ext cx="4191000" cy="742950"/>
          </a:xfrm>
          <a:prstGeom prst="rect">
            <a:avLst/>
          </a:prstGeom>
          <a:noFill/>
          <a:ln w="0">
            <a:noFill/>
            <a:prstDash val="solid"/>
          </a:ln>
        </p:spPr>
        <p:txBody>
          <a:bodyPr lIns="0" tIns="0" rIns="0" bIns="0" anchor="t">
            <a:normAutofit/>
          </a:bodyPr>
          <a:lstStyle/>
          <a:p>
            <a:pPr algn="l">
              <a:lnSpc>
                <a:spcPct val="98000"/>
              </a:lnSpc>
              <a:buNone/>
              <a:defRPr sz="4350" b="1" i="0">
                <a:solidFill>
                  <a:srgbClr val="0B6B64"/>
                </a:solidFill>
                <a:latin typeface="Segoe UI Semibold"/>
                <a:ea typeface="Segoe UI Semibold"/>
                <a:cs typeface="Segoe UI Semibold"/>
              </a:defRPr>
            </a:pPr>
            <a:r>
              <a:rPr sz="4350" b="1" i="0">
                <a:solidFill>
                  <a:srgbClr val="0B6B64"/>
                </a:solidFill>
                <a:latin typeface="Segoe UI Semibold"/>
                <a:ea typeface="Segoe UI Semibold"/>
                <a:cs typeface="Segoe UI Semibold"/>
              </a:rPr>
              <a:t>1.38 m/s</a:t>
            </a:r>
          </a:p>
        </p:txBody>
      </p:sp>
      <p:sp>
        <p:nvSpPr>
          <p:cNvPr id="13" name="Rectangle 12">
            <a:extLst>
              <a:ext uri="{FF2B5EF4-FFF2-40B4-BE49-F238E27FC236}">
                <a16:creationId xmlns:a16="http://schemas.microsoft.com/office/drawing/2014/main" id="{BE6F7194-AEAB-4B2F-8B31-1956587736F8}"/>
              </a:ext>
            </a:extLst>
          </p:cNvPr>
          <p:cNvSpPr>
            <a:spLocks noGrp="1"/>
          </p:cNvSpPr>
          <p:nvPr/>
        </p:nvSpPr>
        <p:spPr>
          <a:xfrm>
            <a:off x="781050" y="2762250"/>
            <a:ext cx="4191000" cy="304800"/>
          </a:xfrm>
          <a:prstGeom prst="rect">
            <a:avLst/>
          </a:prstGeom>
          <a:noFill/>
          <a:ln w="0">
            <a:noFill/>
            <a:prstDash val="solid"/>
          </a:ln>
        </p:spPr>
        <p:txBody>
          <a:bodyPr lIns="0" tIns="0" rIns="0" bIns="0" anchor="t">
            <a:normAutofit/>
          </a:bodyPr>
          <a:lstStyle/>
          <a:p>
            <a:pPr algn="l">
              <a:lnSpc>
                <a:spcPct val="98000"/>
              </a:lnSpc>
              <a:buNone/>
              <a:defRPr sz="1650" b="1" i="0">
                <a:solidFill>
                  <a:srgbClr val="18232F"/>
                </a:solidFill>
                <a:latin typeface="Segoe UI Semibold"/>
                <a:ea typeface="Segoe UI Semibold"/>
                <a:cs typeface="Segoe UI Semibold"/>
              </a:defRPr>
            </a:pPr>
            <a:r>
              <a:rPr sz="1650" b="1" i="0">
                <a:solidFill>
                  <a:srgbClr val="18232F"/>
                </a:solidFill>
                <a:latin typeface="Segoe UI Semibold"/>
                <a:ea typeface="Segoe UI Semibold"/>
                <a:cs typeface="Segoe UI Semibold"/>
              </a:rPr>
              <a:t>forward speed</a:t>
            </a:r>
          </a:p>
        </p:txBody>
      </p:sp>
      <p:sp>
        <p:nvSpPr>
          <p:cNvPr id="14" name="Rectangle 13">
            <a:extLst>
              <a:ext uri="{FF2B5EF4-FFF2-40B4-BE49-F238E27FC236}">
                <a16:creationId xmlns:a16="http://schemas.microsoft.com/office/drawing/2014/main" id="{F0B07E47-C081-4F9B-A3D0-A6589D251C08}"/>
              </a:ext>
            </a:extLst>
          </p:cNvPr>
          <p:cNvSpPr>
            <a:spLocks noGrp="1"/>
          </p:cNvSpPr>
          <p:nvPr/>
        </p:nvSpPr>
        <p:spPr>
          <a:xfrm>
            <a:off x="781050" y="3219450"/>
            <a:ext cx="4095750" cy="9525"/>
          </a:xfrm>
          <a:prstGeom prst="rect">
            <a:avLst/>
          </a:prstGeom>
          <a:solidFill>
            <a:srgbClr val="D5DAD6"/>
          </a:solidFill>
          <a:ln w="0">
            <a:noFill/>
            <a:prstDash val="solid"/>
          </a:ln>
        </p:spPr>
        <p:txBody>
          <a:bodyPr/>
          <a:lstStyle/>
          <a:p>
            <a:endParaRPr lang="en-IN"/>
          </a:p>
        </p:txBody>
      </p:sp>
      <p:sp>
        <p:nvSpPr>
          <p:cNvPr id="15" name="Rectangle 14">
            <a:extLst>
              <a:ext uri="{FF2B5EF4-FFF2-40B4-BE49-F238E27FC236}">
                <a16:creationId xmlns:a16="http://schemas.microsoft.com/office/drawing/2014/main" id="{986F4416-0760-4FE2-8A74-221F2A35B47D}"/>
              </a:ext>
            </a:extLst>
          </p:cNvPr>
          <p:cNvSpPr>
            <a:spLocks noGrp="1"/>
          </p:cNvSpPr>
          <p:nvPr/>
        </p:nvSpPr>
        <p:spPr>
          <a:xfrm>
            <a:off x="781050" y="3429000"/>
            <a:ext cx="4191000" cy="742950"/>
          </a:xfrm>
          <a:prstGeom prst="rect">
            <a:avLst/>
          </a:prstGeom>
          <a:noFill/>
          <a:ln w="0">
            <a:noFill/>
            <a:prstDash val="solid"/>
          </a:ln>
        </p:spPr>
        <p:txBody>
          <a:bodyPr lIns="0" tIns="0" rIns="0" bIns="0" anchor="t">
            <a:normAutofit/>
          </a:bodyPr>
          <a:lstStyle/>
          <a:p>
            <a:pPr algn="l">
              <a:lnSpc>
                <a:spcPct val="98000"/>
              </a:lnSpc>
              <a:buNone/>
              <a:defRPr sz="4350" b="1" i="0">
                <a:solidFill>
                  <a:srgbClr val="0B6B64"/>
                </a:solidFill>
                <a:latin typeface="Segoe UI Semibold"/>
                <a:ea typeface="Segoe UI Semibold"/>
                <a:cs typeface="Segoe UI Semibold"/>
              </a:defRPr>
            </a:pPr>
            <a:r>
              <a:rPr sz="4350" b="1" i="0">
                <a:solidFill>
                  <a:srgbClr val="0B6B64"/>
                </a:solidFill>
                <a:latin typeface="Segoe UI Semibold"/>
                <a:ea typeface="Segoe UI Semibold"/>
                <a:cs typeface="Segoe UI Semibold"/>
              </a:rPr>
              <a:t>43%</a:t>
            </a:r>
          </a:p>
        </p:txBody>
      </p:sp>
      <p:sp>
        <p:nvSpPr>
          <p:cNvPr id="16" name="Rectangle 15">
            <a:extLst>
              <a:ext uri="{FF2B5EF4-FFF2-40B4-BE49-F238E27FC236}">
                <a16:creationId xmlns:a16="http://schemas.microsoft.com/office/drawing/2014/main" id="{5445805F-72DD-43B8-95D6-A37270DF71E5}"/>
              </a:ext>
            </a:extLst>
          </p:cNvPr>
          <p:cNvSpPr>
            <a:spLocks noGrp="1"/>
          </p:cNvSpPr>
          <p:nvPr/>
        </p:nvSpPr>
        <p:spPr>
          <a:xfrm>
            <a:off x="781050" y="4114800"/>
            <a:ext cx="4191000" cy="304800"/>
          </a:xfrm>
          <a:prstGeom prst="rect">
            <a:avLst/>
          </a:prstGeom>
          <a:noFill/>
          <a:ln w="0">
            <a:noFill/>
            <a:prstDash val="solid"/>
          </a:ln>
        </p:spPr>
        <p:txBody>
          <a:bodyPr lIns="0" tIns="0" rIns="0" bIns="0" anchor="t">
            <a:normAutofit/>
          </a:bodyPr>
          <a:lstStyle/>
          <a:p>
            <a:pPr algn="l">
              <a:lnSpc>
                <a:spcPct val="98000"/>
              </a:lnSpc>
              <a:buNone/>
              <a:defRPr sz="1650" b="1" i="0">
                <a:solidFill>
                  <a:srgbClr val="18232F"/>
                </a:solidFill>
                <a:latin typeface="Segoe UI Semibold"/>
                <a:ea typeface="Segoe UI Semibold"/>
                <a:cs typeface="Segoe UI Semibold"/>
              </a:defRPr>
            </a:pPr>
            <a:r>
              <a:rPr sz="1650" b="1" i="0">
                <a:solidFill>
                  <a:srgbClr val="18232F"/>
                </a:solidFill>
                <a:latin typeface="Segoe UI Semibold"/>
                <a:ea typeface="Segoe UI Semibold"/>
                <a:cs typeface="Segoe UI Semibold"/>
              </a:rPr>
              <a:t>of the time in the air</a:t>
            </a:r>
          </a:p>
        </p:txBody>
      </p:sp>
      <p:sp>
        <p:nvSpPr>
          <p:cNvPr id="17" name="Rectangle 16">
            <a:extLst>
              <a:ext uri="{FF2B5EF4-FFF2-40B4-BE49-F238E27FC236}">
                <a16:creationId xmlns:a16="http://schemas.microsoft.com/office/drawing/2014/main" id="{79152C4F-0623-4695-AB4B-F53518110E30}"/>
              </a:ext>
            </a:extLst>
          </p:cNvPr>
          <p:cNvSpPr>
            <a:spLocks noGrp="1"/>
          </p:cNvSpPr>
          <p:nvPr/>
        </p:nvSpPr>
        <p:spPr>
          <a:xfrm>
            <a:off x="781050" y="4838700"/>
            <a:ext cx="4552950" cy="53340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Full 1,000-step attempts  ·  22.7 minutes of training</a:t>
            </a:r>
          </a:p>
        </p:txBody>
      </p:sp>
      <p:sp>
        <p:nvSpPr>
          <p:cNvPr id="18" name="Rectangle 17">
            <a:extLst>
              <a:ext uri="{FF2B5EF4-FFF2-40B4-BE49-F238E27FC236}">
                <a16:creationId xmlns:a16="http://schemas.microsoft.com/office/drawing/2014/main" id="{0FDEC4BF-89EC-4CFD-8FD2-9E7695197C67}"/>
              </a:ext>
            </a:extLst>
          </p:cNvPr>
          <p:cNvSpPr>
            <a:spLocks noGrp="1"/>
          </p:cNvSpPr>
          <p:nvPr/>
        </p:nvSpPr>
        <p:spPr>
          <a:xfrm>
            <a:off x="781050" y="5562600"/>
            <a:ext cx="10382250" cy="533400"/>
          </a:xfrm>
          <a:prstGeom prst="rect">
            <a:avLst/>
          </a:prstGeom>
          <a:noFill/>
          <a:ln w="0">
            <a:noFill/>
            <a:prstDash val="solid"/>
          </a:ln>
        </p:spPr>
        <p:txBody>
          <a:bodyPr lIns="0" tIns="0" rIns="0" bIns="0" anchor="t">
            <a:normAutofit/>
          </a:bodyPr>
          <a:lstStyle/>
          <a:p>
            <a:pPr algn="l">
              <a:lnSpc>
                <a:spcPct val="100000"/>
              </a:lnSpc>
              <a:buNone/>
              <a:defRPr sz="1500" b="0" i="0">
                <a:solidFill>
                  <a:srgbClr val="5B6670"/>
                </a:solidFill>
                <a:latin typeface="Segoe UI"/>
                <a:ea typeface="Segoe UI"/>
                <a:cs typeface="Segoe UI"/>
              </a:defRPr>
            </a:pPr>
            <a:r>
              <a:rPr sz="1500" b="0" i="0">
                <a:solidFill>
                  <a:srgbClr val="5B6670"/>
                </a:solidFill>
                <a:latin typeface="Segoe UI"/>
                <a:ea typeface="Segoe UI"/>
                <a:cs typeface="Segoe UI"/>
              </a:rPr>
              <a:t>The robot finished every attempt while moving forward and leaving the ground again and again. That is what galloping means here.</a:t>
            </a:r>
          </a:p>
        </p:txBody>
      </p:sp>
    </p:spTree>
    <p:extLst>
      <p:ext uri="{BB962C8B-B14F-4D97-AF65-F5344CB8AC3E}">
        <p14:creationId xmlns:p14="http://schemas.microsoft.com/office/powerpoint/2010/main" val="18668201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a:extLst>
            <a:ext uri="{FF2B5EF4-FFF2-40B4-BE49-F238E27FC236}">
              <a16:creationId xmlns:a16="http://schemas.microsoft.com/office/drawing/2014/main" id="{6767C4A9-D3A7-39B7-F42A-FEBE8A7B7E1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7634A62-20F5-1DE6-EC94-831316AC1BC2}"/>
              </a:ext>
            </a:extLst>
          </p:cNvPr>
          <p:cNvSpPr>
            <a:spLocks noGrp="1"/>
          </p:cNvSpPr>
          <p:nvPr/>
        </p:nvSpPr>
        <p:spPr>
          <a:xfrm>
            <a:off x="11106150" y="266700"/>
            <a:ext cx="400050" cy="228600"/>
          </a:xfrm>
          <a:prstGeom prst="rect">
            <a:avLst/>
          </a:prstGeom>
          <a:noFill/>
          <a:ln w="0">
            <a:noFill/>
            <a:prstDash val="solid"/>
          </a:ln>
        </p:spPr>
        <p:txBody>
          <a:bodyPr lIns="0" tIns="0" rIns="0" bIns="0" anchor="ctr">
            <a:normAutofit/>
          </a:bodyPr>
          <a:lstStyle/>
          <a:p>
            <a:pPr marL="0" marR="0" lvl="0" indent="0" algn="r" defTabSz="914400" rtl="0" eaLnBrk="1" fontAlgn="auto" latinLnBrk="0" hangingPunct="1">
              <a:lnSpc>
                <a:spcPct val="98000"/>
              </a:lnSpc>
              <a:spcBef>
                <a:spcPts val="0"/>
              </a:spcBef>
              <a:spcAft>
                <a:spcPts val="0"/>
              </a:spcAft>
              <a:buClrTx/>
              <a:buSzTx/>
              <a:buFontTx/>
              <a:buNone/>
              <a:tabLst/>
              <a:defRPr sz="1050" b="0" i="0">
                <a:solidFill>
                  <a:srgbClr val="5B6670"/>
                </a:solidFill>
                <a:latin typeface="Segoe UI Semibold"/>
                <a:ea typeface="Segoe UI Semibold"/>
                <a:cs typeface="Segoe UI Semibold"/>
              </a:defRPr>
            </a:pPr>
            <a:r>
              <a:rPr kumimoji="0" sz="1050" b="0" i="0" u="none" strike="noStrike" kern="1200" cap="none" spc="0" normalizeH="0" baseline="0" noProof="0">
                <a:ln>
                  <a:noFill/>
                </a:ln>
                <a:solidFill>
                  <a:srgbClr val="5B6670"/>
                </a:solidFill>
                <a:effectLst/>
                <a:uLnTx/>
                <a:uFillTx/>
                <a:latin typeface="Segoe UI Semibold"/>
                <a:ea typeface="Segoe UI Semibold"/>
                <a:cs typeface="Segoe UI Semibold"/>
              </a:rPr>
              <a:t>32</a:t>
            </a:r>
          </a:p>
        </p:txBody>
      </p:sp>
      <p:sp>
        <p:nvSpPr>
          <p:cNvPr id="4" name="Rectangle 3">
            <a:extLst>
              <a:ext uri="{FF2B5EF4-FFF2-40B4-BE49-F238E27FC236}">
                <a16:creationId xmlns:a16="http://schemas.microsoft.com/office/drawing/2014/main" id="{ADD887C0-BA1A-EE42-53A5-730E42A816F4}"/>
              </a:ext>
            </a:extLst>
          </p:cNvPr>
          <p:cNvSpPr>
            <a:spLocks noGrp="1"/>
          </p:cNvSpPr>
          <p:nvPr/>
        </p:nvSpPr>
        <p:spPr>
          <a:xfrm>
            <a:off x="685800" y="714375"/>
            <a:ext cx="10820400" cy="800100"/>
          </a:xfrm>
          <a:prstGeom prst="rect">
            <a:avLst/>
          </a:prstGeom>
          <a:noFill/>
          <a:ln w="0">
            <a:noFill/>
            <a:prstDash val="solid"/>
          </a:ln>
        </p:spPr>
        <p:txBody>
          <a:bodyPr lIns="0" tIns="0" rIns="0" bIns="0" anchor="t">
            <a:normAutofit fontScale="98957"/>
          </a:bodyPr>
          <a:lstStyle/>
          <a:p>
            <a:pPr marL="0" marR="0" lvl="0" indent="0" algn="l" defTabSz="914400" rtl="0" eaLnBrk="1" fontAlgn="auto" latinLnBrk="0" hangingPunct="1">
              <a:lnSpc>
                <a:spcPct val="90000"/>
              </a:lnSpc>
              <a:spcBef>
                <a:spcPts val="0"/>
              </a:spcBef>
              <a:spcAft>
                <a:spcPts val="0"/>
              </a:spcAft>
              <a:buClrTx/>
              <a:buSzTx/>
              <a:buFontTx/>
              <a:buNone/>
              <a:tabLst/>
              <a:defRPr sz="3600" b="1" i="0">
                <a:solidFill>
                  <a:srgbClr val="18232F"/>
                </a:solidFill>
                <a:latin typeface="Georgia"/>
                <a:ea typeface="Georgia"/>
                <a:cs typeface="Georgia"/>
              </a:defRPr>
            </a:pPr>
            <a:r>
              <a:rPr kumimoji="0" sz="3600" b="1" i="0" u="none" strike="noStrike" kern="1200" cap="none" spc="0" normalizeH="0" baseline="0" noProof="0" dirty="0">
                <a:ln>
                  <a:noFill/>
                </a:ln>
                <a:solidFill>
                  <a:srgbClr val="18232F"/>
                </a:solidFill>
                <a:effectLst/>
                <a:uLnTx/>
                <a:uFillTx/>
                <a:latin typeface="Georgia"/>
                <a:ea typeface="Georgia"/>
                <a:cs typeface="Georgia"/>
              </a:rPr>
              <a:t>The Go1 also learned to walk</a:t>
            </a:r>
            <a:endParaRPr kumimoji="0" sz="3600" b="1" i="0" u="none" strike="noStrike" kern="1200" cap="none" spc="0" normalizeH="0" baseline="0" noProof="0" dirty="0">
              <a:ln>
                <a:noFill/>
              </a:ln>
              <a:solidFill>
                <a:srgbClr val="18232F"/>
              </a:solidFill>
              <a:effectLst/>
              <a:uLnTx/>
              <a:uFillTx/>
              <a:latin typeface="Georgia"/>
              <a:ea typeface="Georgia"/>
              <a:cs typeface="Georgia"/>
            </a:endParaRPr>
          </a:p>
        </p:txBody>
      </p:sp>
      <p:sp>
        <p:nvSpPr>
          <p:cNvPr id="5" name="Rectangle 4">
            <a:extLst>
              <a:ext uri="{FF2B5EF4-FFF2-40B4-BE49-F238E27FC236}">
                <a16:creationId xmlns:a16="http://schemas.microsoft.com/office/drawing/2014/main" id="{F0D77F50-462F-A071-9796-C57202467391}"/>
              </a:ext>
            </a:extLst>
          </p:cNvPr>
          <p:cNvSpPr>
            <a:spLocks noGrp="1"/>
          </p:cNvSpPr>
          <p:nvPr/>
        </p:nvSpPr>
        <p:spPr>
          <a:xfrm>
            <a:off x="685800" y="6457950"/>
            <a:ext cx="10820400" cy="9525"/>
          </a:xfrm>
          <a:prstGeom prst="rect">
            <a:avLst/>
          </a:prstGeom>
          <a:solidFill>
            <a:srgbClr val="D5DAD6"/>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8" name="Rectangle: Rounded Corners 7">
            <a:extLst>
              <a:ext uri="{FF2B5EF4-FFF2-40B4-BE49-F238E27FC236}">
                <a16:creationId xmlns:a16="http://schemas.microsoft.com/office/drawing/2014/main" id="{77FBF920-6A75-FA10-22B9-868F4EC6B202}"/>
              </a:ext>
            </a:extLst>
          </p:cNvPr>
          <p:cNvSpPr>
            <a:spLocks noGrp="1"/>
          </p:cNvSpPr>
          <p:nvPr/>
        </p:nvSpPr>
        <p:spPr>
          <a:xfrm>
            <a:off x="6124575" y="1952625"/>
            <a:ext cx="5295900" cy="3429000"/>
          </a:xfrm>
          <a:prstGeom prst="roundRect">
            <a:avLst>
              <a:gd name="adj" fmla="val 5000"/>
            </a:avLst>
          </a:prstGeom>
          <a:solidFill>
            <a:srgbClr val="FFFFFF"/>
          </a:solidFill>
          <a:ln w="9525">
            <a:solidFill>
              <a:srgbClr val="D5DA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Calibri"/>
              <a:ea typeface="Calibri"/>
              <a:cs typeface="Calibri"/>
            </a:endParaRPr>
          </a:p>
        </p:txBody>
      </p:sp>
      <p:pic>
        <p:nvPicPr>
          <p:cNvPr id="27" name="Picture 26">
            <a:extLst>
              <a:ext uri="{FF2B5EF4-FFF2-40B4-BE49-F238E27FC236}">
                <a16:creationId xmlns:a16="http://schemas.microsoft.com/office/drawing/2014/main" id="{21C1A6C8-C4A5-40FA-0397-08E21A1439CB}"/>
              </a:ext>
            </a:extLst>
          </p:cNvPr>
          <p:cNvPicPr>
            <a:picLocks noChangeAspect="1"/>
          </p:cNvPicPr>
          <p:nvPr/>
        </p:nvPicPr>
        <p:blipFill>
          <a:blip r:embed="rId2"/>
          <a:srcRect l="6303" r="6303"/>
          <a:stretch>
            <a:fillRect/>
          </a:stretch>
        </p:blipFill>
        <p:spPr>
          <a:xfrm>
            <a:off x="6153150" y="1981200"/>
            <a:ext cx="5238750" cy="3371850"/>
          </a:xfrm>
          <a:prstGeom prst="roundRect">
            <a:avLst>
              <a:gd name="adj" fmla="val 5085"/>
            </a:avLst>
          </a:prstGeom>
        </p:spPr>
      </p:pic>
      <p:sp>
        <p:nvSpPr>
          <p:cNvPr id="10" name="Rectangle: Rounded Corners 9">
            <a:extLst>
              <a:ext uri="{FF2B5EF4-FFF2-40B4-BE49-F238E27FC236}">
                <a16:creationId xmlns:a16="http://schemas.microsoft.com/office/drawing/2014/main" id="{1F63E966-A836-C13D-B871-CCAFB81780D6}"/>
              </a:ext>
            </a:extLst>
          </p:cNvPr>
          <p:cNvSpPr>
            <a:spLocks noGrp="1"/>
          </p:cNvSpPr>
          <p:nvPr/>
        </p:nvSpPr>
        <p:spPr>
          <a:xfrm>
            <a:off x="6515100" y="5048250"/>
            <a:ext cx="1676400" cy="323850"/>
          </a:xfrm>
          <a:prstGeom prst="roundRect">
            <a:avLst>
              <a:gd name="adj" fmla="val 50000"/>
            </a:avLst>
          </a:prstGeom>
          <a:solidFill>
            <a:srgbClr val="0B6B64"/>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11" name="Rectangle 10">
            <a:extLst>
              <a:ext uri="{FF2B5EF4-FFF2-40B4-BE49-F238E27FC236}">
                <a16:creationId xmlns:a16="http://schemas.microsoft.com/office/drawing/2014/main" id="{50CA2D3C-8498-706C-C58B-F059BAA6A37C}"/>
              </a:ext>
            </a:extLst>
          </p:cNvPr>
          <p:cNvSpPr>
            <a:spLocks noGrp="1"/>
          </p:cNvSpPr>
          <p:nvPr/>
        </p:nvSpPr>
        <p:spPr>
          <a:xfrm>
            <a:off x="6515100" y="5057775"/>
            <a:ext cx="1676400" cy="304800"/>
          </a:xfrm>
          <a:prstGeom prst="rect">
            <a:avLst/>
          </a:prstGeom>
          <a:noFill/>
          <a:ln w="0">
            <a:noFill/>
            <a:prstDash val="solid"/>
          </a:ln>
        </p:spPr>
        <p:txBody>
          <a:bodyPr lIns="0" tIns="0" rIns="0" bIns="0" anchor="ctr">
            <a:normAutofit/>
          </a:bodyPr>
          <a:lstStyle/>
          <a:p>
            <a:pPr marL="0" marR="0" lvl="0" indent="0" algn="ctr" defTabSz="914400" rtl="0" eaLnBrk="1" fontAlgn="auto" latinLnBrk="0" hangingPunct="1">
              <a:lnSpc>
                <a:spcPct val="98000"/>
              </a:lnSpc>
              <a:spcBef>
                <a:spcPts val="0"/>
              </a:spcBef>
              <a:spcAft>
                <a:spcPts val="0"/>
              </a:spcAft>
              <a:buClrTx/>
              <a:buSzTx/>
              <a:buFontTx/>
              <a:buNone/>
              <a:tabLst/>
              <a:defRPr sz="1050" b="1" i="0">
                <a:solidFill>
                  <a:srgbClr val="FFFFFF"/>
                </a:solidFill>
                <a:latin typeface="Segoe UI Semibold"/>
                <a:ea typeface="Segoe UI Semibold"/>
                <a:cs typeface="Segoe UI Semibold"/>
              </a:defRPr>
            </a:pPr>
            <a:r>
              <a:rPr kumimoji="0" sz="1050" b="1" i="0" u="none" strike="noStrike" kern="1200" cap="none" spc="0" normalizeH="0" baseline="0" noProof="0">
                <a:ln>
                  <a:noFill/>
                </a:ln>
                <a:solidFill>
                  <a:srgbClr val="FFFFFF"/>
                </a:solidFill>
                <a:effectLst/>
                <a:uLnTx/>
                <a:uFillTx/>
                <a:latin typeface="Segoe UI Semibold"/>
                <a:ea typeface="Segoe UI Semibold"/>
                <a:cs typeface="Segoe UI Semibold"/>
              </a:rPr>
              <a:t>40M STEPS · 4,096 ROBOTS</a:t>
            </a:r>
          </a:p>
        </p:txBody>
      </p:sp>
      <p:sp>
        <p:nvSpPr>
          <p:cNvPr id="12" name="Rectangle 11">
            <a:extLst>
              <a:ext uri="{FF2B5EF4-FFF2-40B4-BE49-F238E27FC236}">
                <a16:creationId xmlns:a16="http://schemas.microsoft.com/office/drawing/2014/main" id="{C2BD9696-188B-2D0E-A59D-E074ACDAC0F9}"/>
              </a:ext>
            </a:extLst>
          </p:cNvPr>
          <p:cNvSpPr>
            <a:spLocks noGrp="1"/>
          </p:cNvSpPr>
          <p:nvPr/>
        </p:nvSpPr>
        <p:spPr>
          <a:xfrm>
            <a:off x="781050" y="2076450"/>
            <a:ext cx="4191000" cy="742950"/>
          </a:xfrm>
          <a:prstGeom prst="rect">
            <a:avLst/>
          </a:prstGeom>
          <a:noFill/>
          <a:ln w="0">
            <a:noFill/>
            <a:prstDash val="solid"/>
          </a:ln>
        </p:spPr>
        <p:txBody>
          <a:bodyPr lIns="0" tIns="0" rIns="0" bIns="0" anchor="t">
            <a:normAutofit/>
          </a:bodyPr>
          <a:lstStyle/>
          <a:p>
            <a:pPr marL="0" marR="0" lvl="0" indent="0" algn="l" defTabSz="914400" rtl="0" eaLnBrk="1" fontAlgn="auto" latinLnBrk="0" hangingPunct="1">
              <a:lnSpc>
                <a:spcPct val="98000"/>
              </a:lnSpc>
              <a:spcBef>
                <a:spcPts val="0"/>
              </a:spcBef>
              <a:spcAft>
                <a:spcPts val="0"/>
              </a:spcAft>
              <a:buClrTx/>
              <a:buSzTx/>
              <a:buFontTx/>
              <a:buNone/>
              <a:tabLst/>
              <a:defRPr sz="4350" b="1" i="0">
                <a:solidFill>
                  <a:srgbClr val="0B6B64"/>
                </a:solidFill>
                <a:latin typeface="Segoe UI Semibold"/>
                <a:ea typeface="Segoe UI Semibold"/>
                <a:cs typeface="Segoe UI Semibold"/>
              </a:defRPr>
            </a:pPr>
            <a:r>
              <a:rPr kumimoji="0" sz="4350" b="1" i="0" u="none" strike="noStrike" kern="1200" cap="none" spc="0" normalizeH="0" baseline="0" noProof="0">
                <a:ln>
                  <a:noFill/>
                </a:ln>
                <a:solidFill>
                  <a:srgbClr val="0B6B64"/>
                </a:solidFill>
                <a:effectLst/>
                <a:uLnTx/>
                <a:uFillTx/>
                <a:latin typeface="Segoe UI Semibold"/>
                <a:ea typeface="Segoe UI Semibold"/>
                <a:cs typeface="Segoe UI Semibold"/>
              </a:rPr>
              <a:t>0.98 m/s</a:t>
            </a:r>
          </a:p>
        </p:txBody>
      </p:sp>
      <p:sp>
        <p:nvSpPr>
          <p:cNvPr id="13" name="Rectangle 12">
            <a:extLst>
              <a:ext uri="{FF2B5EF4-FFF2-40B4-BE49-F238E27FC236}">
                <a16:creationId xmlns:a16="http://schemas.microsoft.com/office/drawing/2014/main" id="{25FDAEBA-5D8B-F6D8-D817-959750F1E228}"/>
              </a:ext>
            </a:extLst>
          </p:cNvPr>
          <p:cNvSpPr>
            <a:spLocks noGrp="1"/>
          </p:cNvSpPr>
          <p:nvPr/>
        </p:nvSpPr>
        <p:spPr>
          <a:xfrm>
            <a:off x="781050" y="2762250"/>
            <a:ext cx="4191000" cy="304800"/>
          </a:xfrm>
          <a:prstGeom prst="rect">
            <a:avLst/>
          </a:prstGeom>
          <a:noFill/>
          <a:ln w="0">
            <a:noFill/>
            <a:prstDash val="solid"/>
          </a:ln>
        </p:spPr>
        <p:txBody>
          <a:bodyPr lIns="0" tIns="0" rIns="0" bIns="0" anchor="t">
            <a:normAutofit/>
          </a:bodyPr>
          <a:lstStyle/>
          <a:p>
            <a:pPr marL="0" marR="0" lvl="0" indent="0" algn="l" defTabSz="914400" rtl="0" eaLnBrk="1" fontAlgn="auto" latinLnBrk="0" hangingPunct="1">
              <a:lnSpc>
                <a:spcPct val="98000"/>
              </a:lnSpc>
              <a:spcBef>
                <a:spcPts val="0"/>
              </a:spcBef>
              <a:spcAft>
                <a:spcPts val="0"/>
              </a:spcAft>
              <a:buClrTx/>
              <a:buSzTx/>
              <a:buFontTx/>
              <a:buNone/>
              <a:tabLst/>
              <a:defRPr sz="1650" b="1" i="0">
                <a:solidFill>
                  <a:srgbClr val="18232F"/>
                </a:solidFill>
                <a:latin typeface="Segoe UI Semibold"/>
                <a:ea typeface="Segoe UI Semibold"/>
                <a:cs typeface="Segoe UI Semibold"/>
              </a:defRPr>
            </a:pPr>
            <a:r>
              <a:rPr kumimoji="0" sz="1650" b="1" i="0" u="none" strike="noStrike" kern="1200" cap="none" spc="0" normalizeH="0" baseline="0" noProof="0">
                <a:ln>
                  <a:noFill/>
                </a:ln>
                <a:solidFill>
                  <a:srgbClr val="18232F"/>
                </a:solidFill>
                <a:effectLst/>
                <a:uLnTx/>
                <a:uFillTx/>
                <a:latin typeface="Segoe UI Semibold"/>
                <a:ea typeface="Segoe UI Semibold"/>
                <a:cs typeface="Segoe UI Semibold"/>
              </a:rPr>
              <a:t>forward speed</a:t>
            </a:r>
          </a:p>
        </p:txBody>
      </p:sp>
      <p:sp>
        <p:nvSpPr>
          <p:cNvPr id="14" name="Rectangle 13">
            <a:extLst>
              <a:ext uri="{FF2B5EF4-FFF2-40B4-BE49-F238E27FC236}">
                <a16:creationId xmlns:a16="http://schemas.microsoft.com/office/drawing/2014/main" id="{DB7B61A9-F88D-A9A2-7342-AF7A286304D1}"/>
              </a:ext>
            </a:extLst>
          </p:cNvPr>
          <p:cNvSpPr>
            <a:spLocks noGrp="1"/>
          </p:cNvSpPr>
          <p:nvPr/>
        </p:nvSpPr>
        <p:spPr>
          <a:xfrm>
            <a:off x="781050" y="3219450"/>
            <a:ext cx="4095750" cy="9525"/>
          </a:xfrm>
          <a:prstGeom prst="rect">
            <a:avLst/>
          </a:prstGeom>
          <a:solidFill>
            <a:srgbClr val="D5DAD6"/>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15" name="Rectangle 14">
            <a:extLst>
              <a:ext uri="{FF2B5EF4-FFF2-40B4-BE49-F238E27FC236}">
                <a16:creationId xmlns:a16="http://schemas.microsoft.com/office/drawing/2014/main" id="{5E1C61D0-2891-5CCD-7BB8-67AE8C05C930}"/>
              </a:ext>
            </a:extLst>
          </p:cNvPr>
          <p:cNvSpPr>
            <a:spLocks noGrp="1"/>
          </p:cNvSpPr>
          <p:nvPr/>
        </p:nvSpPr>
        <p:spPr>
          <a:xfrm>
            <a:off x="781050" y="3429000"/>
            <a:ext cx="4191000" cy="742950"/>
          </a:xfrm>
          <a:prstGeom prst="rect">
            <a:avLst/>
          </a:prstGeom>
          <a:noFill/>
          <a:ln w="0">
            <a:noFill/>
            <a:prstDash val="solid"/>
          </a:ln>
        </p:spPr>
        <p:txBody>
          <a:bodyPr lIns="0" tIns="0" rIns="0" bIns="0" anchor="t">
            <a:normAutofit/>
          </a:bodyPr>
          <a:lstStyle/>
          <a:p>
            <a:pPr marL="0" marR="0" lvl="0" indent="0" algn="l" defTabSz="914400" rtl="0" eaLnBrk="1" fontAlgn="auto" latinLnBrk="0" hangingPunct="1">
              <a:lnSpc>
                <a:spcPct val="98000"/>
              </a:lnSpc>
              <a:spcBef>
                <a:spcPts val="0"/>
              </a:spcBef>
              <a:spcAft>
                <a:spcPts val="0"/>
              </a:spcAft>
              <a:buClrTx/>
              <a:buSzTx/>
              <a:buFontTx/>
              <a:buNone/>
              <a:tabLst/>
              <a:defRPr sz="4350" b="1" i="0">
                <a:solidFill>
                  <a:srgbClr val="0B6B64"/>
                </a:solidFill>
                <a:latin typeface="Segoe UI Semibold"/>
                <a:ea typeface="Segoe UI Semibold"/>
                <a:cs typeface="Segoe UI Semibold"/>
              </a:defRPr>
            </a:pPr>
            <a:r>
              <a:rPr kumimoji="0" sz="4350" b="1" i="0" u="none" strike="noStrike" kern="1200" cap="none" spc="0" normalizeH="0" baseline="0" noProof="0">
                <a:ln>
                  <a:noFill/>
                </a:ln>
                <a:solidFill>
                  <a:srgbClr val="0B6B64"/>
                </a:solidFill>
                <a:effectLst/>
                <a:uLnTx/>
                <a:uFillTx/>
                <a:latin typeface="Segoe UI Semibold"/>
                <a:ea typeface="Segoe UI Semibold"/>
                <a:cs typeface="Segoe UI Semibold"/>
              </a:rPr>
              <a:t>963</a:t>
            </a:r>
          </a:p>
        </p:txBody>
      </p:sp>
      <p:sp>
        <p:nvSpPr>
          <p:cNvPr id="16" name="Rectangle 15">
            <a:extLst>
              <a:ext uri="{FF2B5EF4-FFF2-40B4-BE49-F238E27FC236}">
                <a16:creationId xmlns:a16="http://schemas.microsoft.com/office/drawing/2014/main" id="{AF44858D-0486-BCD7-34C0-9F26DA7A1911}"/>
              </a:ext>
            </a:extLst>
          </p:cNvPr>
          <p:cNvSpPr>
            <a:spLocks noGrp="1"/>
          </p:cNvSpPr>
          <p:nvPr/>
        </p:nvSpPr>
        <p:spPr>
          <a:xfrm>
            <a:off x="781050" y="4114800"/>
            <a:ext cx="4191000" cy="304800"/>
          </a:xfrm>
          <a:prstGeom prst="rect">
            <a:avLst/>
          </a:prstGeom>
          <a:noFill/>
          <a:ln w="0">
            <a:noFill/>
            <a:prstDash val="solid"/>
          </a:ln>
        </p:spPr>
        <p:txBody>
          <a:bodyPr lIns="0" tIns="0" rIns="0" bIns="0" anchor="t">
            <a:normAutofit/>
          </a:bodyPr>
          <a:lstStyle/>
          <a:p>
            <a:pPr marL="0" marR="0" lvl="0" indent="0" algn="l" defTabSz="914400" rtl="0" eaLnBrk="1" fontAlgn="auto" latinLnBrk="0" hangingPunct="1">
              <a:lnSpc>
                <a:spcPct val="98000"/>
              </a:lnSpc>
              <a:spcBef>
                <a:spcPts val="0"/>
              </a:spcBef>
              <a:spcAft>
                <a:spcPts val="0"/>
              </a:spcAft>
              <a:buClrTx/>
              <a:buSzTx/>
              <a:buFontTx/>
              <a:buNone/>
              <a:tabLst/>
              <a:defRPr sz="1650" b="1" i="0">
                <a:solidFill>
                  <a:srgbClr val="18232F"/>
                </a:solidFill>
                <a:latin typeface="Segoe UI Semibold"/>
                <a:ea typeface="Segoe UI Semibold"/>
                <a:cs typeface="Segoe UI Semibold"/>
              </a:defRPr>
            </a:pPr>
            <a:r>
              <a:rPr kumimoji="0" sz="1650" b="1" i="0" u="none" strike="noStrike" kern="1200" cap="none" spc="0" normalizeH="0" baseline="0" noProof="0">
                <a:ln>
                  <a:noFill/>
                </a:ln>
                <a:solidFill>
                  <a:srgbClr val="18232F"/>
                </a:solidFill>
                <a:effectLst/>
                <a:uLnTx/>
                <a:uFillTx/>
                <a:latin typeface="Segoe UI Semibold"/>
                <a:ea typeface="Segoe UI Semibold"/>
                <a:cs typeface="Segoe UI Semibold"/>
              </a:rPr>
              <a:t>steps per attempt</a:t>
            </a:r>
          </a:p>
        </p:txBody>
      </p:sp>
      <p:sp>
        <p:nvSpPr>
          <p:cNvPr id="17" name="Rectangle 16">
            <a:extLst>
              <a:ext uri="{FF2B5EF4-FFF2-40B4-BE49-F238E27FC236}">
                <a16:creationId xmlns:a16="http://schemas.microsoft.com/office/drawing/2014/main" id="{EBD9E717-7607-750E-56F8-A02AD98FB0C3}"/>
              </a:ext>
            </a:extLst>
          </p:cNvPr>
          <p:cNvSpPr>
            <a:spLocks noGrp="1"/>
          </p:cNvSpPr>
          <p:nvPr/>
        </p:nvSpPr>
        <p:spPr>
          <a:xfrm>
            <a:off x="781050" y="4838700"/>
            <a:ext cx="4552950" cy="533400"/>
          </a:xfrm>
          <a:prstGeom prst="rect">
            <a:avLst/>
          </a:prstGeom>
          <a:noFill/>
          <a:ln w="0">
            <a:noFill/>
            <a:prstDash val="solid"/>
          </a:ln>
        </p:spPr>
        <p:txBody>
          <a:bodyPr lIns="0" tIns="0" rIns="0" bIns="0" anchor="t">
            <a:normAutofit/>
          </a:bodyPr>
          <a:lstStyle/>
          <a:p>
            <a:pPr marL="0" marR="0" lvl="0" indent="0" algn="l" defTabSz="914400" rtl="0" eaLnBrk="1" fontAlgn="auto" latinLnBrk="0" hangingPunct="1">
              <a:lnSpc>
                <a:spcPct val="98000"/>
              </a:lnSpc>
              <a:spcBef>
                <a:spcPts val="0"/>
              </a:spcBef>
              <a:spcAft>
                <a:spcPts val="0"/>
              </a:spcAft>
              <a:buClrTx/>
              <a:buSzTx/>
              <a:buFontTx/>
              <a:buNone/>
              <a:tabLst/>
              <a:defRPr sz="1500" b="1" i="0">
                <a:solidFill>
                  <a:srgbClr val="18232F"/>
                </a:solidFill>
                <a:latin typeface="Segoe UI Semibold"/>
                <a:ea typeface="Segoe UI Semibold"/>
                <a:cs typeface="Segoe UI Semibold"/>
              </a:defRPr>
            </a:pPr>
            <a:r>
              <a:rPr kumimoji="0" sz="1500" b="1" i="0" u="none" strike="noStrike" kern="1200" cap="none" spc="0" normalizeH="0" baseline="0" noProof="0" dirty="0">
                <a:ln>
                  <a:noFill/>
                </a:ln>
                <a:solidFill>
                  <a:srgbClr val="18232F"/>
                </a:solidFill>
                <a:effectLst/>
                <a:uLnTx/>
                <a:uFillTx/>
                <a:latin typeface="Segoe UI Semibold"/>
                <a:ea typeface="Segoe UI Semibold"/>
                <a:cs typeface="Segoe UI Semibold"/>
              </a:rPr>
              <a:t>Best version at 35.2 million steps  ·  30.8 minutes of training</a:t>
            </a:r>
          </a:p>
        </p:txBody>
      </p:sp>
      <p:sp>
        <p:nvSpPr>
          <p:cNvPr id="18" name="Rectangle 17">
            <a:extLst>
              <a:ext uri="{FF2B5EF4-FFF2-40B4-BE49-F238E27FC236}">
                <a16:creationId xmlns:a16="http://schemas.microsoft.com/office/drawing/2014/main" id="{160117EB-C0D8-1203-0C4C-9E0FBA16D54F}"/>
              </a:ext>
            </a:extLst>
          </p:cNvPr>
          <p:cNvSpPr>
            <a:spLocks noGrp="1"/>
          </p:cNvSpPr>
          <p:nvPr/>
        </p:nvSpPr>
        <p:spPr>
          <a:xfrm>
            <a:off x="781050" y="5562600"/>
            <a:ext cx="10382250" cy="533400"/>
          </a:xfrm>
          <a:prstGeom prst="rect">
            <a:avLst/>
          </a:prstGeom>
          <a:noFill/>
          <a:ln w="0">
            <a:noFill/>
            <a:prstDash val="solid"/>
          </a:ln>
        </p:spPr>
        <p:txBody>
          <a:bodyPr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sz="1500" b="0" i="0">
                <a:solidFill>
                  <a:srgbClr val="5B6670"/>
                </a:solidFill>
                <a:latin typeface="Segoe UI"/>
                <a:ea typeface="Segoe UI"/>
                <a:cs typeface="Segoe UI"/>
              </a:defRPr>
            </a:pPr>
            <a:r>
              <a:rPr kumimoji="0" sz="1500" b="0" i="0" u="none" strike="noStrike" kern="1200" cap="none" spc="0" normalizeH="0" baseline="0" noProof="0">
                <a:ln>
                  <a:noFill/>
                </a:ln>
                <a:solidFill>
                  <a:srgbClr val="5B6670"/>
                </a:solidFill>
                <a:effectLst/>
                <a:uLnTx/>
                <a:uFillTx/>
                <a:latin typeface="Segoe UI"/>
                <a:ea typeface="Segoe UI"/>
                <a:cs typeface="Segoe UI"/>
              </a:rPr>
              <a:t>This reward limits the speed to 1.0 m/s on purpose, and the robot held 0.98 m/s while staying upright almost the whole way. Same robot, same app, a different reward.</a:t>
            </a:r>
          </a:p>
        </p:txBody>
      </p:sp>
    </p:spTree>
    <p:extLst>
      <p:ext uri="{BB962C8B-B14F-4D97-AF65-F5344CB8AC3E}">
        <p14:creationId xmlns:p14="http://schemas.microsoft.com/office/powerpoint/2010/main" val="11287737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4556B6F-4229-46ED-A1A8-225563F54B5C}"/>
              </a:ext>
            </a:extLst>
          </p:cNvPr>
          <p:cNvSpPr>
            <a:spLocks noGrp="1"/>
          </p:cNvSpPr>
          <p:nvPr/>
        </p:nvSpPr>
        <p:spPr>
          <a:xfrm>
            <a:off x="11106150" y="266700"/>
            <a:ext cx="400050" cy="228600"/>
          </a:xfrm>
          <a:prstGeom prst="rect">
            <a:avLst/>
          </a:prstGeom>
          <a:noFill/>
          <a:ln w="0">
            <a:noFill/>
            <a:prstDash val="solid"/>
          </a:ln>
        </p:spPr>
        <p:txBody>
          <a:bodyPr lIns="0" tIns="0" rIns="0" bIns="0" anchor="ctr">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33</a:t>
            </a:r>
          </a:p>
        </p:txBody>
      </p:sp>
      <p:sp>
        <p:nvSpPr>
          <p:cNvPr id="4" name="Rectangle 3">
            <a:extLst>
              <a:ext uri="{FF2B5EF4-FFF2-40B4-BE49-F238E27FC236}">
                <a16:creationId xmlns:a16="http://schemas.microsoft.com/office/drawing/2014/main" id="{8B15B293-CDBB-4A4B-974E-F79624810A92}"/>
              </a:ext>
            </a:extLst>
          </p:cNvPr>
          <p:cNvSpPr>
            <a:spLocks noGrp="1"/>
          </p:cNvSpPr>
          <p:nvPr/>
        </p:nvSpPr>
        <p:spPr>
          <a:xfrm>
            <a:off x="685800" y="714375"/>
            <a:ext cx="10820400" cy="800100"/>
          </a:xfrm>
          <a:prstGeom prst="rect">
            <a:avLst/>
          </a:prstGeom>
          <a:noFill/>
          <a:ln w="0">
            <a:noFill/>
            <a:prstDash val="solid"/>
          </a:ln>
        </p:spPr>
        <p:txBody>
          <a:bodyPr lIns="0" tIns="0" rIns="0" bIns="0" anchor="t">
            <a:normAutofit fontScale="91343"/>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The same process also worked on a humanoid</a:t>
            </a:r>
          </a:p>
        </p:txBody>
      </p:sp>
      <p:sp>
        <p:nvSpPr>
          <p:cNvPr id="5" name="Rectangle 4">
            <a:extLst>
              <a:ext uri="{FF2B5EF4-FFF2-40B4-BE49-F238E27FC236}">
                <a16:creationId xmlns:a16="http://schemas.microsoft.com/office/drawing/2014/main" id="{DB534B3B-F4F8-48FD-9D92-20DC079EAACF}"/>
              </a:ext>
            </a:extLst>
          </p:cNvPr>
          <p:cNvSpPr>
            <a:spLocks noGrp="1"/>
          </p:cNvSpPr>
          <p:nvPr/>
        </p:nvSpPr>
        <p:spPr>
          <a:xfrm>
            <a:off x="685800" y="6457950"/>
            <a:ext cx="10820400" cy="9525"/>
          </a:xfrm>
          <a:prstGeom prst="rect">
            <a:avLst/>
          </a:prstGeom>
          <a:solidFill>
            <a:srgbClr val="D5DAD6"/>
          </a:solidFill>
          <a:ln w="0">
            <a:noFill/>
            <a:prstDash val="solid"/>
          </a:ln>
        </p:spPr>
        <p:txBody>
          <a:bodyPr/>
          <a:lstStyle/>
          <a:p>
            <a:endParaRPr lang="en-IN"/>
          </a:p>
        </p:txBody>
      </p:sp>
      <p:sp>
        <p:nvSpPr>
          <p:cNvPr id="8" name="Rectangle: Rounded Corners 7">
            <a:extLst>
              <a:ext uri="{FF2B5EF4-FFF2-40B4-BE49-F238E27FC236}">
                <a16:creationId xmlns:a16="http://schemas.microsoft.com/office/drawing/2014/main" id="{08388293-953D-4323-AC2C-AEF69BBB259B}"/>
              </a:ext>
            </a:extLst>
          </p:cNvPr>
          <p:cNvSpPr>
            <a:spLocks noGrp="1"/>
          </p:cNvSpPr>
          <p:nvPr/>
        </p:nvSpPr>
        <p:spPr>
          <a:xfrm>
            <a:off x="5743575" y="1914525"/>
            <a:ext cx="5676900" cy="3771900"/>
          </a:xfrm>
          <a:prstGeom prst="roundRect">
            <a:avLst>
              <a:gd name="adj" fmla="val 4545"/>
            </a:avLst>
          </a:prstGeom>
          <a:solidFill>
            <a:srgbClr val="FFFFFF"/>
          </a:solidFill>
          <a:ln w="9525">
            <a:solidFill>
              <a:srgbClr val="D5DAD6"/>
            </a:solidFill>
            <a:prstDash val="solid"/>
          </a:ln>
        </p:spPr>
        <p:txBody>
          <a:bodyPr/>
          <a:lstStyle/>
          <a:p>
            <a:endParaRPr lang="en-IN"/>
          </a:p>
        </p:txBody>
      </p:sp>
      <p:pic>
        <p:nvPicPr>
          <p:cNvPr id="27" name="Picture 26"/>
          <p:cNvPicPr>
            <a:picLocks noChangeAspect="1"/>
          </p:cNvPicPr>
          <p:nvPr/>
        </p:nvPicPr>
        <p:blipFill>
          <a:blip r:embed="rId2"/>
          <a:srcRect l="7452" r="7452"/>
          <a:stretch>
            <a:fillRect/>
          </a:stretch>
        </p:blipFill>
        <p:spPr>
          <a:xfrm>
            <a:off x="5772150" y="1943100"/>
            <a:ext cx="5619750" cy="3714750"/>
          </a:xfrm>
          <a:prstGeom prst="roundRect">
            <a:avLst>
              <a:gd name="adj" fmla="val 4615"/>
            </a:avLst>
          </a:prstGeom>
        </p:spPr>
      </p:pic>
      <p:sp>
        <p:nvSpPr>
          <p:cNvPr id="10" name="Rectangle 9">
            <a:extLst>
              <a:ext uri="{FF2B5EF4-FFF2-40B4-BE49-F238E27FC236}">
                <a16:creationId xmlns:a16="http://schemas.microsoft.com/office/drawing/2014/main" id="{8964BD13-7F6B-4003-89A7-8E9BDA36E19D}"/>
              </a:ext>
            </a:extLst>
          </p:cNvPr>
          <p:cNvSpPr>
            <a:spLocks noGrp="1"/>
          </p:cNvSpPr>
          <p:nvPr/>
        </p:nvSpPr>
        <p:spPr>
          <a:xfrm>
            <a:off x="781050" y="2038350"/>
            <a:ext cx="4095750" cy="742950"/>
          </a:xfrm>
          <a:prstGeom prst="rect">
            <a:avLst/>
          </a:prstGeom>
          <a:noFill/>
          <a:ln w="0">
            <a:noFill/>
            <a:prstDash val="solid"/>
          </a:ln>
        </p:spPr>
        <p:txBody>
          <a:bodyPr lIns="0" tIns="0" rIns="0" bIns="0" anchor="t">
            <a:normAutofit/>
          </a:bodyPr>
          <a:lstStyle/>
          <a:p>
            <a:pPr algn="l">
              <a:lnSpc>
                <a:spcPct val="98000"/>
              </a:lnSpc>
              <a:buNone/>
              <a:defRPr sz="4350" b="1" i="0">
                <a:solidFill>
                  <a:srgbClr val="0B6B64"/>
                </a:solidFill>
                <a:latin typeface="Segoe UI Semibold"/>
                <a:ea typeface="Segoe UI Semibold"/>
                <a:cs typeface="Segoe UI Semibold"/>
              </a:defRPr>
            </a:pPr>
            <a:r>
              <a:rPr sz="4350" b="1" i="0">
                <a:solidFill>
                  <a:srgbClr val="0B6B64"/>
                </a:solidFill>
                <a:latin typeface="Segoe UI Semibold"/>
                <a:ea typeface="Segoe UI Semibold"/>
                <a:cs typeface="Segoe UI Semibold"/>
              </a:rPr>
              <a:t>0.48 m/s</a:t>
            </a:r>
          </a:p>
        </p:txBody>
      </p:sp>
      <p:sp>
        <p:nvSpPr>
          <p:cNvPr id="11" name="Rectangle 10">
            <a:extLst>
              <a:ext uri="{FF2B5EF4-FFF2-40B4-BE49-F238E27FC236}">
                <a16:creationId xmlns:a16="http://schemas.microsoft.com/office/drawing/2014/main" id="{CDBF8414-FBC9-4E5F-9EB1-CC81E3AB3625}"/>
              </a:ext>
            </a:extLst>
          </p:cNvPr>
          <p:cNvSpPr>
            <a:spLocks noGrp="1"/>
          </p:cNvSpPr>
          <p:nvPr/>
        </p:nvSpPr>
        <p:spPr>
          <a:xfrm>
            <a:off x="781050" y="2724150"/>
            <a:ext cx="4095750" cy="304800"/>
          </a:xfrm>
          <a:prstGeom prst="rect">
            <a:avLst/>
          </a:prstGeom>
          <a:noFill/>
          <a:ln w="0">
            <a:noFill/>
            <a:prstDash val="solid"/>
          </a:ln>
        </p:spPr>
        <p:txBody>
          <a:bodyPr lIns="0" tIns="0" rIns="0" bIns="0" anchor="t">
            <a:normAutofit/>
          </a:bodyPr>
          <a:lstStyle/>
          <a:p>
            <a:pPr algn="l">
              <a:lnSpc>
                <a:spcPct val="98000"/>
              </a:lnSpc>
              <a:buNone/>
              <a:defRPr sz="1650" b="1" i="0">
                <a:solidFill>
                  <a:srgbClr val="18232F"/>
                </a:solidFill>
                <a:latin typeface="Segoe UI Semibold"/>
                <a:ea typeface="Segoe UI Semibold"/>
                <a:cs typeface="Segoe UI Semibold"/>
              </a:defRPr>
            </a:pPr>
            <a:r>
              <a:rPr sz="1650" b="1" i="0">
                <a:solidFill>
                  <a:srgbClr val="18232F"/>
                </a:solidFill>
                <a:latin typeface="Segoe UI Semibold"/>
                <a:ea typeface="Segoe UI Semibold"/>
                <a:cs typeface="Segoe UI Semibold"/>
              </a:rPr>
              <a:t>forward speed</a:t>
            </a:r>
          </a:p>
        </p:txBody>
      </p:sp>
      <p:sp>
        <p:nvSpPr>
          <p:cNvPr id="12" name="Rectangle 11">
            <a:extLst>
              <a:ext uri="{FF2B5EF4-FFF2-40B4-BE49-F238E27FC236}">
                <a16:creationId xmlns:a16="http://schemas.microsoft.com/office/drawing/2014/main" id="{E1493D15-BCBE-41FA-8867-6DC185D9869F}"/>
              </a:ext>
            </a:extLst>
          </p:cNvPr>
          <p:cNvSpPr>
            <a:spLocks noGrp="1"/>
          </p:cNvSpPr>
          <p:nvPr/>
        </p:nvSpPr>
        <p:spPr>
          <a:xfrm>
            <a:off x="781050" y="3028950"/>
            <a:ext cx="4095750" cy="457200"/>
          </a:xfrm>
          <a:prstGeom prst="rect">
            <a:avLst/>
          </a:prstGeom>
          <a:noFill/>
          <a:ln w="0">
            <a:noFill/>
            <a:prstDash val="solid"/>
          </a:ln>
        </p:spPr>
        <p:txBody>
          <a:bodyPr lIns="0" tIns="0" rIns="0" bIns="0" anchor="t">
            <a:normAutofit/>
          </a:bodyPr>
          <a:lstStyle/>
          <a:p>
            <a:pPr algn="l">
              <a:lnSpc>
                <a:spcPct val="100000"/>
              </a:lnSpc>
              <a:buNone/>
              <a:defRPr sz="1275" b="0" i="0">
                <a:solidFill>
                  <a:srgbClr val="5B6670"/>
                </a:solidFill>
                <a:latin typeface="Segoe UI"/>
                <a:ea typeface="Segoe UI"/>
                <a:cs typeface="Segoe UI"/>
              </a:defRPr>
            </a:pPr>
            <a:r>
              <a:rPr sz="1275" b="0" i="0">
                <a:solidFill>
                  <a:srgbClr val="5B6670"/>
                </a:solidFill>
                <a:latin typeface="Segoe UI"/>
                <a:ea typeface="Segoe UI"/>
                <a:cs typeface="Segoe UI"/>
              </a:rPr>
              <a:t>at its best version</a:t>
            </a:r>
          </a:p>
        </p:txBody>
      </p:sp>
      <p:sp>
        <p:nvSpPr>
          <p:cNvPr id="13" name="Rectangle 12">
            <a:extLst>
              <a:ext uri="{FF2B5EF4-FFF2-40B4-BE49-F238E27FC236}">
                <a16:creationId xmlns:a16="http://schemas.microsoft.com/office/drawing/2014/main" id="{3087671B-1619-42E3-8501-B116491CDF3F}"/>
              </a:ext>
            </a:extLst>
          </p:cNvPr>
          <p:cNvSpPr>
            <a:spLocks noGrp="1"/>
          </p:cNvSpPr>
          <p:nvPr/>
        </p:nvSpPr>
        <p:spPr>
          <a:xfrm>
            <a:off x="781050" y="3581400"/>
            <a:ext cx="4095750" cy="9525"/>
          </a:xfrm>
          <a:prstGeom prst="rect">
            <a:avLst/>
          </a:prstGeom>
          <a:solidFill>
            <a:srgbClr val="D5DAD6"/>
          </a:solidFill>
          <a:ln w="0">
            <a:noFill/>
            <a:prstDash val="solid"/>
          </a:ln>
        </p:spPr>
        <p:txBody>
          <a:bodyPr/>
          <a:lstStyle/>
          <a:p>
            <a:endParaRPr lang="en-IN"/>
          </a:p>
        </p:txBody>
      </p:sp>
      <p:sp>
        <p:nvSpPr>
          <p:cNvPr id="14" name="Rectangle 13">
            <a:extLst>
              <a:ext uri="{FF2B5EF4-FFF2-40B4-BE49-F238E27FC236}">
                <a16:creationId xmlns:a16="http://schemas.microsoft.com/office/drawing/2014/main" id="{2F74EBC1-9744-472F-B814-6251BB97E7D0}"/>
              </a:ext>
            </a:extLst>
          </p:cNvPr>
          <p:cNvSpPr>
            <a:spLocks noGrp="1"/>
          </p:cNvSpPr>
          <p:nvPr/>
        </p:nvSpPr>
        <p:spPr>
          <a:xfrm>
            <a:off x="781050" y="3790950"/>
            <a:ext cx="4095750" cy="742950"/>
          </a:xfrm>
          <a:prstGeom prst="rect">
            <a:avLst/>
          </a:prstGeom>
          <a:noFill/>
          <a:ln w="0">
            <a:noFill/>
            <a:prstDash val="solid"/>
          </a:ln>
        </p:spPr>
        <p:txBody>
          <a:bodyPr lIns="0" tIns="0" rIns="0" bIns="0" anchor="t">
            <a:normAutofit/>
          </a:bodyPr>
          <a:lstStyle/>
          <a:p>
            <a:pPr algn="l">
              <a:lnSpc>
                <a:spcPct val="98000"/>
              </a:lnSpc>
              <a:buNone/>
              <a:defRPr sz="4350" b="1" i="0">
                <a:solidFill>
                  <a:srgbClr val="0B6B64"/>
                </a:solidFill>
                <a:latin typeface="Segoe UI Semibold"/>
                <a:ea typeface="Segoe UI Semibold"/>
                <a:cs typeface="Segoe UI Semibold"/>
              </a:defRPr>
            </a:pPr>
            <a:r>
              <a:rPr sz="4350" b="1" i="0">
                <a:solidFill>
                  <a:srgbClr val="0B6B64"/>
                </a:solidFill>
                <a:latin typeface="Segoe UI Semibold"/>
                <a:ea typeface="Segoe UI Semibold"/>
                <a:cs typeface="Segoe UI Semibold"/>
              </a:rPr>
              <a:t>204</a:t>
            </a:r>
          </a:p>
        </p:txBody>
      </p:sp>
      <p:sp>
        <p:nvSpPr>
          <p:cNvPr id="15" name="Rectangle 14">
            <a:extLst>
              <a:ext uri="{FF2B5EF4-FFF2-40B4-BE49-F238E27FC236}">
                <a16:creationId xmlns:a16="http://schemas.microsoft.com/office/drawing/2014/main" id="{90FB62F4-8274-4377-976F-37A7562DA34F}"/>
              </a:ext>
            </a:extLst>
          </p:cNvPr>
          <p:cNvSpPr>
            <a:spLocks noGrp="1"/>
          </p:cNvSpPr>
          <p:nvPr/>
        </p:nvSpPr>
        <p:spPr>
          <a:xfrm>
            <a:off x="781050" y="4476750"/>
            <a:ext cx="4095750" cy="304800"/>
          </a:xfrm>
          <a:prstGeom prst="rect">
            <a:avLst/>
          </a:prstGeom>
          <a:noFill/>
          <a:ln w="0">
            <a:noFill/>
            <a:prstDash val="solid"/>
          </a:ln>
        </p:spPr>
        <p:txBody>
          <a:bodyPr lIns="0" tIns="0" rIns="0" bIns="0" anchor="t">
            <a:normAutofit/>
          </a:bodyPr>
          <a:lstStyle/>
          <a:p>
            <a:pPr algn="l">
              <a:lnSpc>
                <a:spcPct val="98000"/>
              </a:lnSpc>
              <a:buNone/>
              <a:defRPr sz="1650" b="1" i="0">
                <a:solidFill>
                  <a:srgbClr val="18232F"/>
                </a:solidFill>
                <a:latin typeface="Segoe UI Semibold"/>
                <a:ea typeface="Segoe UI Semibold"/>
                <a:cs typeface="Segoe UI Semibold"/>
              </a:defRPr>
            </a:pPr>
            <a:r>
              <a:rPr sz="1650" b="1" i="0">
                <a:solidFill>
                  <a:srgbClr val="18232F"/>
                </a:solidFill>
                <a:latin typeface="Segoe UI Semibold"/>
                <a:ea typeface="Segoe UI Semibold"/>
                <a:cs typeface="Segoe UI Semibold"/>
              </a:rPr>
              <a:t>steps per attempt</a:t>
            </a:r>
          </a:p>
        </p:txBody>
      </p:sp>
      <p:sp>
        <p:nvSpPr>
          <p:cNvPr id="16" name="Rectangle 15">
            <a:extLst>
              <a:ext uri="{FF2B5EF4-FFF2-40B4-BE49-F238E27FC236}">
                <a16:creationId xmlns:a16="http://schemas.microsoft.com/office/drawing/2014/main" id="{5B4AE22E-5900-4616-B06C-693D341FE50A}"/>
              </a:ext>
            </a:extLst>
          </p:cNvPr>
          <p:cNvSpPr>
            <a:spLocks noGrp="1"/>
          </p:cNvSpPr>
          <p:nvPr/>
        </p:nvSpPr>
        <p:spPr>
          <a:xfrm>
            <a:off x="781050" y="4781550"/>
            <a:ext cx="4095750" cy="457200"/>
          </a:xfrm>
          <a:prstGeom prst="rect">
            <a:avLst/>
          </a:prstGeom>
          <a:noFill/>
          <a:ln w="0">
            <a:noFill/>
            <a:prstDash val="solid"/>
          </a:ln>
        </p:spPr>
        <p:txBody>
          <a:bodyPr lIns="0" tIns="0" rIns="0" bIns="0" anchor="t">
            <a:normAutofit/>
          </a:bodyPr>
          <a:lstStyle/>
          <a:p>
            <a:pPr algn="l">
              <a:lnSpc>
                <a:spcPct val="100000"/>
              </a:lnSpc>
              <a:buNone/>
              <a:defRPr sz="1275" b="0" i="0">
                <a:solidFill>
                  <a:srgbClr val="5B6670"/>
                </a:solidFill>
                <a:latin typeface="Segoe UI"/>
                <a:ea typeface="Segoe UI"/>
                <a:cs typeface="Segoe UI"/>
              </a:defRPr>
            </a:pPr>
            <a:r>
              <a:rPr sz="1275" b="0" i="0">
                <a:solidFill>
                  <a:srgbClr val="5B6670"/>
                </a:solidFill>
                <a:latin typeface="Segoe UI"/>
                <a:ea typeface="Segoe UI"/>
                <a:cs typeface="Segoe UI"/>
              </a:rPr>
              <a:t>measured at 31 million steps</a:t>
            </a:r>
          </a:p>
        </p:txBody>
      </p:sp>
      <p:sp>
        <p:nvSpPr>
          <p:cNvPr id="17" name="Rectangle 16">
            <a:extLst>
              <a:ext uri="{FF2B5EF4-FFF2-40B4-BE49-F238E27FC236}">
                <a16:creationId xmlns:a16="http://schemas.microsoft.com/office/drawing/2014/main" id="{3B602498-D317-464B-9811-2BB1C9501A75}"/>
              </a:ext>
            </a:extLst>
          </p:cNvPr>
          <p:cNvSpPr>
            <a:spLocks noGrp="1"/>
          </p:cNvSpPr>
          <p:nvPr/>
        </p:nvSpPr>
        <p:spPr>
          <a:xfrm>
            <a:off x="781050" y="5410200"/>
            <a:ext cx="4191000" cy="323850"/>
          </a:xfrm>
          <a:prstGeom prst="rect">
            <a:avLst/>
          </a:prstGeom>
          <a:noFill/>
          <a:ln w="0">
            <a:noFill/>
            <a:prstDash val="solid"/>
          </a:ln>
        </p:spPr>
        <p:txBody>
          <a:bodyPr lIns="0" tIns="0" rIns="0" bIns="0" anchor="t">
            <a:normAutofit/>
          </a:bodyPr>
          <a:lstStyle/>
          <a:p>
            <a:pPr algn="l">
              <a:lnSpc>
                <a:spcPct val="98000"/>
              </a:lnSpc>
              <a:buNone/>
              <a:defRPr sz="1575" b="1" i="0">
                <a:solidFill>
                  <a:srgbClr val="0B6B64"/>
                </a:solidFill>
                <a:latin typeface="Segoe UI Semibold"/>
                <a:ea typeface="Segoe UI Semibold"/>
                <a:cs typeface="Segoe UI Semibold"/>
              </a:defRPr>
            </a:pPr>
            <a:r>
              <a:rPr sz="1575" b="1" i="0">
                <a:solidFill>
                  <a:srgbClr val="0B6B64"/>
                </a:solidFill>
                <a:latin typeface="Segoe UI Semibold"/>
                <a:ea typeface="Segoe UI Semibold"/>
                <a:cs typeface="Segoe UI Semibold"/>
              </a:rPr>
              <a:t>14,600 steps a second at its peak</a:t>
            </a:r>
          </a:p>
        </p:txBody>
      </p:sp>
      <p:sp>
        <p:nvSpPr>
          <p:cNvPr id="18" name="Rectangle 17">
            <a:extLst>
              <a:ext uri="{FF2B5EF4-FFF2-40B4-BE49-F238E27FC236}">
                <a16:creationId xmlns:a16="http://schemas.microsoft.com/office/drawing/2014/main" id="{4DC8FE95-41C9-4295-AAC0-92144B173784}"/>
              </a:ext>
            </a:extLst>
          </p:cNvPr>
          <p:cNvSpPr>
            <a:spLocks noGrp="1"/>
          </p:cNvSpPr>
          <p:nvPr/>
        </p:nvSpPr>
        <p:spPr>
          <a:xfrm>
            <a:off x="5772150" y="5848350"/>
            <a:ext cx="5619750" cy="495300"/>
          </a:xfrm>
          <a:prstGeom prst="rect">
            <a:avLst/>
          </a:prstGeom>
          <a:noFill/>
          <a:ln w="0">
            <a:noFill/>
            <a:prstDash val="solid"/>
          </a:ln>
        </p:spPr>
        <p:txBody>
          <a:bodyPr lIns="0" tIns="0" rIns="0" bIns="0" anchor="t">
            <a:normAutofit fontScale="87747" lnSpcReduction="10000"/>
          </a:bodyPr>
          <a:lstStyle/>
          <a:p>
            <a:pPr algn="l">
              <a:lnSpc>
                <a:spcPct val="100000"/>
              </a:lnSpc>
              <a:buNone/>
              <a:defRPr sz="1350" b="0" i="0">
                <a:solidFill>
                  <a:srgbClr val="5B6670"/>
                </a:solidFill>
                <a:latin typeface="Segoe UI"/>
                <a:ea typeface="Segoe UI"/>
                <a:cs typeface="Segoe UI"/>
              </a:defRPr>
            </a:pPr>
            <a:r>
              <a:rPr sz="1350" b="0" i="0">
                <a:solidFill>
                  <a:srgbClr val="5B6670"/>
                </a:solidFill>
                <a:latin typeface="Segoe UI"/>
                <a:ea typeface="Segoe UI"/>
                <a:cs typeface="Segoe UI"/>
              </a:rPr>
              <a:t>Walking on two legs stayed the harder problem. Even so, the same app trained forward motion using 129 sensor readings and 12 motors, with no new code written by hand.</a:t>
            </a:r>
          </a:p>
        </p:txBody>
      </p:sp>
    </p:spTree>
    <p:extLst>
      <p:ext uri="{BB962C8B-B14F-4D97-AF65-F5344CB8AC3E}">
        <p14:creationId xmlns:p14="http://schemas.microsoft.com/office/powerpoint/2010/main" val="20209641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1327C71-89E5-4DC0-9D56-A02B3DE16FFC}"/>
              </a:ext>
            </a:extLst>
          </p:cNvPr>
          <p:cNvSpPr>
            <a:spLocks noGrp="1"/>
          </p:cNvSpPr>
          <p:nvPr/>
        </p:nvSpPr>
        <p:spPr>
          <a:xfrm>
            <a:off x="11106150" y="266700"/>
            <a:ext cx="400050" cy="228600"/>
          </a:xfrm>
          <a:prstGeom prst="rect">
            <a:avLst/>
          </a:prstGeom>
          <a:noFill/>
          <a:ln w="0">
            <a:noFill/>
            <a:prstDash val="solid"/>
          </a:ln>
        </p:spPr>
        <p:txBody>
          <a:bodyPr lIns="0" tIns="0" rIns="0" bIns="0" anchor="ctr">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34</a:t>
            </a:r>
          </a:p>
        </p:txBody>
      </p:sp>
      <p:sp>
        <p:nvSpPr>
          <p:cNvPr id="4" name="Rectangle 3">
            <a:extLst>
              <a:ext uri="{FF2B5EF4-FFF2-40B4-BE49-F238E27FC236}">
                <a16:creationId xmlns:a16="http://schemas.microsoft.com/office/drawing/2014/main" id="{A07D91FB-1787-4C67-859E-017588FDDAB6}"/>
              </a:ext>
            </a:extLst>
          </p:cNvPr>
          <p:cNvSpPr>
            <a:spLocks noGrp="1"/>
          </p:cNvSpPr>
          <p:nvPr/>
        </p:nvSpPr>
        <p:spPr>
          <a:xfrm>
            <a:off x="685800" y="714375"/>
            <a:ext cx="10820400" cy="1162050"/>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dirty="0">
                <a:solidFill>
                  <a:srgbClr val="18232F"/>
                </a:solidFill>
                <a:latin typeface="Georgia"/>
                <a:ea typeface="Georgia"/>
                <a:cs typeface="Georgia"/>
              </a:rPr>
              <a:t>One process, two kinds of robot,</a:t>
            </a:r>
          </a:p>
          <a:p>
            <a:pPr algn="l">
              <a:lnSpc>
                <a:spcPct val="90000"/>
              </a:lnSpc>
              <a:buNone/>
              <a:defRPr sz="3600" b="1" i="0">
                <a:solidFill>
                  <a:srgbClr val="18232F"/>
                </a:solidFill>
                <a:latin typeface="Georgia"/>
                <a:ea typeface="Georgia"/>
                <a:cs typeface="Georgia"/>
              </a:defRPr>
            </a:pPr>
            <a:r>
              <a:rPr sz="3600" b="1" i="0" dirty="0">
                <a:solidFill>
                  <a:srgbClr val="18232F"/>
                </a:solidFill>
                <a:latin typeface="Georgia"/>
                <a:ea typeface="Georgia"/>
                <a:cs typeface="Georgia"/>
              </a:rPr>
              <a:t>and robots that really trained</a:t>
            </a:r>
          </a:p>
        </p:txBody>
      </p:sp>
      <p:sp>
        <p:nvSpPr>
          <p:cNvPr id="5" name="Rectangle 4">
            <a:extLst>
              <a:ext uri="{FF2B5EF4-FFF2-40B4-BE49-F238E27FC236}">
                <a16:creationId xmlns:a16="http://schemas.microsoft.com/office/drawing/2014/main" id="{E12A21A2-13B6-4926-ABBD-69138BA7BF14}"/>
              </a:ext>
            </a:extLst>
          </p:cNvPr>
          <p:cNvSpPr>
            <a:spLocks noGrp="1"/>
          </p:cNvSpPr>
          <p:nvPr/>
        </p:nvSpPr>
        <p:spPr>
          <a:xfrm>
            <a:off x="685800" y="6457950"/>
            <a:ext cx="10820400" cy="9525"/>
          </a:xfrm>
          <a:prstGeom prst="rect">
            <a:avLst/>
          </a:prstGeom>
          <a:solidFill>
            <a:srgbClr val="D5DAD6"/>
          </a:solidFill>
          <a:ln w="0">
            <a:noFill/>
            <a:prstDash val="solid"/>
          </a:ln>
        </p:spPr>
        <p:txBody>
          <a:bodyPr/>
          <a:lstStyle/>
          <a:p>
            <a:endParaRPr lang="en-IN"/>
          </a:p>
        </p:txBody>
      </p:sp>
      <p:sp>
        <p:nvSpPr>
          <p:cNvPr id="8" name="Rectangle 7">
            <a:extLst>
              <a:ext uri="{FF2B5EF4-FFF2-40B4-BE49-F238E27FC236}">
                <a16:creationId xmlns:a16="http://schemas.microsoft.com/office/drawing/2014/main" id="{39737273-758D-4ACE-9A04-011D85BED0B1}"/>
              </a:ext>
            </a:extLst>
          </p:cNvPr>
          <p:cNvSpPr>
            <a:spLocks noGrp="1"/>
          </p:cNvSpPr>
          <p:nvPr/>
        </p:nvSpPr>
        <p:spPr>
          <a:xfrm>
            <a:off x="723900" y="2381250"/>
            <a:ext cx="514350" cy="285750"/>
          </a:xfrm>
          <a:prstGeom prst="rect">
            <a:avLst/>
          </a:prstGeom>
          <a:noFill/>
          <a:ln w="0">
            <a:noFill/>
            <a:prstDash val="solid"/>
          </a:ln>
        </p:spPr>
        <p:txBody>
          <a:bodyPr lIns="0" tIns="0" rIns="0" bIns="0" anchor="t">
            <a:normAutofit/>
          </a:bodyPr>
          <a:lstStyle/>
          <a:p>
            <a:pPr algn="l">
              <a:lnSpc>
                <a:spcPct val="98000"/>
              </a:lnSpc>
              <a:buNone/>
              <a:defRPr sz="1275" b="1" i="0">
                <a:solidFill>
                  <a:srgbClr val="0B6B64"/>
                </a:solidFill>
                <a:latin typeface="Segoe UI Semibold"/>
                <a:ea typeface="Segoe UI Semibold"/>
                <a:cs typeface="Segoe UI Semibold"/>
              </a:defRPr>
            </a:pPr>
            <a:r>
              <a:rPr sz="1275" b="1" i="0">
                <a:solidFill>
                  <a:srgbClr val="0B6B64"/>
                </a:solidFill>
                <a:latin typeface="Segoe UI Semibold"/>
                <a:ea typeface="Segoe UI Semibold"/>
                <a:cs typeface="Segoe UI Semibold"/>
              </a:rPr>
              <a:t>01</a:t>
            </a:r>
          </a:p>
        </p:txBody>
      </p:sp>
      <p:sp>
        <p:nvSpPr>
          <p:cNvPr id="9" name="Rectangle 8">
            <a:extLst>
              <a:ext uri="{FF2B5EF4-FFF2-40B4-BE49-F238E27FC236}">
                <a16:creationId xmlns:a16="http://schemas.microsoft.com/office/drawing/2014/main" id="{E5BFB8E4-18FA-43D0-AE80-A34CFF8B5AB2}"/>
              </a:ext>
            </a:extLst>
          </p:cNvPr>
          <p:cNvSpPr>
            <a:spLocks noGrp="1"/>
          </p:cNvSpPr>
          <p:nvPr/>
        </p:nvSpPr>
        <p:spPr>
          <a:xfrm>
            <a:off x="723900" y="2800350"/>
            <a:ext cx="3143250" cy="381000"/>
          </a:xfrm>
          <a:prstGeom prst="rect">
            <a:avLst/>
          </a:prstGeom>
          <a:noFill/>
          <a:ln w="0">
            <a:noFill/>
            <a:prstDash val="solid"/>
          </a:ln>
        </p:spPr>
        <p:txBody>
          <a:bodyPr lIns="0" tIns="0" rIns="0" bIns="0" anchor="t">
            <a:normAutofit/>
          </a:bodyPr>
          <a:lstStyle/>
          <a:p>
            <a:pPr algn="l">
              <a:lnSpc>
                <a:spcPct val="98000"/>
              </a:lnSpc>
              <a:buNone/>
              <a:defRPr sz="2025" b="1" i="0">
                <a:solidFill>
                  <a:srgbClr val="18232F"/>
                </a:solidFill>
                <a:latin typeface="Georgia"/>
                <a:ea typeface="Georgia"/>
                <a:cs typeface="Georgia"/>
              </a:defRPr>
            </a:pPr>
            <a:r>
              <a:rPr sz="2025" b="1" i="0">
                <a:solidFill>
                  <a:srgbClr val="18232F"/>
                </a:solidFill>
                <a:latin typeface="Georgia"/>
                <a:ea typeface="Georgia"/>
                <a:cs typeface="Georgia"/>
              </a:rPr>
              <a:t>Academic value</a:t>
            </a:r>
          </a:p>
        </p:txBody>
      </p:sp>
      <p:sp>
        <p:nvSpPr>
          <p:cNvPr id="10" name="Rectangle 9">
            <a:extLst>
              <a:ext uri="{FF2B5EF4-FFF2-40B4-BE49-F238E27FC236}">
                <a16:creationId xmlns:a16="http://schemas.microsoft.com/office/drawing/2014/main" id="{B41199F9-3474-4EC1-A0AD-84FB456CC3C7}"/>
              </a:ext>
            </a:extLst>
          </p:cNvPr>
          <p:cNvSpPr>
            <a:spLocks noGrp="1"/>
          </p:cNvSpPr>
          <p:nvPr/>
        </p:nvSpPr>
        <p:spPr>
          <a:xfrm>
            <a:off x="723900" y="3352800"/>
            <a:ext cx="762000" cy="38100"/>
          </a:xfrm>
          <a:prstGeom prst="rect">
            <a:avLst/>
          </a:prstGeom>
          <a:solidFill>
            <a:srgbClr val="0B6B64"/>
          </a:solidFill>
          <a:ln w="0">
            <a:noFill/>
            <a:prstDash val="solid"/>
          </a:ln>
        </p:spPr>
        <p:txBody>
          <a:bodyPr/>
          <a:lstStyle/>
          <a:p>
            <a:endParaRPr lang="en-IN"/>
          </a:p>
        </p:txBody>
      </p:sp>
      <p:sp>
        <p:nvSpPr>
          <p:cNvPr id="11" name="Rectangle 10">
            <a:extLst>
              <a:ext uri="{FF2B5EF4-FFF2-40B4-BE49-F238E27FC236}">
                <a16:creationId xmlns:a16="http://schemas.microsoft.com/office/drawing/2014/main" id="{E253B12A-A179-4C4C-BE11-C088DC524B7B}"/>
              </a:ext>
            </a:extLst>
          </p:cNvPr>
          <p:cNvSpPr>
            <a:spLocks noGrp="1"/>
          </p:cNvSpPr>
          <p:nvPr/>
        </p:nvSpPr>
        <p:spPr>
          <a:xfrm>
            <a:off x="723900" y="3676650"/>
            <a:ext cx="3143250" cy="1181100"/>
          </a:xfrm>
          <a:prstGeom prst="rect">
            <a:avLst/>
          </a:prstGeom>
          <a:noFill/>
          <a:ln w="0">
            <a:noFill/>
            <a:prstDash val="solid"/>
          </a:ln>
        </p:spPr>
        <p:txBody>
          <a:bodyPr lIns="0" tIns="0" rIns="0" bIns="0" anchor="t">
            <a:normAutofit/>
          </a:bodyPr>
          <a:lstStyle/>
          <a:p>
            <a:pPr algn="l">
              <a:lnSpc>
                <a:spcPct val="102000"/>
              </a:lnSpc>
              <a:buNone/>
              <a:defRPr sz="1575" b="0" i="0">
                <a:solidFill>
                  <a:srgbClr val="5B6670"/>
                </a:solidFill>
                <a:latin typeface="Segoe UI"/>
                <a:ea typeface="Segoe UI"/>
                <a:cs typeface="Segoe UI"/>
              </a:defRPr>
            </a:pPr>
            <a:r>
              <a:rPr sz="1575" b="0" i="0">
                <a:solidFill>
                  <a:srgbClr val="5B6670"/>
                </a:solidFill>
                <a:latin typeface="Segoe UI"/>
                <a:ea typeface="Segoe UI"/>
                <a:cs typeface="Segoe UI"/>
              </a:rPr>
              <a:t>A repeatable way to teach reward design and compare training runs, without spending the class on setting tools up.</a:t>
            </a:r>
          </a:p>
        </p:txBody>
      </p:sp>
      <p:sp>
        <p:nvSpPr>
          <p:cNvPr id="12" name="Rectangle 11">
            <a:extLst>
              <a:ext uri="{FF2B5EF4-FFF2-40B4-BE49-F238E27FC236}">
                <a16:creationId xmlns:a16="http://schemas.microsoft.com/office/drawing/2014/main" id="{6B2B5766-EDC9-4540-8D4E-805B88A11137}"/>
              </a:ext>
            </a:extLst>
          </p:cNvPr>
          <p:cNvSpPr>
            <a:spLocks noGrp="1"/>
          </p:cNvSpPr>
          <p:nvPr/>
        </p:nvSpPr>
        <p:spPr>
          <a:xfrm>
            <a:off x="4476750" y="2381250"/>
            <a:ext cx="514350" cy="285750"/>
          </a:xfrm>
          <a:prstGeom prst="rect">
            <a:avLst/>
          </a:prstGeom>
          <a:noFill/>
          <a:ln w="0">
            <a:noFill/>
            <a:prstDash val="solid"/>
          </a:ln>
        </p:spPr>
        <p:txBody>
          <a:bodyPr lIns="0" tIns="0" rIns="0" bIns="0" anchor="t">
            <a:normAutofit/>
          </a:bodyPr>
          <a:lstStyle/>
          <a:p>
            <a:pPr algn="l">
              <a:lnSpc>
                <a:spcPct val="98000"/>
              </a:lnSpc>
              <a:buNone/>
              <a:defRPr sz="1275" b="1" i="0">
                <a:solidFill>
                  <a:srgbClr val="0B6B64"/>
                </a:solidFill>
                <a:latin typeface="Segoe UI Semibold"/>
                <a:ea typeface="Segoe UI Semibold"/>
                <a:cs typeface="Segoe UI Semibold"/>
              </a:defRPr>
            </a:pPr>
            <a:r>
              <a:rPr sz="1275" b="1" i="0">
                <a:solidFill>
                  <a:srgbClr val="0B6B64"/>
                </a:solidFill>
                <a:latin typeface="Segoe UI Semibold"/>
                <a:ea typeface="Segoe UI Semibold"/>
                <a:cs typeface="Segoe UI Semibold"/>
              </a:rPr>
              <a:t>02</a:t>
            </a:r>
          </a:p>
        </p:txBody>
      </p:sp>
      <p:sp>
        <p:nvSpPr>
          <p:cNvPr id="13" name="Rectangle 12">
            <a:extLst>
              <a:ext uri="{FF2B5EF4-FFF2-40B4-BE49-F238E27FC236}">
                <a16:creationId xmlns:a16="http://schemas.microsoft.com/office/drawing/2014/main" id="{A2F95D3E-F5E0-46EA-84CC-5803B483C0DA}"/>
              </a:ext>
            </a:extLst>
          </p:cNvPr>
          <p:cNvSpPr>
            <a:spLocks noGrp="1"/>
          </p:cNvSpPr>
          <p:nvPr/>
        </p:nvSpPr>
        <p:spPr>
          <a:xfrm>
            <a:off x="4476750" y="2800350"/>
            <a:ext cx="3143250" cy="381000"/>
          </a:xfrm>
          <a:prstGeom prst="rect">
            <a:avLst/>
          </a:prstGeom>
          <a:noFill/>
          <a:ln w="0">
            <a:noFill/>
            <a:prstDash val="solid"/>
          </a:ln>
        </p:spPr>
        <p:txBody>
          <a:bodyPr lIns="0" tIns="0" rIns="0" bIns="0" anchor="t">
            <a:normAutofit/>
          </a:bodyPr>
          <a:lstStyle/>
          <a:p>
            <a:pPr algn="l">
              <a:lnSpc>
                <a:spcPct val="98000"/>
              </a:lnSpc>
              <a:buNone/>
              <a:defRPr sz="2025" b="1" i="0">
                <a:solidFill>
                  <a:srgbClr val="18232F"/>
                </a:solidFill>
                <a:latin typeface="Georgia"/>
                <a:ea typeface="Georgia"/>
                <a:cs typeface="Georgia"/>
              </a:defRPr>
            </a:pPr>
            <a:r>
              <a:rPr sz="2025" b="1" i="0">
                <a:solidFill>
                  <a:srgbClr val="18232F"/>
                </a:solidFill>
                <a:latin typeface="Georgia"/>
                <a:ea typeface="Georgia"/>
                <a:cs typeface="Georgia"/>
              </a:rPr>
              <a:t>Commercial value</a:t>
            </a:r>
          </a:p>
        </p:txBody>
      </p:sp>
      <p:sp>
        <p:nvSpPr>
          <p:cNvPr id="14" name="Rectangle 13">
            <a:extLst>
              <a:ext uri="{FF2B5EF4-FFF2-40B4-BE49-F238E27FC236}">
                <a16:creationId xmlns:a16="http://schemas.microsoft.com/office/drawing/2014/main" id="{C05373A1-EB23-4E65-A3CD-03769954B67C}"/>
              </a:ext>
            </a:extLst>
          </p:cNvPr>
          <p:cNvSpPr>
            <a:spLocks noGrp="1"/>
          </p:cNvSpPr>
          <p:nvPr/>
        </p:nvSpPr>
        <p:spPr>
          <a:xfrm>
            <a:off x="4476750" y="3352800"/>
            <a:ext cx="762000" cy="38100"/>
          </a:xfrm>
          <a:prstGeom prst="rect">
            <a:avLst/>
          </a:prstGeom>
          <a:solidFill>
            <a:srgbClr val="0B6B64"/>
          </a:solidFill>
          <a:ln w="0">
            <a:noFill/>
            <a:prstDash val="solid"/>
          </a:ln>
        </p:spPr>
        <p:txBody>
          <a:bodyPr/>
          <a:lstStyle/>
          <a:p>
            <a:endParaRPr lang="en-IN"/>
          </a:p>
        </p:txBody>
      </p:sp>
      <p:sp>
        <p:nvSpPr>
          <p:cNvPr id="15" name="Rectangle 14">
            <a:extLst>
              <a:ext uri="{FF2B5EF4-FFF2-40B4-BE49-F238E27FC236}">
                <a16:creationId xmlns:a16="http://schemas.microsoft.com/office/drawing/2014/main" id="{40D7D7BC-86B2-44D2-A1FF-C9C2D6668AAF}"/>
              </a:ext>
            </a:extLst>
          </p:cNvPr>
          <p:cNvSpPr>
            <a:spLocks noGrp="1"/>
          </p:cNvSpPr>
          <p:nvPr/>
        </p:nvSpPr>
        <p:spPr>
          <a:xfrm>
            <a:off x="4476750" y="3676650"/>
            <a:ext cx="3143250" cy="1181100"/>
          </a:xfrm>
          <a:prstGeom prst="rect">
            <a:avLst/>
          </a:prstGeom>
          <a:noFill/>
          <a:ln w="0">
            <a:noFill/>
            <a:prstDash val="solid"/>
          </a:ln>
        </p:spPr>
        <p:txBody>
          <a:bodyPr lIns="0" tIns="0" rIns="0" bIns="0" anchor="t">
            <a:normAutofit/>
          </a:bodyPr>
          <a:lstStyle/>
          <a:p>
            <a:pPr algn="l">
              <a:lnSpc>
                <a:spcPct val="102000"/>
              </a:lnSpc>
              <a:buNone/>
              <a:defRPr sz="1575" b="0" i="0">
                <a:solidFill>
                  <a:srgbClr val="5B6670"/>
                </a:solidFill>
                <a:latin typeface="Segoe UI"/>
                <a:ea typeface="Segoe UI"/>
                <a:cs typeface="Segoe UI"/>
              </a:defRPr>
            </a:pPr>
            <a:r>
              <a:rPr sz="1575" b="0" i="0">
                <a:solidFill>
                  <a:srgbClr val="5B6670"/>
                </a:solidFill>
                <a:latin typeface="Segoe UI"/>
                <a:ea typeface="Segoe UI"/>
                <a:cs typeface="Segoe UI"/>
              </a:rPr>
              <a:t>A faster way to get from a robot file to a working robot, before spending time on real hardware.</a:t>
            </a:r>
          </a:p>
        </p:txBody>
      </p:sp>
      <p:sp>
        <p:nvSpPr>
          <p:cNvPr id="16" name="Rectangle 15">
            <a:extLst>
              <a:ext uri="{FF2B5EF4-FFF2-40B4-BE49-F238E27FC236}">
                <a16:creationId xmlns:a16="http://schemas.microsoft.com/office/drawing/2014/main" id="{C2E03096-EC68-4E76-99D9-DB8C2A26B429}"/>
              </a:ext>
            </a:extLst>
          </p:cNvPr>
          <p:cNvSpPr>
            <a:spLocks noGrp="1"/>
          </p:cNvSpPr>
          <p:nvPr/>
        </p:nvSpPr>
        <p:spPr>
          <a:xfrm>
            <a:off x="8229600" y="2381250"/>
            <a:ext cx="514350" cy="285750"/>
          </a:xfrm>
          <a:prstGeom prst="rect">
            <a:avLst/>
          </a:prstGeom>
          <a:noFill/>
          <a:ln w="0">
            <a:noFill/>
            <a:prstDash val="solid"/>
          </a:ln>
        </p:spPr>
        <p:txBody>
          <a:bodyPr lIns="0" tIns="0" rIns="0" bIns="0" anchor="t">
            <a:normAutofit/>
          </a:bodyPr>
          <a:lstStyle/>
          <a:p>
            <a:pPr algn="l">
              <a:lnSpc>
                <a:spcPct val="98000"/>
              </a:lnSpc>
              <a:buNone/>
              <a:defRPr sz="1275" b="1" i="0">
                <a:solidFill>
                  <a:srgbClr val="0B6B64"/>
                </a:solidFill>
                <a:latin typeface="Segoe UI Semibold"/>
                <a:ea typeface="Segoe UI Semibold"/>
                <a:cs typeface="Segoe UI Semibold"/>
              </a:defRPr>
            </a:pPr>
            <a:r>
              <a:rPr sz="1275" b="1" i="0">
                <a:solidFill>
                  <a:srgbClr val="0B6B64"/>
                </a:solidFill>
                <a:latin typeface="Segoe UI Semibold"/>
                <a:ea typeface="Segoe UI Semibold"/>
                <a:cs typeface="Segoe UI Semibold"/>
              </a:rPr>
              <a:t>03</a:t>
            </a:r>
          </a:p>
        </p:txBody>
      </p:sp>
      <p:sp>
        <p:nvSpPr>
          <p:cNvPr id="17" name="Rectangle 16">
            <a:extLst>
              <a:ext uri="{FF2B5EF4-FFF2-40B4-BE49-F238E27FC236}">
                <a16:creationId xmlns:a16="http://schemas.microsoft.com/office/drawing/2014/main" id="{3CB55FCB-27A1-4D06-97F7-957B9B4FA6A2}"/>
              </a:ext>
            </a:extLst>
          </p:cNvPr>
          <p:cNvSpPr>
            <a:spLocks noGrp="1"/>
          </p:cNvSpPr>
          <p:nvPr/>
        </p:nvSpPr>
        <p:spPr>
          <a:xfrm>
            <a:off x="8229600" y="2800350"/>
            <a:ext cx="3143250" cy="381000"/>
          </a:xfrm>
          <a:prstGeom prst="rect">
            <a:avLst/>
          </a:prstGeom>
          <a:noFill/>
          <a:ln w="0">
            <a:noFill/>
            <a:prstDash val="solid"/>
          </a:ln>
        </p:spPr>
        <p:txBody>
          <a:bodyPr lIns="0" tIns="0" rIns="0" bIns="0" anchor="t">
            <a:normAutofit/>
          </a:bodyPr>
          <a:lstStyle/>
          <a:p>
            <a:pPr algn="l">
              <a:lnSpc>
                <a:spcPct val="98000"/>
              </a:lnSpc>
              <a:buNone/>
              <a:defRPr sz="2025" b="1" i="0">
                <a:solidFill>
                  <a:srgbClr val="18232F"/>
                </a:solidFill>
                <a:latin typeface="Georgia"/>
                <a:ea typeface="Georgia"/>
                <a:cs typeface="Georgia"/>
              </a:defRPr>
            </a:pPr>
            <a:r>
              <a:rPr sz="2025" b="1" i="0">
                <a:solidFill>
                  <a:srgbClr val="18232F"/>
                </a:solidFill>
                <a:latin typeface="Georgia"/>
                <a:ea typeface="Georgia"/>
                <a:cs typeface="Georgia"/>
              </a:rPr>
              <a:t>Project proof</a:t>
            </a:r>
          </a:p>
        </p:txBody>
      </p:sp>
      <p:sp>
        <p:nvSpPr>
          <p:cNvPr id="18" name="Rectangle 17">
            <a:extLst>
              <a:ext uri="{FF2B5EF4-FFF2-40B4-BE49-F238E27FC236}">
                <a16:creationId xmlns:a16="http://schemas.microsoft.com/office/drawing/2014/main" id="{B739CFEB-E24E-4680-82D4-90AEBE7AF924}"/>
              </a:ext>
            </a:extLst>
          </p:cNvPr>
          <p:cNvSpPr>
            <a:spLocks noGrp="1"/>
          </p:cNvSpPr>
          <p:nvPr/>
        </p:nvSpPr>
        <p:spPr>
          <a:xfrm>
            <a:off x="8229600" y="3352800"/>
            <a:ext cx="762000" cy="38100"/>
          </a:xfrm>
          <a:prstGeom prst="rect">
            <a:avLst/>
          </a:prstGeom>
          <a:solidFill>
            <a:srgbClr val="0B6B64"/>
          </a:solidFill>
          <a:ln w="0">
            <a:noFill/>
            <a:prstDash val="solid"/>
          </a:ln>
        </p:spPr>
        <p:txBody>
          <a:bodyPr/>
          <a:lstStyle/>
          <a:p>
            <a:endParaRPr lang="en-IN"/>
          </a:p>
        </p:txBody>
      </p:sp>
      <p:sp>
        <p:nvSpPr>
          <p:cNvPr id="19" name="Rectangle 18">
            <a:extLst>
              <a:ext uri="{FF2B5EF4-FFF2-40B4-BE49-F238E27FC236}">
                <a16:creationId xmlns:a16="http://schemas.microsoft.com/office/drawing/2014/main" id="{B45F9975-45B8-4E34-BE4D-27780281BD44}"/>
              </a:ext>
            </a:extLst>
          </p:cNvPr>
          <p:cNvSpPr>
            <a:spLocks noGrp="1"/>
          </p:cNvSpPr>
          <p:nvPr/>
        </p:nvSpPr>
        <p:spPr>
          <a:xfrm>
            <a:off x="8229600" y="3676650"/>
            <a:ext cx="3143250" cy="1181100"/>
          </a:xfrm>
          <a:prstGeom prst="rect">
            <a:avLst/>
          </a:prstGeom>
          <a:noFill/>
          <a:ln w="0">
            <a:noFill/>
            <a:prstDash val="solid"/>
          </a:ln>
        </p:spPr>
        <p:txBody>
          <a:bodyPr lIns="0" tIns="0" rIns="0" bIns="0" anchor="t">
            <a:normAutofit/>
          </a:bodyPr>
          <a:lstStyle/>
          <a:p>
            <a:pPr algn="l">
              <a:lnSpc>
                <a:spcPct val="102000"/>
              </a:lnSpc>
              <a:buNone/>
              <a:defRPr sz="1575" b="0" i="0">
                <a:solidFill>
                  <a:srgbClr val="5B6670"/>
                </a:solidFill>
                <a:latin typeface="Segoe UI"/>
                <a:ea typeface="Segoe UI"/>
                <a:cs typeface="Segoe UI"/>
              </a:defRPr>
            </a:pPr>
            <a:r>
              <a:rPr sz="1575" b="0" i="0">
                <a:solidFill>
                  <a:srgbClr val="5B6670"/>
                </a:solidFill>
                <a:latin typeface="Segoe UI"/>
                <a:ea typeface="Segoe UI"/>
                <a:cs typeface="Segoe UI"/>
              </a:rPr>
              <a:t>A galloping Go1, a walking Go1, early humanoid walking, and a comparison of three algorithms that made SAC our default.</a:t>
            </a:r>
          </a:p>
        </p:txBody>
      </p:sp>
      <p:sp>
        <p:nvSpPr>
          <p:cNvPr id="20" name="Rectangle: Rounded Corners 19">
            <a:extLst>
              <a:ext uri="{FF2B5EF4-FFF2-40B4-BE49-F238E27FC236}">
                <a16:creationId xmlns:a16="http://schemas.microsoft.com/office/drawing/2014/main" id="{1E47C784-3C29-4B0B-8CEE-AF1353C9DD6A}"/>
              </a:ext>
            </a:extLst>
          </p:cNvPr>
          <p:cNvSpPr>
            <a:spLocks noGrp="1"/>
          </p:cNvSpPr>
          <p:nvPr/>
        </p:nvSpPr>
        <p:spPr>
          <a:xfrm>
            <a:off x="1066800" y="5334000"/>
            <a:ext cx="10058400" cy="723900"/>
          </a:xfrm>
          <a:prstGeom prst="roundRect">
            <a:avLst>
              <a:gd name="adj" fmla="val 26316"/>
            </a:avLst>
          </a:prstGeom>
          <a:solidFill>
            <a:srgbClr val="0B6B64"/>
          </a:solidFill>
          <a:ln w="0">
            <a:noFill/>
            <a:prstDash val="solid"/>
          </a:ln>
        </p:spPr>
        <p:txBody>
          <a:bodyPr/>
          <a:lstStyle/>
          <a:p>
            <a:endParaRPr lang="en-IN"/>
          </a:p>
        </p:txBody>
      </p:sp>
      <p:sp>
        <p:nvSpPr>
          <p:cNvPr id="21" name="Rectangle 20">
            <a:extLst>
              <a:ext uri="{FF2B5EF4-FFF2-40B4-BE49-F238E27FC236}">
                <a16:creationId xmlns:a16="http://schemas.microsoft.com/office/drawing/2014/main" id="{D8E4E1D3-64A4-42DB-9CEC-EBCDFBCBD948}"/>
              </a:ext>
            </a:extLst>
          </p:cNvPr>
          <p:cNvSpPr>
            <a:spLocks noGrp="1"/>
          </p:cNvSpPr>
          <p:nvPr/>
        </p:nvSpPr>
        <p:spPr>
          <a:xfrm>
            <a:off x="1409700" y="5505450"/>
            <a:ext cx="9372600" cy="400050"/>
          </a:xfrm>
          <a:prstGeom prst="rect">
            <a:avLst/>
          </a:prstGeom>
          <a:noFill/>
          <a:ln w="0">
            <a:noFill/>
            <a:prstDash val="solid"/>
          </a:ln>
        </p:spPr>
        <p:txBody>
          <a:bodyPr lIns="0" tIns="0" rIns="0" bIns="0" anchor="ctr">
            <a:normAutofit fontScale="83326" lnSpcReduction="10000"/>
          </a:bodyPr>
          <a:lstStyle/>
          <a:p>
            <a:pPr algn="ctr">
              <a:lnSpc>
                <a:spcPct val="98000"/>
              </a:lnSpc>
              <a:buNone/>
              <a:defRPr sz="2175" b="1" i="0">
                <a:solidFill>
                  <a:srgbClr val="FFFFFF"/>
                </a:solidFill>
                <a:latin typeface="Georgia"/>
                <a:ea typeface="Georgia"/>
                <a:cs typeface="Georgia"/>
              </a:defRPr>
            </a:pPr>
            <a:r>
              <a:rPr sz="2175" b="1" i="0">
                <a:solidFill>
                  <a:srgbClr val="FFFFFF"/>
                </a:solidFill>
                <a:latin typeface="Georgia"/>
                <a:ea typeface="Georgia"/>
                <a:cs typeface="Georgia"/>
              </a:rPr>
              <a:t>EasyRTG turns robot training from a pile of tools into a process you can follow.</a:t>
            </a:r>
          </a:p>
        </p:txBody>
      </p:sp>
    </p:spTree>
    <p:extLst>
      <p:ext uri="{BB962C8B-B14F-4D97-AF65-F5344CB8AC3E}">
        <p14:creationId xmlns:p14="http://schemas.microsoft.com/office/powerpoint/2010/main" val="895558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101" name="Rectangle 102"/>
          <p:cNvSpPr>
            <a:spLocks noGrp="1"/>
          </p:cNvSpPr>
          <p:nvPr/>
        </p:nvSpPr>
        <p:spPr>
          <a:xfrm>
            <a:off x="11109960" y="265176"/>
            <a:ext cx="402336" cy="228600"/>
          </a:xfrm>
          <a:prstGeom prst="rect">
            <a:avLst/>
          </a:prstGeom>
          <a:noFill/>
          <a:ln w="0">
            <a:noFill/>
            <a:prstDash val="solid"/>
          </a:ln>
        </p:spPr>
        <p:txBody>
          <a:bodyPr lIns="0" tIns="0" rIns="0" bIns="0" anchor="t">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13</a:t>
            </a:r>
          </a:p>
        </p:txBody>
      </p:sp>
      <p:sp>
        <p:nvSpPr>
          <p:cNvPr id="103" name="Rectangle 104"/>
          <p:cNvSpPr>
            <a:spLocks noGrp="1"/>
          </p:cNvSpPr>
          <p:nvPr/>
        </p:nvSpPr>
        <p:spPr>
          <a:xfrm>
            <a:off x="685800" y="713232"/>
            <a:ext cx="10817352" cy="1161288"/>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The assistant grew from a chat helper</a:t>
            </a:r>
          </a:p>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into the part that writes the setup</a:t>
            </a:r>
          </a:p>
        </p:txBody>
      </p:sp>
      <p:sp>
        <p:nvSpPr>
          <p:cNvPr id="105" name="Shape 106"/>
          <p:cNvSpPr>
            <a:spLocks noGrp="1"/>
          </p:cNvSpPr>
          <p:nvPr/>
        </p:nvSpPr>
        <p:spPr>
          <a:xfrm>
            <a:off x="685800" y="6455664"/>
            <a:ext cx="10817352" cy="9510"/>
          </a:xfrm>
          <a:prstGeom prst="rect">
            <a:avLst/>
          </a:prstGeom>
          <a:solidFill>
            <a:srgbClr val="D5DAD6"/>
          </a:solidFill>
          <a:ln w="0">
            <a:noFill/>
            <a:prstDash val="solid"/>
          </a:ln>
        </p:spPr>
        <p:txBody>
          <a:bodyPr/>
          <a:lstStyle/>
          <a:p>
            <a:endParaRPr lang="en-IN"/>
          </a:p>
        </p:txBody>
      </p:sp>
      <p:sp>
        <p:nvSpPr>
          <p:cNvPr id="107" name="Shape 108"/>
          <p:cNvSpPr>
            <a:spLocks noGrp="1"/>
          </p:cNvSpPr>
          <p:nvPr/>
        </p:nvSpPr>
        <p:spPr>
          <a:xfrm>
            <a:off x="1143000" y="3337560"/>
            <a:ext cx="9692640" cy="9510"/>
          </a:xfrm>
          <a:prstGeom prst="rect">
            <a:avLst/>
          </a:prstGeom>
          <a:solidFill>
            <a:srgbClr val="DDEBE7"/>
          </a:solidFill>
          <a:ln w="0">
            <a:noFill/>
            <a:prstDash val="solid"/>
          </a:ln>
        </p:spPr>
        <p:txBody>
          <a:bodyPr/>
          <a:lstStyle/>
          <a:p>
            <a:endParaRPr lang="en-IN"/>
          </a:p>
        </p:txBody>
      </p:sp>
      <p:sp>
        <p:nvSpPr>
          <p:cNvPr id="109" name="Shape 110"/>
          <p:cNvSpPr>
            <a:spLocks noGrp="1"/>
          </p:cNvSpPr>
          <p:nvPr/>
        </p:nvSpPr>
        <p:spPr>
          <a:xfrm>
            <a:off x="722376" y="2514600"/>
            <a:ext cx="2377440" cy="1783080"/>
          </a:xfrm>
          <a:prstGeom prst="roundRect">
            <a:avLst>
              <a:gd name="adj" fmla="val 6000"/>
            </a:avLst>
          </a:prstGeom>
          <a:solidFill>
            <a:srgbClr val="FFFFFF"/>
          </a:solidFill>
          <a:ln w="9525">
            <a:solidFill>
              <a:srgbClr val="D5DAD6"/>
            </a:solidFill>
            <a:prstDash val="solid"/>
          </a:ln>
        </p:spPr>
        <p:txBody>
          <a:bodyPr/>
          <a:lstStyle/>
          <a:p>
            <a:endParaRPr lang="en-IN"/>
          </a:p>
        </p:txBody>
      </p:sp>
      <p:sp>
        <p:nvSpPr>
          <p:cNvPr id="111" name="Rectangle 112"/>
          <p:cNvSpPr>
            <a:spLocks noGrp="1"/>
          </p:cNvSpPr>
          <p:nvPr/>
        </p:nvSpPr>
        <p:spPr>
          <a:xfrm>
            <a:off x="932688" y="2679192"/>
            <a:ext cx="1463040" cy="228600"/>
          </a:xfrm>
          <a:prstGeom prst="rect">
            <a:avLst/>
          </a:prstGeom>
          <a:noFill/>
          <a:ln w="0">
            <a:noFill/>
            <a:prstDash val="solid"/>
          </a:ln>
        </p:spPr>
        <p:txBody>
          <a:bodyPr lIns="0" tIns="0" rIns="0" bIns="0" anchor="t">
            <a:normAutofit/>
          </a:bodyPr>
          <a:lstStyle/>
          <a:p>
            <a:pPr algn="l">
              <a:lnSpc>
                <a:spcPct val="98000"/>
              </a:lnSpc>
              <a:buNone/>
              <a:defRPr sz="1050" b="1" i="0">
                <a:solidFill>
                  <a:srgbClr val="0B6B64"/>
                </a:solidFill>
                <a:latin typeface="Segoe UI Semibold"/>
                <a:ea typeface="Segoe UI Semibold"/>
                <a:cs typeface="Segoe UI Semibold"/>
              </a:defRPr>
            </a:pPr>
            <a:r>
              <a:rPr sz="1050" b="1" i="0">
                <a:solidFill>
                  <a:srgbClr val="0B6B64"/>
                </a:solidFill>
                <a:latin typeface="Segoe UI Semibold"/>
                <a:ea typeface="Segoe UI Semibold"/>
                <a:cs typeface="Segoe UI Semibold"/>
              </a:rPr>
              <a:t>01</a:t>
            </a:r>
          </a:p>
        </p:txBody>
      </p:sp>
      <p:sp>
        <p:nvSpPr>
          <p:cNvPr id="113" name="Rectangle 114"/>
          <p:cNvSpPr>
            <a:spLocks noGrp="1"/>
          </p:cNvSpPr>
          <p:nvPr/>
        </p:nvSpPr>
        <p:spPr>
          <a:xfrm>
            <a:off x="932688" y="2944368"/>
            <a:ext cx="1965960" cy="228600"/>
          </a:xfrm>
          <a:prstGeom prst="rect">
            <a:avLst/>
          </a:prstGeom>
          <a:noFill/>
          <a:ln w="0">
            <a:noFill/>
            <a:prstDash val="solid"/>
          </a:ln>
        </p:spPr>
        <p:txBody>
          <a:bodyPr lIns="0" tIns="0" rIns="0" bIns="0" anchor="t">
            <a:normAutofit/>
          </a:bodyPr>
          <a:lstStyle/>
          <a:p>
            <a:pPr algn="l">
              <a:lnSpc>
                <a:spcPct val="98000"/>
              </a:lnSpc>
              <a:buNone/>
              <a:defRPr sz="1000" b="1" i="0">
                <a:solidFill>
                  <a:srgbClr val="5B6670"/>
                </a:solidFill>
                <a:latin typeface="Segoe UI Semibold"/>
                <a:ea typeface="Segoe UI Semibold"/>
                <a:cs typeface="Segoe UI Semibold"/>
              </a:defRPr>
            </a:pPr>
            <a:r>
              <a:rPr sz="1000" b="1" i="0">
                <a:solidFill>
                  <a:srgbClr val="5B6670"/>
                </a:solidFill>
                <a:latin typeface="Segoe UI Semibold"/>
                <a:ea typeface="Segoe UI Semibold"/>
                <a:cs typeface="Segoe UI Semibold"/>
              </a:rPr>
              <a:t>JUNE</a:t>
            </a:r>
          </a:p>
        </p:txBody>
      </p:sp>
      <p:sp>
        <p:nvSpPr>
          <p:cNvPr id="115" name="Rectangle 116"/>
          <p:cNvSpPr>
            <a:spLocks noGrp="1"/>
          </p:cNvSpPr>
          <p:nvPr/>
        </p:nvSpPr>
        <p:spPr>
          <a:xfrm>
            <a:off x="932688" y="3401568"/>
            <a:ext cx="1965960" cy="320040"/>
          </a:xfrm>
          <a:prstGeom prst="rect">
            <a:avLst/>
          </a:prstGeom>
          <a:noFill/>
          <a:ln w="0">
            <a:noFill/>
            <a:prstDash val="solid"/>
          </a:ln>
        </p:spPr>
        <p:txBody>
          <a:bodyPr lIns="0" tIns="0" rIns="0" bIns="0" anchor="t">
            <a:normAutofit/>
          </a:bodyPr>
          <a:lstStyle/>
          <a:p>
            <a:pPr algn="l">
              <a:lnSpc>
                <a:spcPct val="98000"/>
              </a:lnSpc>
              <a:buNone/>
              <a:defRPr sz="1725" b="1" i="0">
                <a:solidFill>
                  <a:srgbClr val="18232F"/>
                </a:solidFill>
                <a:latin typeface="Segoe UI Semibold"/>
                <a:ea typeface="Segoe UI Semibold"/>
                <a:cs typeface="Segoe UI Semibold"/>
              </a:defRPr>
            </a:pPr>
            <a:r>
              <a:rPr sz="1725" b="1" i="0">
                <a:solidFill>
                  <a:srgbClr val="18232F"/>
                </a:solidFill>
                <a:latin typeface="Segoe UI Semibold"/>
                <a:ea typeface="Segoe UI Semibold"/>
                <a:cs typeface="Segoe UI Semibold"/>
              </a:rPr>
              <a:t>Answers questions</a:t>
            </a:r>
          </a:p>
        </p:txBody>
      </p:sp>
      <p:sp>
        <p:nvSpPr>
          <p:cNvPr id="117" name="Rectangle 118"/>
          <p:cNvSpPr>
            <a:spLocks noGrp="1"/>
          </p:cNvSpPr>
          <p:nvPr/>
        </p:nvSpPr>
        <p:spPr>
          <a:xfrm>
            <a:off x="932688" y="3776472"/>
            <a:ext cx="1965960" cy="502920"/>
          </a:xfrm>
          <a:prstGeom prst="rect">
            <a:avLst/>
          </a:prstGeom>
          <a:noFill/>
          <a:ln w="0">
            <a:noFill/>
            <a:prstDash val="solid"/>
          </a:ln>
        </p:spPr>
        <p:txBody>
          <a:bodyPr lIns="0" tIns="0" rIns="0" bIns="0" anchor="t">
            <a:normAutofit/>
          </a:bodyPr>
          <a:lstStyle/>
          <a:p>
            <a:pPr algn="l">
              <a:lnSpc>
                <a:spcPct val="98000"/>
              </a:lnSpc>
              <a:buNone/>
              <a:defRPr sz="1275" b="0" i="0">
                <a:solidFill>
                  <a:srgbClr val="5B6670"/>
                </a:solidFill>
                <a:latin typeface="Segoe UI"/>
                <a:ea typeface="Segoe UI"/>
                <a:cs typeface="Segoe UI"/>
              </a:defRPr>
            </a:pPr>
            <a:r>
              <a:rPr sz="1275" b="0" i="0">
                <a:solidFill>
                  <a:srgbClr val="5B6670"/>
                </a:solidFill>
                <a:latin typeface="Segoe UI"/>
                <a:ea typeface="Segoe UI"/>
                <a:cs typeface="Segoe UI"/>
              </a:rPr>
              <a:t>It could read the robot. You still filled in every field.</a:t>
            </a:r>
          </a:p>
        </p:txBody>
      </p:sp>
      <p:sp>
        <p:nvSpPr>
          <p:cNvPr id="119" name="Rectangle 120"/>
          <p:cNvSpPr>
            <a:spLocks noGrp="1"/>
          </p:cNvSpPr>
          <p:nvPr/>
        </p:nvSpPr>
        <p:spPr>
          <a:xfrm>
            <a:off x="3127248" y="3291840"/>
            <a:ext cx="402336" cy="320040"/>
          </a:xfrm>
          <a:prstGeom prst="rect">
            <a:avLst/>
          </a:prstGeom>
          <a:noFill/>
          <a:ln w="0">
            <a:noFill/>
            <a:prstDash val="solid"/>
          </a:ln>
        </p:spPr>
        <p:txBody>
          <a:bodyPr lIns="0" tIns="0" rIns="0" bIns="0" anchor="t">
            <a:normAutofit/>
          </a:bodyPr>
          <a:lstStyle/>
          <a:p>
            <a:pPr algn="ctr">
              <a:lnSpc>
                <a:spcPct val="98000"/>
              </a:lnSpc>
              <a:buNone/>
              <a:defRPr sz="1950" b="1" i="0">
                <a:solidFill>
                  <a:srgbClr val="0B6B64"/>
                </a:solidFill>
                <a:latin typeface="Segoe UI Semibold"/>
                <a:ea typeface="Segoe UI Semibold"/>
                <a:cs typeface="Segoe UI Semibold"/>
              </a:defRPr>
            </a:pPr>
            <a:r>
              <a:rPr sz="1950" b="1" i="0">
                <a:solidFill>
                  <a:srgbClr val="0B6B64"/>
                </a:solidFill>
                <a:latin typeface="Segoe UI Semibold"/>
                <a:ea typeface="Segoe UI Semibold"/>
                <a:cs typeface="Segoe UI Semibold"/>
              </a:rPr>
              <a:t>→</a:t>
            </a:r>
          </a:p>
        </p:txBody>
      </p:sp>
      <p:sp>
        <p:nvSpPr>
          <p:cNvPr id="121" name="Shape 122"/>
          <p:cNvSpPr>
            <a:spLocks noGrp="1"/>
          </p:cNvSpPr>
          <p:nvPr/>
        </p:nvSpPr>
        <p:spPr>
          <a:xfrm>
            <a:off x="3547872" y="2514600"/>
            <a:ext cx="2377440" cy="1783080"/>
          </a:xfrm>
          <a:prstGeom prst="roundRect">
            <a:avLst>
              <a:gd name="adj" fmla="val 6000"/>
            </a:avLst>
          </a:prstGeom>
          <a:solidFill>
            <a:srgbClr val="FFFFFF"/>
          </a:solidFill>
          <a:ln w="9525">
            <a:solidFill>
              <a:srgbClr val="D5DAD6"/>
            </a:solidFill>
            <a:prstDash val="solid"/>
          </a:ln>
        </p:spPr>
        <p:txBody>
          <a:bodyPr/>
          <a:lstStyle/>
          <a:p>
            <a:endParaRPr lang="en-IN"/>
          </a:p>
        </p:txBody>
      </p:sp>
      <p:sp>
        <p:nvSpPr>
          <p:cNvPr id="123" name="Rectangle 124"/>
          <p:cNvSpPr>
            <a:spLocks noGrp="1"/>
          </p:cNvSpPr>
          <p:nvPr/>
        </p:nvSpPr>
        <p:spPr>
          <a:xfrm>
            <a:off x="3758184" y="2679192"/>
            <a:ext cx="1463040" cy="228600"/>
          </a:xfrm>
          <a:prstGeom prst="rect">
            <a:avLst/>
          </a:prstGeom>
          <a:noFill/>
          <a:ln w="0">
            <a:noFill/>
            <a:prstDash val="solid"/>
          </a:ln>
        </p:spPr>
        <p:txBody>
          <a:bodyPr lIns="0" tIns="0" rIns="0" bIns="0" anchor="t">
            <a:normAutofit/>
          </a:bodyPr>
          <a:lstStyle/>
          <a:p>
            <a:pPr algn="l">
              <a:lnSpc>
                <a:spcPct val="98000"/>
              </a:lnSpc>
              <a:buNone/>
              <a:defRPr sz="1050" b="1" i="0">
                <a:solidFill>
                  <a:srgbClr val="0B6B64"/>
                </a:solidFill>
                <a:latin typeface="Segoe UI Semibold"/>
                <a:ea typeface="Segoe UI Semibold"/>
                <a:cs typeface="Segoe UI Semibold"/>
              </a:defRPr>
            </a:pPr>
            <a:r>
              <a:rPr sz="1050" b="1" i="0">
                <a:solidFill>
                  <a:srgbClr val="0B6B64"/>
                </a:solidFill>
                <a:latin typeface="Segoe UI Semibold"/>
                <a:ea typeface="Segoe UI Semibold"/>
                <a:cs typeface="Segoe UI Semibold"/>
              </a:rPr>
              <a:t>02</a:t>
            </a:r>
          </a:p>
        </p:txBody>
      </p:sp>
      <p:sp>
        <p:nvSpPr>
          <p:cNvPr id="125" name="Rectangle 126"/>
          <p:cNvSpPr>
            <a:spLocks noGrp="1"/>
          </p:cNvSpPr>
          <p:nvPr/>
        </p:nvSpPr>
        <p:spPr>
          <a:xfrm>
            <a:off x="3758184" y="2944368"/>
            <a:ext cx="1965960" cy="228600"/>
          </a:xfrm>
          <a:prstGeom prst="rect">
            <a:avLst/>
          </a:prstGeom>
          <a:noFill/>
          <a:ln w="0">
            <a:noFill/>
            <a:prstDash val="solid"/>
          </a:ln>
        </p:spPr>
        <p:txBody>
          <a:bodyPr lIns="0" tIns="0" rIns="0" bIns="0" anchor="t">
            <a:normAutofit/>
          </a:bodyPr>
          <a:lstStyle/>
          <a:p>
            <a:pPr algn="l">
              <a:lnSpc>
                <a:spcPct val="98000"/>
              </a:lnSpc>
              <a:buNone/>
              <a:defRPr sz="1000" b="1" i="0">
                <a:solidFill>
                  <a:srgbClr val="5B6670"/>
                </a:solidFill>
                <a:latin typeface="Segoe UI Semibold"/>
                <a:ea typeface="Segoe UI Semibold"/>
                <a:cs typeface="Segoe UI Semibold"/>
              </a:defRPr>
            </a:pPr>
            <a:r>
              <a:rPr sz="1000" b="1" i="0">
                <a:solidFill>
                  <a:srgbClr val="5B6670"/>
                </a:solidFill>
                <a:latin typeface="Segoe UI Semibold"/>
                <a:ea typeface="Segoe UI Semibold"/>
                <a:cs typeface="Segoe UI Semibold"/>
              </a:rPr>
              <a:t>LATE JUNE</a:t>
            </a:r>
          </a:p>
        </p:txBody>
      </p:sp>
      <p:sp>
        <p:nvSpPr>
          <p:cNvPr id="127" name="Rectangle 128"/>
          <p:cNvSpPr>
            <a:spLocks noGrp="1"/>
          </p:cNvSpPr>
          <p:nvPr/>
        </p:nvSpPr>
        <p:spPr>
          <a:xfrm>
            <a:off x="3758184" y="3401568"/>
            <a:ext cx="1965960" cy="320040"/>
          </a:xfrm>
          <a:prstGeom prst="rect">
            <a:avLst/>
          </a:prstGeom>
          <a:noFill/>
          <a:ln w="0">
            <a:noFill/>
            <a:prstDash val="solid"/>
          </a:ln>
        </p:spPr>
        <p:txBody>
          <a:bodyPr lIns="0" tIns="0" rIns="0" bIns="0" anchor="t">
            <a:normAutofit/>
          </a:bodyPr>
          <a:lstStyle/>
          <a:p>
            <a:pPr algn="l">
              <a:lnSpc>
                <a:spcPct val="98000"/>
              </a:lnSpc>
              <a:buNone/>
              <a:defRPr sz="1725" b="1" i="0">
                <a:solidFill>
                  <a:srgbClr val="18232F"/>
                </a:solidFill>
                <a:latin typeface="Segoe UI Semibold"/>
                <a:ea typeface="Segoe UI Semibold"/>
                <a:cs typeface="Segoe UI Semibold"/>
              </a:defRPr>
            </a:pPr>
            <a:r>
              <a:rPr sz="1725" b="1" i="0">
                <a:solidFill>
                  <a:srgbClr val="18232F"/>
                </a:solidFill>
                <a:latin typeface="Segoe UI Semibold"/>
                <a:ea typeface="Segoe UI Semibold"/>
                <a:cs typeface="Segoe UI Semibold"/>
              </a:rPr>
              <a:t>Two AI models</a:t>
            </a:r>
          </a:p>
        </p:txBody>
      </p:sp>
      <p:sp>
        <p:nvSpPr>
          <p:cNvPr id="129" name="Rectangle 130"/>
          <p:cNvSpPr>
            <a:spLocks noGrp="1"/>
          </p:cNvSpPr>
          <p:nvPr/>
        </p:nvSpPr>
        <p:spPr>
          <a:xfrm>
            <a:off x="3758184" y="3776472"/>
            <a:ext cx="1965960" cy="502920"/>
          </a:xfrm>
          <a:prstGeom prst="rect">
            <a:avLst/>
          </a:prstGeom>
          <a:noFill/>
          <a:ln w="0">
            <a:noFill/>
            <a:prstDash val="solid"/>
          </a:ln>
        </p:spPr>
        <p:txBody>
          <a:bodyPr lIns="0" tIns="0" rIns="0" bIns="0" anchor="t">
            <a:normAutofit/>
          </a:bodyPr>
          <a:lstStyle/>
          <a:p>
            <a:pPr algn="l">
              <a:lnSpc>
                <a:spcPct val="98000"/>
              </a:lnSpc>
              <a:buNone/>
              <a:defRPr sz="1275" b="0" i="0">
                <a:solidFill>
                  <a:srgbClr val="5B6670"/>
                </a:solidFill>
                <a:latin typeface="Segoe UI"/>
                <a:ea typeface="Segoe UI"/>
                <a:cs typeface="Segoe UI"/>
              </a:defRPr>
            </a:pPr>
            <a:r>
              <a:rPr sz="1275" b="0" i="0">
                <a:solidFill>
                  <a:srgbClr val="5B6670"/>
                </a:solidFill>
                <a:latin typeface="Segoe UI"/>
                <a:ea typeface="Segoe UI"/>
                <a:cs typeface="Segoe UI"/>
              </a:rPr>
              <a:t>It picks the better model for each question.</a:t>
            </a:r>
          </a:p>
        </p:txBody>
      </p:sp>
      <p:sp>
        <p:nvSpPr>
          <p:cNvPr id="131" name="Rectangle 132"/>
          <p:cNvSpPr>
            <a:spLocks noGrp="1"/>
          </p:cNvSpPr>
          <p:nvPr/>
        </p:nvSpPr>
        <p:spPr>
          <a:xfrm>
            <a:off x="5952744" y="3291840"/>
            <a:ext cx="402336" cy="320040"/>
          </a:xfrm>
          <a:prstGeom prst="rect">
            <a:avLst/>
          </a:prstGeom>
          <a:noFill/>
          <a:ln w="0">
            <a:noFill/>
            <a:prstDash val="solid"/>
          </a:ln>
        </p:spPr>
        <p:txBody>
          <a:bodyPr lIns="0" tIns="0" rIns="0" bIns="0" anchor="t">
            <a:normAutofit/>
          </a:bodyPr>
          <a:lstStyle/>
          <a:p>
            <a:pPr algn="ctr">
              <a:lnSpc>
                <a:spcPct val="98000"/>
              </a:lnSpc>
              <a:buNone/>
              <a:defRPr sz="1950" b="1" i="0">
                <a:solidFill>
                  <a:srgbClr val="0B6B64"/>
                </a:solidFill>
                <a:latin typeface="Segoe UI Semibold"/>
                <a:ea typeface="Segoe UI Semibold"/>
                <a:cs typeface="Segoe UI Semibold"/>
              </a:defRPr>
            </a:pPr>
            <a:r>
              <a:rPr sz="1950" b="1" i="0">
                <a:solidFill>
                  <a:srgbClr val="0B6B64"/>
                </a:solidFill>
                <a:latin typeface="Segoe UI Semibold"/>
                <a:ea typeface="Segoe UI Semibold"/>
                <a:cs typeface="Segoe UI Semibold"/>
              </a:rPr>
              <a:t>→</a:t>
            </a:r>
          </a:p>
        </p:txBody>
      </p:sp>
      <p:sp>
        <p:nvSpPr>
          <p:cNvPr id="133" name="Shape 134"/>
          <p:cNvSpPr>
            <a:spLocks noGrp="1"/>
          </p:cNvSpPr>
          <p:nvPr/>
        </p:nvSpPr>
        <p:spPr>
          <a:xfrm>
            <a:off x="6364224" y="2514600"/>
            <a:ext cx="2377440" cy="1783080"/>
          </a:xfrm>
          <a:prstGeom prst="roundRect">
            <a:avLst>
              <a:gd name="adj" fmla="val 6000"/>
            </a:avLst>
          </a:prstGeom>
          <a:solidFill>
            <a:srgbClr val="FFFFFF"/>
          </a:solidFill>
          <a:ln w="9525">
            <a:solidFill>
              <a:srgbClr val="D5DAD6"/>
            </a:solidFill>
            <a:prstDash val="solid"/>
          </a:ln>
        </p:spPr>
        <p:txBody>
          <a:bodyPr/>
          <a:lstStyle/>
          <a:p>
            <a:endParaRPr lang="en-IN"/>
          </a:p>
        </p:txBody>
      </p:sp>
      <p:sp>
        <p:nvSpPr>
          <p:cNvPr id="135" name="Rectangle 136"/>
          <p:cNvSpPr>
            <a:spLocks noGrp="1"/>
          </p:cNvSpPr>
          <p:nvPr/>
        </p:nvSpPr>
        <p:spPr>
          <a:xfrm>
            <a:off x="6574536" y="2679192"/>
            <a:ext cx="1463040" cy="228600"/>
          </a:xfrm>
          <a:prstGeom prst="rect">
            <a:avLst/>
          </a:prstGeom>
          <a:noFill/>
          <a:ln w="0">
            <a:noFill/>
            <a:prstDash val="solid"/>
          </a:ln>
        </p:spPr>
        <p:txBody>
          <a:bodyPr lIns="0" tIns="0" rIns="0" bIns="0" anchor="t">
            <a:normAutofit/>
          </a:bodyPr>
          <a:lstStyle/>
          <a:p>
            <a:pPr algn="l">
              <a:lnSpc>
                <a:spcPct val="98000"/>
              </a:lnSpc>
              <a:buNone/>
              <a:defRPr sz="1050" b="1" i="0">
                <a:solidFill>
                  <a:srgbClr val="0B6B64"/>
                </a:solidFill>
                <a:latin typeface="Segoe UI Semibold"/>
                <a:ea typeface="Segoe UI Semibold"/>
                <a:cs typeface="Segoe UI Semibold"/>
              </a:defRPr>
            </a:pPr>
            <a:r>
              <a:rPr sz="1050" b="1" i="0">
                <a:solidFill>
                  <a:srgbClr val="0B6B64"/>
                </a:solidFill>
                <a:latin typeface="Segoe UI Semibold"/>
                <a:ea typeface="Segoe UI Semibold"/>
                <a:cs typeface="Segoe UI Semibold"/>
              </a:rPr>
              <a:t>03</a:t>
            </a:r>
          </a:p>
        </p:txBody>
      </p:sp>
      <p:sp>
        <p:nvSpPr>
          <p:cNvPr id="137" name="Rectangle 138"/>
          <p:cNvSpPr>
            <a:spLocks noGrp="1"/>
          </p:cNvSpPr>
          <p:nvPr/>
        </p:nvSpPr>
        <p:spPr>
          <a:xfrm>
            <a:off x="6574536" y="2944368"/>
            <a:ext cx="1965960" cy="228600"/>
          </a:xfrm>
          <a:prstGeom prst="rect">
            <a:avLst/>
          </a:prstGeom>
          <a:noFill/>
          <a:ln w="0">
            <a:noFill/>
            <a:prstDash val="solid"/>
          </a:ln>
        </p:spPr>
        <p:txBody>
          <a:bodyPr lIns="0" tIns="0" rIns="0" bIns="0" anchor="t">
            <a:normAutofit/>
          </a:bodyPr>
          <a:lstStyle/>
          <a:p>
            <a:pPr algn="l">
              <a:lnSpc>
                <a:spcPct val="98000"/>
              </a:lnSpc>
              <a:buNone/>
              <a:defRPr sz="1000" b="1" i="0">
                <a:solidFill>
                  <a:srgbClr val="5B6670"/>
                </a:solidFill>
                <a:latin typeface="Segoe UI Semibold"/>
                <a:ea typeface="Segoe UI Semibold"/>
                <a:cs typeface="Segoe UI Semibold"/>
              </a:defRPr>
            </a:pPr>
            <a:r>
              <a:rPr sz="1000" b="1" i="0">
                <a:solidFill>
                  <a:srgbClr val="5B6670"/>
                </a:solidFill>
                <a:latin typeface="Segoe UI Semibold"/>
                <a:ea typeface="Segoe UI Semibold"/>
                <a:cs typeface="Segoe UI Semibold"/>
              </a:rPr>
              <a:t>EARLY JULY</a:t>
            </a:r>
          </a:p>
        </p:txBody>
      </p:sp>
      <p:sp>
        <p:nvSpPr>
          <p:cNvPr id="139" name="Rectangle 140"/>
          <p:cNvSpPr>
            <a:spLocks noGrp="1"/>
          </p:cNvSpPr>
          <p:nvPr/>
        </p:nvSpPr>
        <p:spPr>
          <a:xfrm>
            <a:off x="6574536" y="3401568"/>
            <a:ext cx="1965960" cy="320040"/>
          </a:xfrm>
          <a:prstGeom prst="rect">
            <a:avLst/>
          </a:prstGeom>
          <a:noFill/>
          <a:ln w="0">
            <a:noFill/>
            <a:prstDash val="solid"/>
          </a:ln>
        </p:spPr>
        <p:txBody>
          <a:bodyPr lIns="0" tIns="0" rIns="0" bIns="0" anchor="t">
            <a:normAutofit/>
          </a:bodyPr>
          <a:lstStyle/>
          <a:p>
            <a:pPr algn="l">
              <a:lnSpc>
                <a:spcPct val="98000"/>
              </a:lnSpc>
              <a:buNone/>
              <a:defRPr sz="1725" b="1" i="0">
                <a:solidFill>
                  <a:srgbClr val="18232F"/>
                </a:solidFill>
                <a:latin typeface="Segoe UI Semibold"/>
                <a:ea typeface="Segoe UI Semibold"/>
                <a:cs typeface="Segoe UI Semibold"/>
              </a:defRPr>
            </a:pPr>
            <a:r>
              <a:rPr sz="1725" b="1" i="0">
                <a:solidFill>
                  <a:srgbClr val="18232F"/>
                </a:solidFill>
                <a:latin typeface="Segoe UI Semibold"/>
                <a:ea typeface="Segoe UI Semibold"/>
                <a:cs typeface="Segoe UI Semibold"/>
              </a:rPr>
              <a:t>Asks first</a:t>
            </a:r>
          </a:p>
        </p:txBody>
      </p:sp>
      <p:sp>
        <p:nvSpPr>
          <p:cNvPr id="141" name="Rectangle 142"/>
          <p:cNvSpPr>
            <a:spLocks noGrp="1"/>
          </p:cNvSpPr>
          <p:nvPr/>
        </p:nvSpPr>
        <p:spPr>
          <a:xfrm>
            <a:off x="6574536" y="3776472"/>
            <a:ext cx="1965960" cy="502920"/>
          </a:xfrm>
          <a:prstGeom prst="rect">
            <a:avLst/>
          </a:prstGeom>
          <a:noFill/>
          <a:ln w="0">
            <a:noFill/>
            <a:prstDash val="solid"/>
          </a:ln>
        </p:spPr>
        <p:txBody>
          <a:bodyPr lIns="0" tIns="0" rIns="0" bIns="0" anchor="t">
            <a:normAutofit/>
          </a:bodyPr>
          <a:lstStyle/>
          <a:p>
            <a:pPr algn="l">
              <a:lnSpc>
                <a:spcPct val="98000"/>
              </a:lnSpc>
              <a:buNone/>
              <a:defRPr sz="1275" b="0" i="0">
                <a:solidFill>
                  <a:srgbClr val="5B6670"/>
                </a:solidFill>
                <a:latin typeface="Segoe UI"/>
                <a:ea typeface="Segoe UI"/>
                <a:cs typeface="Segoe UI"/>
              </a:defRPr>
            </a:pPr>
            <a:r>
              <a:rPr sz="1275" b="0" i="0">
                <a:solidFill>
                  <a:srgbClr val="5B6670"/>
                </a:solidFill>
                <a:latin typeface="Segoe UI"/>
                <a:ea typeface="Segoe UI"/>
                <a:cs typeface="Segoe UI"/>
              </a:rPr>
              <a:t>Anything that changes the setup needs your approval.</a:t>
            </a:r>
          </a:p>
        </p:txBody>
      </p:sp>
      <p:sp>
        <p:nvSpPr>
          <p:cNvPr id="143" name="Rectangle 144"/>
          <p:cNvSpPr>
            <a:spLocks noGrp="1"/>
          </p:cNvSpPr>
          <p:nvPr/>
        </p:nvSpPr>
        <p:spPr>
          <a:xfrm>
            <a:off x="8769096" y="3291840"/>
            <a:ext cx="402336" cy="320040"/>
          </a:xfrm>
          <a:prstGeom prst="rect">
            <a:avLst/>
          </a:prstGeom>
          <a:noFill/>
          <a:ln w="0">
            <a:noFill/>
            <a:prstDash val="solid"/>
          </a:ln>
        </p:spPr>
        <p:txBody>
          <a:bodyPr lIns="0" tIns="0" rIns="0" bIns="0" anchor="t">
            <a:normAutofit/>
          </a:bodyPr>
          <a:lstStyle/>
          <a:p>
            <a:pPr algn="ctr">
              <a:lnSpc>
                <a:spcPct val="98000"/>
              </a:lnSpc>
              <a:buNone/>
              <a:defRPr sz="1950" b="1" i="0">
                <a:solidFill>
                  <a:srgbClr val="0B6B64"/>
                </a:solidFill>
                <a:latin typeface="Segoe UI Semibold"/>
                <a:ea typeface="Segoe UI Semibold"/>
                <a:cs typeface="Segoe UI Semibold"/>
              </a:defRPr>
            </a:pPr>
            <a:r>
              <a:rPr sz="1950" b="1" i="0">
                <a:solidFill>
                  <a:srgbClr val="0B6B64"/>
                </a:solidFill>
                <a:latin typeface="Segoe UI Semibold"/>
                <a:ea typeface="Segoe UI Semibold"/>
                <a:cs typeface="Segoe UI Semibold"/>
              </a:rPr>
              <a:t>→</a:t>
            </a:r>
          </a:p>
        </p:txBody>
      </p:sp>
      <p:sp>
        <p:nvSpPr>
          <p:cNvPr id="145" name="Shape 146"/>
          <p:cNvSpPr>
            <a:spLocks noGrp="1"/>
          </p:cNvSpPr>
          <p:nvPr/>
        </p:nvSpPr>
        <p:spPr>
          <a:xfrm>
            <a:off x="9162288" y="2514600"/>
            <a:ext cx="2377440" cy="1783080"/>
          </a:xfrm>
          <a:prstGeom prst="roundRect">
            <a:avLst>
              <a:gd name="adj" fmla="val 6000"/>
            </a:avLst>
          </a:prstGeom>
          <a:solidFill>
            <a:srgbClr val="FFFFFF"/>
          </a:solidFill>
          <a:ln w="9525">
            <a:solidFill>
              <a:srgbClr val="D5DAD6"/>
            </a:solidFill>
            <a:prstDash val="solid"/>
          </a:ln>
        </p:spPr>
        <p:txBody>
          <a:bodyPr/>
          <a:lstStyle/>
          <a:p>
            <a:endParaRPr lang="en-IN"/>
          </a:p>
        </p:txBody>
      </p:sp>
      <p:sp>
        <p:nvSpPr>
          <p:cNvPr id="147" name="Rectangle 148"/>
          <p:cNvSpPr>
            <a:spLocks noGrp="1"/>
          </p:cNvSpPr>
          <p:nvPr/>
        </p:nvSpPr>
        <p:spPr>
          <a:xfrm>
            <a:off x="9372600" y="2679192"/>
            <a:ext cx="1463040" cy="228600"/>
          </a:xfrm>
          <a:prstGeom prst="rect">
            <a:avLst/>
          </a:prstGeom>
          <a:noFill/>
          <a:ln w="0">
            <a:noFill/>
            <a:prstDash val="solid"/>
          </a:ln>
        </p:spPr>
        <p:txBody>
          <a:bodyPr lIns="0" tIns="0" rIns="0" bIns="0" anchor="t">
            <a:normAutofit/>
          </a:bodyPr>
          <a:lstStyle/>
          <a:p>
            <a:pPr algn="l">
              <a:lnSpc>
                <a:spcPct val="98000"/>
              </a:lnSpc>
              <a:buNone/>
              <a:defRPr sz="1050" b="1" i="0">
                <a:solidFill>
                  <a:srgbClr val="0B6B64"/>
                </a:solidFill>
                <a:latin typeface="Segoe UI Semibold"/>
                <a:ea typeface="Segoe UI Semibold"/>
                <a:cs typeface="Segoe UI Semibold"/>
              </a:defRPr>
            </a:pPr>
            <a:r>
              <a:rPr sz="1050" b="1" i="0">
                <a:solidFill>
                  <a:srgbClr val="0B6B64"/>
                </a:solidFill>
                <a:latin typeface="Segoe UI Semibold"/>
                <a:ea typeface="Segoe UI Semibold"/>
                <a:cs typeface="Segoe UI Semibold"/>
              </a:rPr>
              <a:t>04</a:t>
            </a:r>
          </a:p>
        </p:txBody>
      </p:sp>
      <p:sp>
        <p:nvSpPr>
          <p:cNvPr id="149" name="Rectangle 150"/>
          <p:cNvSpPr>
            <a:spLocks noGrp="1"/>
          </p:cNvSpPr>
          <p:nvPr/>
        </p:nvSpPr>
        <p:spPr>
          <a:xfrm>
            <a:off x="9372600" y="2944368"/>
            <a:ext cx="1965960" cy="228600"/>
          </a:xfrm>
          <a:prstGeom prst="rect">
            <a:avLst/>
          </a:prstGeom>
          <a:noFill/>
          <a:ln w="0">
            <a:noFill/>
            <a:prstDash val="solid"/>
          </a:ln>
        </p:spPr>
        <p:txBody>
          <a:bodyPr lIns="0" tIns="0" rIns="0" bIns="0" anchor="t">
            <a:normAutofit/>
          </a:bodyPr>
          <a:lstStyle/>
          <a:p>
            <a:pPr algn="l">
              <a:lnSpc>
                <a:spcPct val="98000"/>
              </a:lnSpc>
              <a:buNone/>
              <a:defRPr sz="1000" b="1" i="0">
                <a:solidFill>
                  <a:srgbClr val="5B6670"/>
                </a:solidFill>
                <a:latin typeface="Segoe UI Semibold"/>
                <a:ea typeface="Segoe UI Semibold"/>
                <a:cs typeface="Segoe UI Semibold"/>
              </a:defRPr>
            </a:pPr>
            <a:r>
              <a:rPr sz="1000" b="1" i="0">
                <a:solidFill>
                  <a:srgbClr val="5B6670"/>
                </a:solidFill>
                <a:latin typeface="Segoe UI Semibold"/>
                <a:ea typeface="Segoe UI Semibold"/>
                <a:cs typeface="Segoe UI Semibold"/>
              </a:rPr>
              <a:t>AUGUST</a:t>
            </a:r>
          </a:p>
        </p:txBody>
      </p:sp>
      <p:sp>
        <p:nvSpPr>
          <p:cNvPr id="151" name="Rectangle 152"/>
          <p:cNvSpPr>
            <a:spLocks noGrp="1"/>
          </p:cNvSpPr>
          <p:nvPr/>
        </p:nvSpPr>
        <p:spPr>
          <a:xfrm>
            <a:off x="9372600" y="3401568"/>
            <a:ext cx="1965960" cy="320040"/>
          </a:xfrm>
          <a:prstGeom prst="rect">
            <a:avLst/>
          </a:prstGeom>
          <a:noFill/>
          <a:ln w="0">
            <a:noFill/>
            <a:prstDash val="solid"/>
          </a:ln>
        </p:spPr>
        <p:txBody>
          <a:bodyPr lIns="0" tIns="0" rIns="0" bIns="0" anchor="t">
            <a:normAutofit/>
          </a:bodyPr>
          <a:lstStyle/>
          <a:p>
            <a:pPr algn="l">
              <a:lnSpc>
                <a:spcPct val="98000"/>
              </a:lnSpc>
              <a:buNone/>
              <a:defRPr sz="1725" b="1" i="0">
                <a:solidFill>
                  <a:srgbClr val="18232F"/>
                </a:solidFill>
                <a:latin typeface="Segoe UI Semibold"/>
                <a:ea typeface="Segoe UI Semibold"/>
                <a:cs typeface="Segoe UI Semibold"/>
              </a:defRPr>
            </a:pPr>
            <a:r>
              <a:rPr sz="1725" b="1" i="0">
                <a:solidFill>
                  <a:srgbClr val="18232F"/>
                </a:solidFill>
                <a:latin typeface="Segoe UI Semibold"/>
                <a:ea typeface="Segoe UI Semibold"/>
                <a:cs typeface="Segoe UI Semibold"/>
              </a:rPr>
              <a:t>Writes the reward</a:t>
            </a:r>
          </a:p>
        </p:txBody>
      </p:sp>
      <p:sp>
        <p:nvSpPr>
          <p:cNvPr id="153" name="Rectangle 154"/>
          <p:cNvSpPr>
            <a:spLocks noGrp="1"/>
          </p:cNvSpPr>
          <p:nvPr/>
        </p:nvSpPr>
        <p:spPr>
          <a:xfrm>
            <a:off x="9372600" y="3776472"/>
            <a:ext cx="1965960" cy="502920"/>
          </a:xfrm>
          <a:prstGeom prst="rect">
            <a:avLst/>
          </a:prstGeom>
          <a:noFill/>
          <a:ln w="0">
            <a:noFill/>
            <a:prstDash val="solid"/>
          </a:ln>
        </p:spPr>
        <p:txBody>
          <a:bodyPr lIns="0" tIns="0" rIns="0" bIns="0" anchor="t">
            <a:normAutofit/>
          </a:bodyPr>
          <a:lstStyle/>
          <a:p>
            <a:pPr algn="l">
              <a:lnSpc>
                <a:spcPct val="98000"/>
              </a:lnSpc>
              <a:buNone/>
              <a:defRPr sz="1275" b="0" i="0">
                <a:solidFill>
                  <a:srgbClr val="5B6670"/>
                </a:solidFill>
                <a:latin typeface="Segoe UI"/>
                <a:ea typeface="Segoe UI"/>
                <a:cs typeface="Segoe UI"/>
              </a:defRPr>
            </a:pPr>
            <a:r>
              <a:rPr sz="1275" b="0" i="0">
                <a:solidFill>
                  <a:srgbClr val="5B6670"/>
                </a:solidFill>
                <a:latin typeface="Segoe UI"/>
                <a:ea typeface="Segoe UI"/>
                <a:cs typeface="Segoe UI"/>
              </a:rPr>
              <a:t>If the reward is wrong, it sees the error and fixes it.</a:t>
            </a:r>
          </a:p>
        </p:txBody>
      </p:sp>
      <p:sp>
        <p:nvSpPr>
          <p:cNvPr id="155" name="Shape 156"/>
          <p:cNvSpPr>
            <a:spLocks noGrp="1"/>
          </p:cNvSpPr>
          <p:nvPr/>
        </p:nvSpPr>
        <p:spPr>
          <a:xfrm>
            <a:off x="722376" y="4709160"/>
            <a:ext cx="10780776" cy="960120"/>
          </a:xfrm>
          <a:prstGeom prst="roundRect">
            <a:avLst>
              <a:gd name="adj" fmla="val 8000"/>
            </a:avLst>
          </a:prstGeom>
          <a:solidFill>
            <a:srgbClr val="DDEBE7"/>
          </a:solidFill>
          <a:ln w="0">
            <a:noFill/>
            <a:prstDash val="solid"/>
          </a:ln>
        </p:spPr>
        <p:txBody>
          <a:bodyPr/>
          <a:lstStyle/>
          <a:p>
            <a:endParaRPr lang="en-IN"/>
          </a:p>
        </p:txBody>
      </p:sp>
      <p:sp>
        <p:nvSpPr>
          <p:cNvPr id="157" name="Rectangle 158"/>
          <p:cNvSpPr>
            <a:spLocks noGrp="1"/>
          </p:cNvSpPr>
          <p:nvPr/>
        </p:nvSpPr>
        <p:spPr>
          <a:xfrm>
            <a:off x="1051560" y="4901184"/>
            <a:ext cx="10149840" cy="640080"/>
          </a:xfrm>
          <a:prstGeom prst="rect">
            <a:avLst/>
          </a:prstGeom>
          <a:noFill/>
          <a:ln w="0">
            <a:noFill/>
            <a:prstDash val="solid"/>
          </a:ln>
        </p:spPr>
        <p:txBody>
          <a:bodyPr lIns="0" tIns="0" rIns="0" bIns="0" anchor="t">
            <a:normAutofit/>
          </a:bodyPr>
          <a:lstStyle/>
          <a:p>
            <a:pPr algn="l">
              <a:lnSpc>
                <a:spcPct val="98000"/>
              </a:lnSpc>
              <a:buNone/>
              <a:defRPr sz="1500" b="0" i="0">
                <a:solidFill>
                  <a:srgbClr val="18232F"/>
                </a:solidFill>
                <a:latin typeface="Segoe UI"/>
                <a:ea typeface="Segoe UI"/>
                <a:cs typeface="Segoe UI"/>
              </a:defRPr>
            </a:pPr>
            <a:r>
              <a:rPr sz="1500" b="0" i="0">
                <a:solidFill>
                  <a:srgbClr val="18232F"/>
                </a:solidFill>
                <a:latin typeface="Segoe UI"/>
                <a:ea typeface="Segoe UI"/>
                <a:cs typeface="Segoe UI"/>
              </a:rPr>
              <a:t>It went from 22 tools to 27. The bigger change was giving it a reward format the app can check,</a:t>
            </a:r>
          </a:p>
          <a:p>
            <a:pPr algn="l">
              <a:lnSpc>
                <a:spcPct val="98000"/>
              </a:lnSpc>
              <a:buNone/>
              <a:defRPr sz="1500" b="0" i="0">
                <a:solidFill>
                  <a:srgbClr val="18232F"/>
                </a:solidFill>
                <a:latin typeface="Segoe UI"/>
                <a:ea typeface="Segoe UI"/>
                <a:cs typeface="Segoe UI"/>
              </a:defRPr>
            </a:pPr>
            <a:r>
              <a:rPr sz="1500" b="0" i="0">
                <a:solidFill>
                  <a:srgbClr val="18232F"/>
                </a:solidFill>
                <a:latin typeface="Segoe UI"/>
                <a:ea typeface="Segoe UI"/>
                <a:cs typeface="Segoe UI"/>
              </a:rPr>
              <a:t>so a mistake comes straight back to the assistant instead of wasting hours of training.</a:t>
            </a:r>
          </a:p>
        </p:txBody>
      </p:sp>
      <p:sp>
        <p:nvSpPr>
          <p:cNvPr id="159" name="Rectangle 160"/>
          <p:cNvSpPr>
            <a:spLocks noGrp="1"/>
          </p:cNvSpPr>
          <p:nvPr/>
        </p:nvSpPr>
        <p:spPr>
          <a:xfrm>
            <a:off x="722376" y="5870448"/>
            <a:ext cx="10817352" cy="457200"/>
          </a:xfrm>
          <a:prstGeom prst="rect">
            <a:avLst/>
          </a:prstGeom>
          <a:noFill/>
          <a:ln w="0">
            <a:noFill/>
            <a:prstDash val="solid"/>
          </a:ln>
        </p:spPr>
        <p:txBody>
          <a:bodyPr lIns="0" tIns="0" rIns="0" bIns="0" anchor="t">
            <a:normAutofit/>
          </a:bodyPr>
          <a:lstStyle/>
          <a:p>
            <a:pPr algn="l">
              <a:lnSpc>
                <a:spcPct val="98000"/>
              </a:lnSpc>
              <a:buNone/>
              <a:defRPr sz="1500" b="0" i="0">
                <a:solidFill>
                  <a:srgbClr val="5B6670"/>
                </a:solidFill>
                <a:latin typeface="Segoe UI"/>
                <a:ea typeface="Segoe UI"/>
                <a:cs typeface="Segoe UI"/>
              </a:defRPr>
            </a:pPr>
            <a:r>
              <a:rPr sz="1500" b="0" i="0">
                <a:solidFill>
                  <a:srgbClr val="5B6670"/>
                </a:solidFill>
                <a:latin typeface="Segoe UI"/>
                <a:ea typeface="Segoe UI"/>
                <a:cs typeface="Segoe UI"/>
              </a:rPr>
              <a:t>11 of the 27 tools still ask you to confirm before they run.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161" name="Rectangle 162"/>
          <p:cNvSpPr>
            <a:spLocks noGrp="1"/>
          </p:cNvSpPr>
          <p:nvPr/>
        </p:nvSpPr>
        <p:spPr>
          <a:xfrm>
            <a:off x="11109960" y="265176"/>
            <a:ext cx="402336" cy="228600"/>
          </a:xfrm>
          <a:prstGeom prst="rect">
            <a:avLst/>
          </a:prstGeom>
          <a:noFill/>
          <a:ln w="0">
            <a:noFill/>
            <a:prstDash val="solid"/>
          </a:ln>
        </p:spPr>
        <p:txBody>
          <a:bodyPr lIns="0" tIns="0" rIns="0" bIns="0" anchor="t">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14</a:t>
            </a:r>
          </a:p>
        </p:txBody>
      </p:sp>
      <p:sp>
        <p:nvSpPr>
          <p:cNvPr id="163" name="Rectangle 164"/>
          <p:cNvSpPr>
            <a:spLocks noGrp="1"/>
          </p:cNvSpPr>
          <p:nvPr/>
        </p:nvSpPr>
        <p:spPr>
          <a:xfrm>
            <a:off x="685800" y="713232"/>
            <a:ext cx="10817352" cy="1161288"/>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The reward the assistant writes</a:t>
            </a:r>
          </a:p>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has improved six times</a:t>
            </a:r>
          </a:p>
        </p:txBody>
      </p:sp>
      <p:sp>
        <p:nvSpPr>
          <p:cNvPr id="165" name="Shape 166"/>
          <p:cNvSpPr>
            <a:spLocks noGrp="1"/>
          </p:cNvSpPr>
          <p:nvPr/>
        </p:nvSpPr>
        <p:spPr>
          <a:xfrm>
            <a:off x="685800" y="6455664"/>
            <a:ext cx="10817352" cy="9510"/>
          </a:xfrm>
          <a:prstGeom prst="rect">
            <a:avLst/>
          </a:prstGeom>
          <a:solidFill>
            <a:srgbClr val="D5DAD6"/>
          </a:solidFill>
          <a:ln w="0">
            <a:noFill/>
            <a:prstDash val="solid"/>
          </a:ln>
        </p:spPr>
        <p:txBody>
          <a:bodyPr/>
          <a:lstStyle/>
          <a:p>
            <a:endParaRPr lang="en-IN"/>
          </a:p>
        </p:txBody>
      </p:sp>
      <p:sp>
        <p:nvSpPr>
          <p:cNvPr id="167" name="Rectangle 168"/>
          <p:cNvSpPr>
            <a:spLocks noGrp="1"/>
          </p:cNvSpPr>
          <p:nvPr/>
        </p:nvSpPr>
        <p:spPr>
          <a:xfrm>
            <a:off x="758952" y="1920240"/>
            <a:ext cx="2478024" cy="301752"/>
          </a:xfrm>
          <a:prstGeom prst="rect">
            <a:avLst/>
          </a:prstGeom>
          <a:noFill/>
          <a:ln w="0">
            <a:noFill/>
            <a:prstDash val="solid"/>
          </a:ln>
        </p:spPr>
        <p:txBody>
          <a:bodyPr lIns="0" tIns="0" rIns="0" bIns="0" anchor="t">
            <a:normAutofit/>
          </a:bodyPr>
          <a:lstStyle/>
          <a:p>
            <a:pPr algn="l">
              <a:lnSpc>
                <a:spcPct val="98000"/>
              </a:lnSpc>
              <a:buNone/>
              <a:defRPr sz="1650" b="1" i="0">
                <a:solidFill>
                  <a:srgbClr val="5B6670"/>
                </a:solidFill>
                <a:latin typeface="Segoe UI Semibold"/>
                <a:ea typeface="Segoe UI Semibold"/>
                <a:cs typeface="Segoe UI Semibold"/>
              </a:defRPr>
            </a:pPr>
            <a:r>
              <a:rPr sz="1650" b="1" i="0">
                <a:solidFill>
                  <a:srgbClr val="5B6670"/>
                </a:solidFill>
                <a:latin typeface="Segoe UI Semibold"/>
                <a:ea typeface="Segoe UI Semibold"/>
                <a:cs typeface="Segoe UI Semibold"/>
              </a:rPr>
              <a:t>Version</a:t>
            </a:r>
          </a:p>
        </p:txBody>
      </p:sp>
      <p:sp>
        <p:nvSpPr>
          <p:cNvPr id="169" name="Rectangle 170"/>
          <p:cNvSpPr>
            <a:spLocks noGrp="1"/>
          </p:cNvSpPr>
          <p:nvPr/>
        </p:nvSpPr>
        <p:spPr>
          <a:xfrm>
            <a:off x="3246120" y="1920240"/>
            <a:ext cx="6035040" cy="301752"/>
          </a:xfrm>
          <a:prstGeom prst="rect">
            <a:avLst/>
          </a:prstGeom>
          <a:noFill/>
          <a:ln w="0">
            <a:noFill/>
            <a:prstDash val="solid"/>
          </a:ln>
        </p:spPr>
        <p:txBody>
          <a:bodyPr lIns="0" tIns="0" rIns="0" bIns="0" anchor="t">
            <a:normAutofit/>
          </a:bodyPr>
          <a:lstStyle/>
          <a:p>
            <a:pPr algn="l">
              <a:lnSpc>
                <a:spcPct val="98000"/>
              </a:lnSpc>
              <a:buNone/>
              <a:defRPr sz="1650" b="1" i="0">
                <a:solidFill>
                  <a:srgbClr val="5B6670"/>
                </a:solidFill>
                <a:latin typeface="Segoe UI Semibold"/>
                <a:ea typeface="Segoe UI Semibold"/>
                <a:cs typeface="Segoe UI Semibold"/>
              </a:defRPr>
            </a:pPr>
            <a:r>
              <a:rPr sz="1650" b="1" i="0">
                <a:solidFill>
                  <a:srgbClr val="5B6670"/>
                </a:solidFill>
                <a:latin typeface="Segoe UI Semibold"/>
                <a:ea typeface="Segoe UI Semibold"/>
                <a:cs typeface="Segoe UI Semibold"/>
              </a:rPr>
              <a:t>What the reward did</a:t>
            </a:r>
          </a:p>
        </p:txBody>
      </p:sp>
      <p:sp>
        <p:nvSpPr>
          <p:cNvPr id="171" name="Rectangle 172"/>
          <p:cNvSpPr>
            <a:spLocks noGrp="1"/>
          </p:cNvSpPr>
          <p:nvPr/>
        </p:nvSpPr>
        <p:spPr>
          <a:xfrm>
            <a:off x="9464040" y="1920240"/>
            <a:ext cx="1234440" cy="301752"/>
          </a:xfrm>
          <a:prstGeom prst="rect">
            <a:avLst/>
          </a:prstGeom>
          <a:noFill/>
          <a:ln w="0">
            <a:noFill/>
            <a:prstDash val="solid"/>
          </a:ln>
        </p:spPr>
        <p:txBody>
          <a:bodyPr lIns="0" tIns="0" rIns="0" bIns="0" anchor="t">
            <a:normAutofit/>
          </a:bodyPr>
          <a:lstStyle/>
          <a:p>
            <a:pPr algn="l">
              <a:lnSpc>
                <a:spcPct val="98000"/>
              </a:lnSpc>
              <a:buNone/>
              <a:defRPr sz="1650" b="1" i="0">
                <a:solidFill>
                  <a:srgbClr val="5B6670"/>
                </a:solidFill>
                <a:latin typeface="Segoe UI Semibold"/>
                <a:ea typeface="Segoe UI Semibold"/>
                <a:cs typeface="Segoe UI Semibold"/>
              </a:defRPr>
            </a:pPr>
            <a:r>
              <a:rPr sz="1650" b="1" i="0">
                <a:solidFill>
                  <a:srgbClr val="5B6670"/>
                </a:solidFill>
                <a:latin typeface="Segoe UI Semibold"/>
                <a:ea typeface="Segoe UI Semibold"/>
                <a:cs typeface="Segoe UI Semibold"/>
              </a:rPr>
              <a:t>Rules</a:t>
            </a:r>
          </a:p>
        </p:txBody>
      </p:sp>
      <p:sp>
        <p:nvSpPr>
          <p:cNvPr id="173" name="Rectangle 174"/>
          <p:cNvSpPr>
            <a:spLocks noGrp="1"/>
          </p:cNvSpPr>
          <p:nvPr/>
        </p:nvSpPr>
        <p:spPr>
          <a:xfrm>
            <a:off x="758952" y="2395728"/>
            <a:ext cx="2377440" cy="36576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v1  ·  13–27 Jul</a:t>
            </a:r>
          </a:p>
        </p:txBody>
      </p:sp>
      <p:sp>
        <p:nvSpPr>
          <p:cNvPr id="175" name="Rectangle 176"/>
          <p:cNvSpPr>
            <a:spLocks noGrp="1"/>
          </p:cNvSpPr>
          <p:nvPr/>
        </p:nvSpPr>
        <p:spPr>
          <a:xfrm>
            <a:off x="3246120" y="2377440"/>
            <a:ext cx="6035040" cy="402336"/>
          </a:xfrm>
          <a:prstGeom prst="rect">
            <a:avLst/>
          </a:prstGeom>
          <a:noFill/>
          <a:ln w="0">
            <a:noFill/>
            <a:prstDash val="solid"/>
          </a:ln>
        </p:spPr>
        <p:txBody>
          <a:bodyPr lIns="0" tIns="0" rIns="0" bIns="0" anchor="t">
            <a:normAutofit/>
          </a:bodyPr>
          <a:lstStyle/>
          <a:p>
            <a:pPr algn="l">
              <a:lnSpc>
                <a:spcPct val="98000"/>
              </a:lnSpc>
              <a:buNone/>
              <a:defRPr sz="1425" b="0" i="0">
                <a:solidFill>
                  <a:srgbClr val="5B6670"/>
                </a:solidFill>
                <a:latin typeface="Segoe UI"/>
                <a:ea typeface="Segoe UI"/>
                <a:cs typeface="Segoe UI"/>
              </a:defRPr>
            </a:pPr>
            <a:r>
              <a:rPr sz="1425" b="0" i="0">
                <a:solidFill>
                  <a:srgbClr val="5B6670"/>
                </a:solidFill>
                <a:latin typeface="Segoe UI"/>
                <a:ea typeface="Segoe UI"/>
                <a:cs typeface="Segoe UI"/>
              </a:rPr>
              <a:t>Seven fixed rules, the same for every robot and every task</a:t>
            </a:r>
          </a:p>
        </p:txBody>
      </p:sp>
      <p:sp>
        <p:nvSpPr>
          <p:cNvPr id="177" name="Shape 178"/>
          <p:cNvSpPr>
            <a:spLocks noGrp="1"/>
          </p:cNvSpPr>
          <p:nvPr/>
        </p:nvSpPr>
        <p:spPr>
          <a:xfrm>
            <a:off x="9464040" y="2468880"/>
            <a:ext cx="901931" cy="182880"/>
          </a:xfrm>
          <a:prstGeom prst="roundRect">
            <a:avLst>
              <a:gd name="adj" fmla="val 40000"/>
            </a:avLst>
          </a:prstGeom>
          <a:solidFill>
            <a:srgbClr val="D5DAD6"/>
          </a:solidFill>
          <a:ln w="0">
            <a:noFill/>
            <a:prstDash val="solid"/>
          </a:ln>
        </p:spPr>
        <p:txBody>
          <a:bodyPr/>
          <a:lstStyle/>
          <a:p>
            <a:endParaRPr lang="en-IN"/>
          </a:p>
        </p:txBody>
      </p:sp>
      <p:sp>
        <p:nvSpPr>
          <p:cNvPr id="179" name="Rectangle 180"/>
          <p:cNvSpPr>
            <a:spLocks noGrp="1"/>
          </p:cNvSpPr>
          <p:nvPr/>
        </p:nvSpPr>
        <p:spPr>
          <a:xfrm>
            <a:off x="10972800" y="2386584"/>
            <a:ext cx="530352" cy="274320"/>
          </a:xfrm>
          <a:prstGeom prst="rect">
            <a:avLst/>
          </a:prstGeom>
          <a:noFill/>
          <a:ln w="0">
            <a:noFill/>
            <a:prstDash val="solid"/>
          </a:ln>
        </p:spPr>
        <p:txBody>
          <a:bodyPr lIns="0" tIns="0" rIns="0" bIns="0" anchor="t">
            <a:normAutofit/>
          </a:bodyPr>
          <a:lstStyle/>
          <a:p>
            <a:pPr algn="l">
              <a:lnSpc>
                <a:spcPct val="98000"/>
              </a:lnSpc>
              <a:buNone/>
              <a:defRPr sz="1275" b="1" i="0">
                <a:solidFill>
                  <a:srgbClr val="18232F"/>
                </a:solidFill>
                <a:latin typeface="Segoe UI Semibold"/>
                <a:ea typeface="Segoe UI Semibold"/>
                <a:cs typeface="Segoe UI Semibold"/>
              </a:defRPr>
            </a:pPr>
            <a:r>
              <a:rPr sz="1275" b="1" i="0">
                <a:solidFill>
                  <a:srgbClr val="18232F"/>
                </a:solidFill>
                <a:latin typeface="Segoe UI Semibold"/>
                <a:ea typeface="Segoe UI Semibold"/>
                <a:cs typeface="Segoe UI Semibold"/>
              </a:rPr>
              <a:t>7</a:t>
            </a:r>
          </a:p>
        </p:txBody>
      </p:sp>
      <p:sp>
        <p:nvSpPr>
          <p:cNvPr id="181" name="Shape 182"/>
          <p:cNvSpPr>
            <a:spLocks noGrp="1"/>
          </p:cNvSpPr>
          <p:nvPr/>
        </p:nvSpPr>
        <p:spPr>
          <a:xfrm>
            <a:off x="758952" y="2807208"/>
            <a:ext cx="10744200" cy="9510"/>
          </a:xfrm>
          <a:prstGeom prst="rect">
            <a:avLst/>
          </a:prstGeom>
          <a:solidFill>
            <a:srgbClr val="D5DAD6"/>
          </a:solidFill>
          <a:ln w="0">
            <a:noFill/>
            <a:prstDash val="solid"/>
          </a:ln>
        </p:spPr>
        <p:txBody>
          <a:bodyPr/>
          <a:lstStyle/>
          <a:p>
            <a:endParaRPr lang="en-IN"/>
          </a:p>
        </p:txBody>
      </p:sp>
      <p:sp>
        <p:nvSpPr>
          <p:cNvPr id="183" name="Rectangle 184"/>
          <p:cNvSpPr>
            <a:spLocks noGrp="1"/>
          </p:cNvSpPr>
          <p:nvPr/>
        </p:nvSpPr>
        <p:spPr>
          <a:xfrm>
            <a:off x="758952" y="2962656"/>
            <a:ext cx="2377440" cy="36576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v2  ·  28 Jul</a:t>
            </a:r>
          </a:p>
        </p:txBody>
      </p:sp>
      <p:sp>
        <p:nvSpPr>
          <p:cNvPr id="185" name="Rectangle 186"/>
          <p:cNvSpPr>
            <a:spLocks noGrp="1"/>
          </p:cNvSpPr>
          <p:nvPr/>
        </p:nvSpPr>
        <p:spPr>
          <a:xfrm>
            <a:off x="3246120" y="2944368"/>
            <a:ext cx="6035040" cy="402336"/>
          </a:xfrm>
          <a:prstGeom prst="rect">
            <a:avLst/>
          </a:prstGeom>
          <a:noFill/>
          <a:ln w="0">
            <a:noFill/>
            <a:prstDash val="solid"/>
          </a:ln>
        </p:spPr>
        <p:txBody>
          <a:bodyPr lIns="0" tIns="0" rIns="0" bIns="0" anchor="t">
            <a:normAutofit/>
          </a:bodyPr>
          <a:lstStyle/>
          <a:p>
            <a:pPr algn="l">
              <a:lnSpc>
                <a:spcPct val="98000"/>
              </a:lnSpc>
              <a:buNone/>
              <a:defRPr sz="1425" b="0" i="0">
                <a:solidFill>
                  <a:srgbClr val="5B6670"/>
                </a:solidFill>
                <a:latin typeface="Segoe UI"/>
                <a:ea typeface="Segoe UI"/>
                <a:cs typeface="Segoe UI"/>
              </a:defRPr>
            </a:pPr>
            <a:r>
              <a:rPr sz="1425" b="0" i="0">
                <a:solidFill>
                  <a:srgbClr val="5B6670"/>
                </a:solidFill>
                <a:latin typeface="Segoe UI"/>
                <a:ea typeface="Segoe UI"/>
                <a:cs typeface="Segoe UI"/>
              </a:rPr>
              <a:t>Added four rules to stop the robot crawling along the floor</a:t>
            </a:r>
          </a:p>
        </p:txBody>
      </p:sp>
      <p:sp>
        <p:nvSpPr>
          <p:cNvPr id="187" name="Shape 188"/>
          <p:cNvSpPr>
            <a:spLocks noGrp="1"/>
          </p:cNvSpPr>
          <p:nvPr/>
        </p:nvSpPr>
        <p:spPr>
          <a:xfrm>
            <a:off x="9464040" y="3035808"/>
            <a:ext cx="1417320" cy="182880"/>
          </a:xfrm>
          <a:prstGeom prst="roundRect">
            <a:avLst>
              <a:gd name="adj" fmla="val 40000"/>
            </a:avLst>
          </a:prstGeom>
          <a:solidFill>
            <a:srgbClr val="D5DAD6"/>
          </a:solidFill>
          <a:ln w="0">
            <a:noFill/>
            <a:prstDash val="solid"/>
          </a:ln>
        </p:spPr>
        <p:txBody>
          <a:bodyPr/>
          <a:lstStyle/>
          <a:p>
            <a:endParaRPr lang="en-IN"/>
          </a:p>
        </p:txBody>
      </p:sp>
      <p:sp>
        <p:nvSpPr>
          <p:cNvPr id="189" name="Rectangle 190"/>
          <p:cNvSpPr>
            <a:spLocks noGrp="1"/>
          </p:cNvSpPr>
          <p:nvPr/>
        </p:nvSpPr>
        <p:spPr>
          <a:xfrm>
            <a:off x="10972800" y="2953512"/>
            <a:ext cx="530352" cy="274320"/>
          </a:xfrm>
          <a:prstGeom prst="rect">
            <a:avLst/>
          </a:prstGeom>
          <a:noFill/>
          <a:ln w="0">
            <a:noFill/>
            <a:prstDash val="solid"/>
          </a:ln>
        </p:spPr>
        <p:txBody>
          <a:bodyPr lIns="0" tIns="0" rIns="0" bIns="0" anchor="t">
            <a:normAutofit/>
          </a:bodyPr>
          <a:lstStyle/>
          <a:p>
            <a:pPr algn="l">
              <a:lnSpc>
                <a:spcPct val="98000"/>
              </a:lnSpc>
              <a:buNone/>
              <a:defRPr sz="1275" b="1" i="0">
                <a:solidFill>
                  <a:srgbClr val="18232F"/>
                </a:solidFill>
                <a:latin typeface="Segoe UI Semibold"/>
                <a:ea typeface="Segoe UI Semibold"/>
                <a:cs typeface="Segoe UI Semibold"/>
              </a:defRPr>
            </a:pPr>
            <a:r>
              <a:rPr sz="1275" b="1" i="0">
                <a:solidFill>
                  <a:srgbClr val="18232F"/>
                </a:solidFill>
                <a:latin typeface="Segoe UI Semibold"/>
                <a:ea typeface="Segoe UI Semibold"/>
                <a:cs typeface="Segoe UI Semibold"/>
              </a:rPr>
              <a:t>11</a:t>
            </a:r>
          </a:p>
        </p:txBody>
      </p:sp>
      <p:sp>
        <p:nvSpPr>
          <p:cNvPr id="191" name="Shape 192"/>
          <p:cNvSpPr>
            <a:spLocks noGrp="1"/>
          </p:cNvSpPr>
          <p:nvPr/>
        </p:nvSpPr>
        <p:spPr>
          <a:xfrm>
            <a:off x="758952" y="3374136"/>
            <a:ext cx="10744200" cy="9510"/>
          </a:xfrm>
          <a:prstGeom prst="rect">
            <a:avLst/>
          </a:prstGeom>
          <a:solidFill>
            <a:srgbClr val="D5DAD6"/>
          </a:solidFill>
          <a:ln w="0">
            <a:noFill/>
            <a:prstDash val="solid"/>
          </a:ln>
        </p:spPr>
        <p:txBody>
          <a:bodyPr/>
          <a:lstStyle/>
          <a:p>
            <a:endParaRPr lang="en-IN"/>
          </a:p>
        </p:txBody>
      </p:sp>
      <p:sp>
        <p:nvSpPr>
          <p:cNvPr id="193" name="Rectangle 194"/>
          <p:cNvSpPr>
            <a:spLocks noGrp="1"/>
          </p:cNvSpPr>
          <p:nvPr/>
        </p:nvSpPr>
        <p:spPr>
          <a:xfrm>
            <a:off x="758952" y="3529584"/>
            <a:ext cx="2377440" cy="36576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v3  ·  29 Jul</a:t>
            </a:r>
          </a:p>
        </p:txBody>
      </p:sp>
      <p:sp>
        <p:nvSpPr>
          <p:cNvPr id="195" name="Rectangle 196"/>
          <p:cNvSpPr>
            <a:spLocks noGrp="1"/>
          </p:cNvSpPr>
          <p:nvPr/>
        </p:nvSpPr>
        <p:spPr>
          <a:xfrm>
            <a:off x="3246120" y="3511296"/>
            <a:ext cx="6035040" cy="402336"/>
          </a:xfrm>
          <a:prstGeom prst="rect">
            <a:avLst/>
          </a:prstGeom>
          <a:noFill/>
          <a:ln w="0">
            <a:noFill/>
            <a:prstDash val="solid"/>
          </a:ln>
        </p:spPr>
        <p:txBody>
          <a:bodyPr lIns="0" tIns="0" rIns="0" bIns="0" anchor="t">
            <a:normAutofit/>
          </a:bodyPr>
          <a:lstStyle/>
          <a:p>
            <a:pPr algn="l">
              <a:lnSpc>
                <a:spcPct val="98000"/>
              </a:lnSpc>
              <a:buNone/>
              <a:defRPr sz="1425" b="0" i="0">
                <a:solidFill>
                  <a:srgbClr val="5B6670"/>
                </a:solidFill>
                <a:latin typeface="Segoe UI"/>
                <a:ea typeface="Segoe UI"/>
                <a:cs typeface="Segoe UI"/>
              </a:defRPr>
            </a:pPr>
            <a:r>
              <a:rPr sz="1425" b="0" i="0">
                <a:solidFill>
                  <a:srgbClr val="5B6670"/>
                </a:solidFill>
                <a:latin typeface="Segoe UI"/>
                <a:ea typeface="Segoe UI"/>
                <a:cs typeface="Segoe UI"/>
              </a:rPr>
              <a:t>One block of hand-written code. It worked, but nobody could check it</a:t>
            </a:r>
          </a:p>
        </p:txBody>
      </p:sp>
      <p:sp>
        <p:nvSpPr>
          <p:cNvPr id="197" name="Shape 198"/>
          <p:cNvSpPr>
            <a:spLocks noGrp="1"/>
          </p:cNvSpPr>
          <p:nvPr/>
        </p:nvSpPr>
        <p:spPr>
          <a:xfrm>
            <a:off x="9464040" y="3602736"/>
            <a:ext cx="128847" cy="182880"/>
          </a:xfrm>
          <a:prstGeom prst="roundRect">
            <a:avLst>
              <a:gd name="adj" fmla="val 40000"/>
            </a:avLst>
          </a:prstGeom>
          <a:solidFill>
            <a:srgbClr val="D5DAD6"/>
          </a:solidFill>
          <a:ln w="0">
            <a:noFill/>
            <a:prstDash val="solid"/>
          </a:ln>
        </p:spPr>
        <p:txBody>
          <a:bodyPr/>
          <a:lstStyle/>
          <a:p>
            <a:endParaRPr lang="en-IN"/>
          </a:p>
        </p:txBody>
      </p:sp>
      <p:sp>
        <p:nvSpPr>
          <p:cNvPr id="199" name="Rectangle 200"/>
          <p:cNvSpPr>
            <a:spLocks noGrp="1"/>
          </p:cNvSpPr>
          <p:nvPr/>
        </p:nvSpPr>
        <p:spPr>
          <a:xfrm>
            <a:off x="10972800" y="3520440"/>
            <a:ext cx="530352" cy="274320"/>
          </a:xfrm>
          <a:prstGeom prst="rect">
            <a:avLst/>
          </a:prstGeom>
          <a:noFill/>
          <a:ln w="0">
            <a:noFill/>
            <a:prstDash val="solid"/>
          </a:ln>
        </p:spPr>
        <p:txBody>
          <a:bodyPr lIns="0" tIns="0" rIns="0" bIns="0" anchor="t">
            <a:normAutofit/>
          </a:bodyPr>
          <a:lstStyle/>
          <a:p>
            <a:pPr algn="l">
              <a:lnSpc>
                <a:spcPct val="98000"/>
              </a:lnSpc>
              <a:buNone/>
              <a:defRPr sz="1275" b="1" i="0">
                <a:solidFill>
                  <a:srgbClr val="18232F"/>
                </a:solidFill>
                <a:latin typeface="Segoe UI Semibold"/>
                <a:ea typeface="Segoe UI Semibold"/>
                <a:cs typeface="Segoe UI Semibold"/>
              </a:defRPr>
            </a:pPr>
            <a:r>
              <a:rPr sz="1275" b="1" i="0">
                <a:solidFill>
                  <a:srgbClr val="18232F"/>
                </a:solidFill>
                <a:latin typeface="Segoe UI Semibold"/>
                <a:ea typeface="Segoe UI Semibold"/>
                <a:cs typeface="Segoe UI Semibold"/>
              </a:rPr>
              <a:t>1</a:t>
            </a:r>
          </a:p>
        </p:txBody>
      </p:sp>
      <p:sp>
        <p:nvSpPr>
          <p:cNvPr id="201" name="Shape 202"/>
          <p:cNvSpPr>
            <a:spLocks noGrp="1"/>
          </p:cNvSpPr>
          <p:nvPr/>
        </p:nvSpPr>
        <p:spPr>
          <a:xfrm>
            <a:off x="758952" y="3941064"/>
            <a:ext cx="10744200" cy="9510"/>
          </a:xfrm>
          <a:prstGeom prst="rect">
            <a:avLst/>
          </a:prstGeom>
          <a:solidFill>
            <a:srgbClr val="D5DAD6"/>
          </a:solidFill>
          <a:ln w="0">
            <a:noFill/>
            <a:prstDash val="solid"/>
          </a:ln>
        </p:spPr>
        <p:txBody>
          <a:bodyPr/>
          <a:lstStyle/>
          <a:p>
            <a:endParaRPr lang="en-IN"/>
          </a:p>
        </p:txBody>
      </p:sp>
      <p:sp>
        <p:nvSpPr>
          <p:cNvPr id="203" name="Rectangle 204"/>
          <p:cNvSpPr>
            <a:spLocks noGrp="1"/>
          </p:cNvSpPr>
          <p:nvPr/>
        </p:nvSpPr>
        <p:spPr>
          <a:xfrm>
            <a:off x="758952" y="4096512"/>
            <a:ext cx="2377440" cy="36576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v4  ·  30 Jul</a:t>
            </a:r>
          </a:p>
        </p:txBody>
      </p:sp>
      <p:sp>
        <p:nvSpPr>
          <p:cNvPr id="205" name="Rectangle 206"/>
          <p:cNvSpPr>
            <a:spLocks noGrp="1"/>
          </p:cNvSpPr>
          <p:nvPr/>
        </p:nvSpPr>
        <p:spPr>
          <a:xfrm>
            <a:off x="3246120" y="4078224"/>
            <a:ext cx="6035040" cy="402336"/>
          </a:xfrm>
          <a:prstGeom prst="rect">
            <a:avLst/>
          </a:prstGeom>
          <a:noFill/>
          <a:ln w="0">
            <a:noFill/>
            <a:prstDash val="solid"/>
          </a:ln>
        </p:spPr>
        <p:txBody>
          <a:bodyPr lIns="0" tIns="0" rIns="0" bIns="0" anchor="t">
            <a:normAutofit/>
          </a:bodyPr>
          <a:lstStyle/>
          <a:p>
            <a:pPr algn="l">
              <a:lnSpc>
                <a:spcPct val="98000"/>
              </a:lnSpc>
              <a:buNone/>
              <a:defRPr sz="1425" b="0" i="0">
                <a:solidFill>
                  <a:srgbClr val="5B6670"/>
                </a:solidFill>
                <a:latin typeface="Segoe UI"/>
                <a:ea typeface="Segoe UI"/>
                <a:cs typeface="Segoe UI"/>
              </a:defRPr>
            </a:pPr>
            <a:r>
              <a:rPr sz="1425" b="0" i="0">
                <a:solidFill>
                  <a:srgbClr val="5B6670"/>
                </a:solidFill>
                <a:latin typeface="Segoe UI"/>
                <a:ea typeface="Segoe UI"/>
                <a:cs typeface="Segoe UI"/>
              </a:rPr>
              <a:t>First reward written by the assistant. Three rules, checked before saving</a:t>
            </a:r>
          </a:p>
        </p:txBody>
      </p:sp>
      <p:sp>
        <p:nvSpPr>
          <p:cNvPr id="207" name="Shape 208"/>
          <p:cNvSpPr>
            <a:spLocks noGrp="1"/>
          </p:cNvSpPr>
          <p:nvPr/>
        </p:nvSpPr>
        <p:spPr>
          <a:xfrm>
            <a:off x="9464040" y="4169664"/>
            <a:ext cx="386542" cy="182880"/>
          </a:xfrm>
          <a:prstGeom prst="roundRect">
            <a:avLst>
              <a:gd name="adj" fmla="val 40000"/>
            </a:avLst>
          </a:prstGeom>
          <a:solidFill>
            <a:srgbClr val="D5DAD6"/>
          </a:solidFill>
          <a:ln w="0">
            <a:noFill/>
            <a:prstDash val="solid"/>
          </a:ln>
        </p:spPr>
        <p:txBody>
          <a:bodyPr/>
          <a:lstStyle/>
          <a:p>
            <a:endParaRPr lang="en-IN"/>
          </a:p>
        </p:txBody>
      </p:sp>
      <p:sp>
        <p:nvSpPr>
          <p:cNvPr id="209" name="Rectangle 210"/>
          <p:cNvSpPr>
            <a:spLocks noGrp="1"/>
          </p:cNvSpPr>
          <p:nvPr/>
        </p:nvSpPr>
        <p:spPr>
          <a:xfrm>
            <a:off x="10972800" y="4087368"/>
            <a:ext cx="530352" cy="274320"/>
          </a:xfrm>
          <a:prstGeom prst="rect">
            <a:avLst/>
          </a:prstGeom>
          <a:noFill/>
          <a:ln w="0">
            <a:noFill/>
            <a:prstDash val="solid"/>
          </a:ln>
        </p:spPr>
        <p:txBody>
          <a:bodyPr lIns="0" tIns="0" rIns="0" bIns="0" anchor="t">
            <a:normAutofit/>
          </a:bodyPr>
          <a:lstStyle/>
          <a:p>
            <a:pPr algn="l">
              <a:lnSpc>
                <a:spcPct val="98000"/>
              </a:lnSpc>
              <a:buNone/>
              <a:defRPr sz="1275" b="1" i="0">
                <a:solidFill>
                  <a:srgbClr val="18232F"/>
                </a:solidFill>
                <a:latin typeface="Segoe UI Semibold"/>
                <a:ea typeface="Segoe UI Semibold"/>
                <a:cs typeface="Segoe UI Semibold"/>
              </a:defRPr>
            </a:pPr>
            <a:r>
              <a:rPr sz="1275" b="1" i="0">
                <a:solidFill>
                  <a:srgbClr val="18232F"/>
                </a:solidFill>
                <a:latin typeface="Segoe UI Semibold"/>
                <a:ea typeface="Segoe UI Semibold"/>
                <a:cs typeface="Segoe UI Semibold"/>
              </a:rPr>
              <a:t>3</a:t>
            </a:r>
          </a:p>
        </p:txBody>
      </p:sp>
      <p:sp>
        <p:nvSpPr>
          <p:cNvPr id="211" name="Shape 212"/>
          <p:cNvSpPr>
            <a:spLocks noGrp="1"/>
          </p:cNvSpPr>
          <p:nvPr/>
        </p:nvSpPr>
        <p:spPr>
          <a:xfrm>
            <a:off x="758952" y="4507992"/>
            <a:ext cx="10744200" cy="9510"/>
          </a:xfrm>
          <a:prstGeom prst="rect">
            <a:avLst/>
          </a:prstGeom>
          <a:solidFill>
            <a:srgbClr val="D5DAD6"/>
          </a:solidFill>
          <a:ln w="0">
            <a:noFill/>
            <a:prstDash val="solid"/>
          </a:ln>
        </p:spPr>
        <p:txBody>
          <a:bodyPr/>
          <a:lstStyle/>
          <a:p>
            <a:endParaRPr lang="en-IN"/>
          </a:p>
        </p:txBody>
      </p:sp>
      <p:sp>
        <p:nvSpPr>
          <p:cNvPr id="213" name="Rectangle 214"/>
          <p:cNvSpPr>
            <a:spLocks noGrp="1"/>
          </p:cNvSpPr>
          <p:nvPr/>
        </p:nvSpPr>
        <p:spPr>
          <a:xfrm>
            <a:off x="758952" y="4663440"/>
            <a:ext cx="2377440" cy="36576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v5  ·  1 Aug</a:t>
            </a:r>
          </a:p>
        </p:txBody>
      </p:sp>
      <p:sp>
        <p:nvSpPr>
          <p:cNvPr id="215" name="Rectangle 216"/>
          <p:cNvSpPr>
            <a:spLocks noGrp="1"/>
          </p:cNvSpPr>
          <p:nvPr/>
        </p:nvSpPr>
        <p:spPr>
          <a:xfrm>
            <a:off x="3246120" y="4645152"/>
            <a:ext cx="6035040" cy="402336"/>
          </a:xfrm>
          <a:prstGeom prst="rect">
            <a:avLst/>
          </a:prstGeom>
          <a:noFill/>
          <a:ln w="0">
            <a:noFill/>
            <a:prstDash val="solid"/>
          </a:ln>
        </p:spPr>
        <p:txBody>
          <a:bodyPr lIns="0" tIns="0" rIns="0" bIns="0" anchor="t">
            <a:normAutofit/>
          </a:bodyPr>
          <a:lstStyle/>
          <a:p>
            <a:pPr algn="l">
              <a:lnSpc>
                <a:spcPct val="98000"/>
              </a:lnSpc>
              <a:buNone/>
              <a:defRPr sz="1425" b="0" i="0">
                <a:solidFill>
                  <a:srgbClr val="5B6670"/>
                </a:solidFill>
                <a:latin typeface="Segoe UI"/>
                <a:ea typeface="Segoe UI"/>
                <a:cs typeface="Segoe UI"/>
              </a:defRPr>
            </a:pPr>
            <a:r>
              <a:rPr sz="1425" b="0" i="0">
                <a:solidFill>
                  <a:srgbClr val="5B6670"/>
                </a:solidFill>
                <a:latin typeface="Segoe UI"/>
                <a:ea typeface="Segoe UI"/>
                <a:cs typeface="Segoe UI"/>
              </a:rPr>
              <a:t>Eleven rules for walking, and a rule that ends the run after a fall</a:t>
            </a:r>
          </a:p>
        </p:txBody>
      </p:sp>
      <p:sp>
        <p:nvSpPr>
          <p:cNvPr id="217" name="Shape 218"/>
          <p:cNvSpPr>
            <a:spLocks noGrp="1"/>
          </p:cNvSpPr>
          <p:nvPr/>
        </p:nvSpPr>
        <p:spPr>
          <a:xfrm>
            <a:off x="9464040" y="4736592"/>
            <a:ext cx="1417320" cy="182880"/>
          </a:xfrm>
          <a:prstGeom prst="roundRect">
            <a:avLst>
              <a:gd name="adj" fmla="val 40000"/>
            </a:avLst>
          </a:prstGeom>
          <a:solidFill>
            <a:srgbClr val="D5DAD6"/>
          </a:solidFill>
          <a:ln w="0">
            <a:noFill/>
            <a:prstDash val="solid"/>
          </a:ln>
        </p:spPr>
        <p:txBody>
          <a:bodyPr/>
          <a:lstStyle/>
          <a:p>
            <a:endParaRPr lang="en-IN"/>
          </a:p>
        </p:txBody>
      </p:sp>
      <p:sp>
        <p:nvSpPr>
          <p:cNvPr id="219" name="Rectangle 220"/>
          <p:cNvSpPr>
            <a:spLocks noGrp="1"/>
          </p:cNvSpPr>
          <p:nvPr/>
        </p:nvSpPr>
        <p:spPr>
          <a:xfrm>
            <a:off x="10972800" y="4654296"/>
            <a:ext cx="530352" cy="274320"/>
          </a:xfrm>
          <a:prstGeom prst="rect">
            <a:avLst/>
          </a:prstGeom>
          <a:noFill/>
          <a:ln w="0">
            <a:noFill/>
            <a:prstDash val="solid"/>
          </a:ln>
        </p:spPr>
        <p:txBody>
          <a:bodyPr lIns="0" tIns="0" rIns="0" bIns="0" anchor="t">
            <a:normAutofit/>
          </a:bodyPr>
          <a:lstStyle/>
          <a:p>
            <a:pPr algn="l">
              <a:lnSpc>
                <a:spcPct val="98000"/>
              </a:lnSpc>
              <a:buNone/>
              <a:defRPr sz="1275" b="1" i="0">
                <a:solidFill>
                  <a:srgbClr val="18232F"/>
                </a:solidFill>
                <a:latin typeface="Segoe UI Semibold"/>
                <a:ea typeface="Segoe UI Semibold"/>
                <a:cs typeface="Segoe UI Semibold"/>
              </a:defRPr>
            </a:pPr>
            <a:r>
              <a:rPr sz="1275" b="1" i="0">
                <a:solidFill>
                  <a:srgbClr val="18232F"/>
                </a:solidFill>
                <a:latin typeface="Segoe UI Semibold"/>
                <a:ea typeface="Segoe UI Semibold"/>
                <a:cs typeface="Segoe UI Semibold"/>
              </a:rPr>
              <a:t>11</a:t>
            </a:r>
          </a:p>
        </p:txBody>
      </p:sp>
      <p:sp>
        <p:nvSpPr>
          <p:cNvPr id="221" name="Shape 222"/>
          <p:cNvSpPr>
            <a:spLocks noGrp="1"/>
          </p:cNvSpPr>
          <p:nvPr/>
        </p:nvSpPr>
        <p:spPr>
          <a:xfrm>
            <a:off x="758952" y="5074920"/>
            <a:ext cx="10744200" cy="9510"/>
          </a:xfrm>
          <a:prstGeom prst="rect">
            <a:avLst/>
          </a:prstGeom>
          <a:solidFill>
            <a:srgbClr val="D5DAD6"/>
          </a:solidFill>
          <a:ln w="0">
            <a:noFill/>
            <a:prstDash val="solid"/>
          </a:ln>
        </p:spPr>
        <p:txBody>
          <a:bodyPr/>
          <a:lstStyle/>
          <a:p>
            <a:endParaRPr lang="en-IN"/>
          </a:p>
        </p:txBody>
      </p:sp>
      <p:sp>
        <p:nvSpPr>
          <p:cNvPr id="223" name="Rectangle 224"/>
          <p:cNvSpPr>
            <a:spLocks noGrp="1"/>
          </p:cNvSpPr>
          <p:nvPr/>
        </p:nvSpPr>
        <p:spPr>
          <a:xfrm>
            <a:off x="758952" y="5230368"/>
            <a:ext cx="2377440" cy="365760"/>
          </a:xfrm>
          <a:prstGeom prst="rect">
            <a:avLst/>
          </a:prstGeom>
          <a:noFill/>
          <a:ln w="0">
            <a:noFill/>
            <a:prstDash val="solid"/>
          </a:ln>
        </p:spPr>
        <p:txBody>
          <a:bodyPr lIns="0" tIns="0" rIns="0" bIns="0" anchor="t">
            <a:normAutofit/>
          </a:bodyPr>
          <a:lstStyle/>
          <a:p>
            <a:pPr algn="l">
              <a:lnSpc>
                <a:spcPct val="98000"/>
              </a:lnSpc>
              <a:buNone/>
              <a:defRPr sz="1500" b="1" i="0">
                <a:solidFill>
                  <a:srgbClr val="0B6B64"/>
                </a:solidFill>
                <a:latin typeface="Segoe UI Semibold"/>
                <a:ea typeface="Segoe UI Semibold"/>
                <a:cs typeface="Segoe UI Semibold"/>
              </a:defRPr>
            </a:pPr>
            <a:r>
              <a:rPr sz="1500" b="1" i="0">
                <a:solidFill>
                  <a:srgbClr val="0B6B64"/>
                </a:solidFill>
                <a:latin typeface="Segoe UI Semibold"/>
                <a:ea typeface="Segoe UI Semibold"/>
                <a:cs typeface="Segoe UI Semibold"/>
              </a:rPr>
              <a:t>v6  ·  2 Aug</a:t>
            </a:r>
          </a:p>
        </p:txBody>
      </p:sp>
      <p:sp>
        <p:nvSpPr>
          <p:cNvPr id="225" name="Rectangle 226"/>
          <p:cNvSpPr>
            <a:spLocks noGrp="1"/>
          </p:cNvSpPr>
          <p:nvPr/>
        </p:nvSpPr>
        <p:spPr>
          <a:xfrm>
            <a:off x="3246120" y="5212080"/>
            <a:ext cx="6035040" cy="402336"/>
          </a:xfrm>
          <a:prstGeom prst="rect">
            <a:avLst/>
          </a:prstGeom>
          <a:noFill/>
          <a:ln w="0">
            <a:noFill/>
            <a:prstDash val="solid"/>
          </a:ln>
        </p:spPr>
        <p:txBody>
          <a:bodyPr lIns="0" tIns="0" rIns="0" bIns="0" anchor="t">
            <a:normAutofit/>
          </a:bodyPr>
          <a:lstStyle/>
          <a:p>
            <a:pPr algn="l">
              <a:lnSpc>
                <a:spcPct val="98000"/>
              </a:lnSpc>
              <a:buNone/>
              <a:defRPr sz="1425" b="0" i="0">
                <a:solidFill>
                  <a:srgbClr val="5B6670"/>
                </a:solidFill>
                <a:latin typeface="Segoe UI"/>
                <a:ea typeface="Segoe UI"/>
                <a:cs typeface="Segoe UI"/>
              </a:defRPr>
            </a:pPr>
            <a:r>
              <a:rPr sz="1425" b="0" i="0">
                <a:solidFill>
                  <a:srgbClr val="5B6670"/>
                </a:solidFill>
                <a:latin typeface="Segoe UI"/>
                <a:ea typeface="Segoe UI"/>
                <a:cs typeface="Segoe UI"/>
              </a:rPr>
              <a:t>Reads the feet, and pays the robot for being off the ground</a:t>
            </a:r>
          </a:p>
        </p:txBody>
      </p:sp>
      <p:sp>
        <p:nvSpPr>
          <p:cNvPr id="227" name="Shape 228"/>
          <p:cNvSpPr>
            <a:spLocks noGrp="1"/>
          </p:cNvSpPr>
          <p:nvPr/>
        </p:nvSpPr>
        <p:spPr>
          <a:xfrm>
            <a:off x="9464040" y="5303520"/>
            <a:ext cx="901931" cy="182880"/>
          </a:xfrm>
          <a:prstGeom prst="roundRect">
            <a:avLst>
              <a:gd name="adj" fmla="val 40000"/>
            </a:avLst>
          </a:prstGeom>
          <a:solidFill>
            <a:srgbClr val="0B6B64"/>
          </a:solidFill>
          <a:ln w="0">
            <a:noFill/>
            <a:prstDash val="solid"/>
          </a:ln>
        </p:spPr>
        <p:txBody>
          <a:bodyPr/>
          <a:lstStyle/>
          <a:p>
            <a:endParaRPr lang="en-IN"/>
          </a:p>
        </p:txBody>
      </p:sp>
      <p:sp>
        <p:nvSpPr>
          <p:cNvPr id="229" name="Rectangle 230"/>
          <p:cNvSpPr>
            <a:spLocks noGrp="1"/>
          </p:cNvSpPr>
          <p:nvPr/>
        </p:nvSpPr>
        <p:spPr>
          <a:xfrm>
            <a:off x="10972800" y="5221224"/>
            <a:ext cx="530352" cy="274320"/>
          </a:xfrm>
          <a:prstGeom prst="rect">
            <a:avLst/>
          </a:prstGeom>
          <a:noFill/>
          <a:ln w="0">
            <a:noFill/>
            <a:prstDash val="solid"/>
          </a:ln>
        </p:spPr>
        <p:txBody>
          <a:bodyPr lIns="0" tIns="0" rIns="0" bIns="0" anchor="t">
            <a:normAutofit/>
          </a:bodyPr>
          <a:lstStyle/>
          <a:p>
            <a:pPr algn="l">
              <a:lnSpc>
                <a:spcPct val="98000"/>
              </a:lnSpc>
              <a:buNone/>
              <a:defRPr sz="1275" b="1" i="0">
                <a:solidFill>
                  <a:srgbClr val="0B6B64"/>
                </a:solidFill>
                <a:latin typeface="Segoe UI Semibold"/>
                <a:ea typeface="Segoe UI Semibold"/>
                <a:cs typeface="Segoe UI Semibold"/>
              </a:defRPr>
            </a:pPr>
            <a:r>
              <a:rPr sz="1275" b="1" i="0">
                <a:solidFill>
                  <a:srgbClr val="0B6B64"/>
                </a:solidFill>
                <a:latin typeface="Segoe UI Semibold"/>
                <a:ea typeface="Segoe UI Semibold"/>
                <a:cs typeface="Segoe UI Semibold"/>
              </a:rPr>
              <a:t>7</a:t>
            </a:r>
          </a:p>
        </p:txBody>
      </p:sp>
      <p:sp>
        <p:nvSpPr>
          <p:cNvPr id="231" name="Rectangle 232"/>
          <p:cNvSpPr>
            <a:spLocks noGrp="1"/>
          </p:cNvSpPr>
          <p:nvPr/>
        </p:nvSpPr>
        <p:spPr>
          <a:xfrm>
            <a:off x="758952" y="5870448"/>
            <a:ext cx="10378440" cy="502920"/>
          </a:xfrm>
          <a:prstGeom prst="rect">
            <a:avLst/>
          </a:prstGeom>
          <a:noFill/>
          <a:ln w="0">
            <a:noFill/>
            <a:prstDash val="solid"/>
          </a:ln>
        </p:spPr>
        <p:txBody>
          <a:bodyPr lIns="0" tIns="0" rIns="0" bIns="0" anchor="t">
            <a:normAutofit/>
          </a:bodyPr>
          <a:lstStyle/>
          <a:p>
            <a:pPr algn="l">
              <a:lnSpc>
                <a:spcPct val="98000"/>
              </a:lnSpc>
              <a:buNone/>
              <a:defRPr sz="1500" b="0" i="0">
                <a:solidFill>
                  <a:srgbClr val="18232F"/>
                </a:solidFill>
                <a:latin typeface="Segoe UI"/>
                <a:ea typeface="Segoe UI"/>
                <a:cs typeface="Segoe UI"/>
              </a:defRPr>
            </a:pPr>
            <a:r>
              <a:rPr sz="1500" b="0" i="0">
                <a:solidFill>
                  <a:srgbClr val="18232F"/>
                </a:solidFill>
                <a:latin typeface="Segoe UI"/>
                <a:ea typeface="Segoe UI"/>
                <a:cs typeface="Segoe UI"/>
              </a:rPr>
              <a:t>Every version is saved with its own training run, so this history comes straight from the files.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233" name="Rectangle 234"/>
          <p:cNvSpPr>
            <a:spLocks noGrp="1"/>
          </p:cNvSpPr>
          <p:nvPr/>
        </p:nvSpPr>
        <p:spPr>
          <a:xfrm>
            <a:off x="11109960" y="265176"/>
            <a:ext cx="402336" cy="228600"/>
          </a:xfrm>
          <a:prstGeom prst="rect">
            <a:avLst/>
          </a:prstGeom>
          <a:noFill/>
          <a:ln w="0">
            <a:noFill/>
            <a:prstDash val="solid"/>
          </a:ln>
        </p:spPr>
        <p:txBody>
          <a:bodyPr lIns="0" tIns="0" rIns="0" bIns="0" anchor="t">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15</a:t>
            </a:r>
          </a:p>
        </p:txBody>
      </p:sp>
      <p:sp>
        <p:nvSpPr>
          <p:cNvPr id="235" name="Rectangle 236"/>
          <p:cNvSpPr>
            <a:spLocks noGrp="1"/>
          </p:cNvSpPr>
          <p:nvPr/>
        </p:nvSpPr>
        <p:spPr>
          <a:xfrm>
            <a:off x="685800" y="713232"/>
            <a:ext cx="10817352" cy="1161288"/>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The same robot with two different rewards</a:t>
            </a:r>
          </a:p>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moves in two different ways</a:t>
            </a:r>
          </a:p>
        </p:txBody>
      </p:sp>
      <p:sp>
        <p:nvSpPr>
          <p:cNvPr id="237" name="Shape 238"/>
          <p:cNvSpPr>
            <a:spLocks noGrp="1"/>
          </p:cNvSpPr>
          <p:nvPr/>
        </p:nvSpPr>
        <p:spPr>
          <a:xfrm>
            <a:off x="685800" y="6455664"/>
            <a:ext cx="10817352" cy="9510"/>
          </a:xfrm>
          <a:prstGeom prst="rect">
            <a:avLst/>
          </a:prstGeom>
          <a:solidFill>
            <a:srgbClr val="D5DAD6"/>
          </a:solidFill>
          <a:ln w="0">
            <a:noFill/>
            <a:prstDash val="solid"/>
          </a:ln>
        </p:spPr>
        <p:txBody>
          <a:bodyPr/>
          <a:lstStyle/>
          <a:p>
            <a:endParaRPr lang="en-IN"/>
          </a:p>
        </p:txBody>
      </p:sp>
      <p:sp>
        <p:nvSpPr>
          <p:cNvPr id="239" name="Shape 240"/>
          <p:cNvSpPr>
            <a:spLocks noGrp="1"/>
          </p:cNvSpPr>
          <p:nvPr/>
        </p:nvSpPr>
        <p:spPr>
          <a:xfrm>
            <a:off x="685800" y="1874520"/>
            <a:ext cx="5074920" cy="3794760"/>
          </a:xfrm>
          <a:prstGeom prst="roundRect">
            <a:avLst>
              <a:gd name="adj" fmla="val 5000"/>
            </a:avLst>
          </a:prstGeom>
          <a:solidFill>
            <a:srgbClr val="FFFFFF"/>
          </a:solidFill>
          <a:ln w="9525">
            <a:solidFill>
              <a:srgbClr val="D5DAD6"/>
            </a:solidFill>
            <a:prstDash val="solid"/>
          </a:ln>
        </p:spPr>
        <p:txBody>
          <a:bodyPr/>
          <a:lstStyle/>
          <a:p>
            <a:endParaRPr lang="en-IN"/>
          </a:p>
        </p:txBody>
      </p:sp>
      <p:pic>
        <p:nvPicPr>
          <p:cNvPr id="241" name="Picture 242"/>
          <p:cNvPicPr>
            <a:picLocks noChangeAspect="1"/>
          </p:cNvPicPr>
          <p:nvPr/>
        </p:nvPicPr>
        <p:blipFill>
          <a:blip r:embed="rId2"/>
          <a:srcRect t="8000" b="8000"/>
          <a:stretch>
            <a:fillRect/>
          </a:stretch>
        </p:blipFill>
        <p:spPr>
          <a:xfrm>
            <a:off x="822960" y="2011680"/>
            <a:ext cx="4800600" cy="2121408"/>
          </a:xfrm>
          <a:prstGeom prst="roundRect">
            <a:avLst>
              <a:gd name="adj" fmla="val 5085"/>
            </a:avLst>
          </a:prstGeom>
        </p:spPr>
      </p:pic>
      <p:sp>
        <p:nvSpPr>
          <p:cNvPr id="243" name="Shape 244"/>
          <p:cNvSpPr>
            <a:spLocks noGrp="1"/>
          </p:cNvSpPr>
          <p:nvPr/>
        </p:nvSpPr>
        <p:spPr>
          <a:xfrm>
            <a:off x="822960" y="4261104"/>
            <a:ext cx="2880360" cy="301752"/>
          </a:xfrm>
          <a:prstGeom prst="roundRect">
            <a:avLst>
              <a:gd name="adj" fmla="val 20000"/>
            </a:avLst>
          </a:prstGeom>
          <a:solidFill>
            <a:srgbClr val="0B6B64"/>
          </a:solidFill>
          <a:ln w="0">
            <a:noFill/>
            <a:prstDash val="solid"/>
          </a:ln>
        </p:spPr>
        <p:txBody>
          <a:bodyPr/>
          <a:lstStyle/>
          <a:p>
            <a:endParaRPr lang="en-IN"/>
          </a:p>
        </p:txBody>
      </p:sp>
      <p:sp>
        <p:nvSpPr>
          <p:cNvPr id="245" name="Rectangle 246"/>
          <p:cNvSpPr>
            <a:spLocks noGrp="1"/>
          </p:cNvSpPr>
          <p:nvPr/>
        </p:nvSpPr>
        <p:spPr>
          <a:xfrm>
            <a:off x="822960" y="4297680"/>
            <a:ext cx="2880360" cy="256032"/>
          </a:xfrm>
          <a:prstGeom prst="rect">
            <a:avLst/>
          </a:prstGeom>
          <a:noFill/>
          <a:ln w="0">
            <a:noFill/>
            <a:prstDash val="solid"/>
          </a:ln>
        </p:spPr>
        <p:txBody>
          <a:bodyPr lIns="0" tIns="0" rIns="0" bIns="0" anchor="t">
            <a:normAutofit/>
          </a:bodyPr>
          <a:lstStyle/>
          <a:p>
            <a:pPr algn="ctr">
              <a:lnSpc>
                <a:spcPct val="98000"/>
              </a:lnSpc>
              <a:buNone/>
              <a:defRPr sz="950" b="1" i="0">
                <a:solidFill>
                  <a:srgbClr val="FFFFFF"/>
                </a:solidFill>
                <a:latin typeface="Segoe UI Semibold"/>
                <a:ea typeface="Segoe UI Semibold"/>
                <a:cs typeface="Segoe UI Semibold"/>
              </a:defRPr>
            </a:pPr>
            <a:r>
              <a:rPr sz="950" b="1" i="0">
                <a:solidFill>
                  <a:srgbClr val="FFFFFF"/>
                </a:solidFill>
                <a:latin typeface="Segoe UI Semibold"/>
                <a:ea typeface="Segoe UI Semibold"/>
                <a:cs typeface="Segoe UI Semibold"/>
              </a:rPr>
              <a:t>WALKING REWARD  ·  11 RULES</a:t>
            </a:r>
          </a:p>
        </p:txBody>
      </p:sp>
      <p:sp>
        <p:nvSpPr>
          <p:cNvPr id="247" name="Rectangle 248"/>
          <p:cNvSpPr>
            <a:spLocks noGrp="1"/>
          </p:cNvSpPr>
          <p:nvPr/>
        </p:nvSpPr>
        <p:spPr>
          <a:xfrm>
            <a:off x="822960" y="4709160"/>
            <a:ext cx="1591056" cy="411480"/>
          </a:xfrm>
          <a:prstGeom prst="rect">
            <a:avLst/>
          </a:prstGeom>
          <a:noFill/>
          <a:ln w="0">
            <a:noFill/>
            <a:prstDash val="solid"/>
          </a:ln>
        </p:spPr>
        <p:txBody>
          <a:bodyPr lIns="0" tIns="0" rIns="0" bIns="0" anchor="t">
            <a:normAutofit/>
          </a:bodyPr>
          <a:lstStyle/>
          <a:p>
            <a:pPr algn="l">
              <a:lnSpc>
                <a:spcPct val="98000"/>
              </a:lnSpc>
              <a:buNone/>
              <a:defRPr sz="2400" b="1" i="0">
                <a:solidFill>
                  <a:srgbClr val="0B6B64"/>
                </a:solidFill>
                <a:latin typeface="Segoe UI Semibold"/>
                <a:ea typeface="Segoe UI Semibold"/>
                <a:cs typeface="Segoe UI Semibold"/>
              </a:defRPr>
            </a:pPr>
            <a:r>
              <a:rPr sz="2400" b="1" i="0">
                <a:solidFill>
                  <a:srgbClr val="0B6B64"/>
                </a:solidFill>
                <a:latin typeface="Segoe UI Semibold"/>
                <a:ea typeface="Segoe UI Semibold"/>
                <a:cs typeface="Segoe UI Semibold"/>
              </a:rPr>
              <a:t>0.98</a:t>
            </a:r>
          </a:p>
        </p:txBody>
      </p:sp>
      <p:sp>
        <p:nvSpPr>
          <p:cNvPr id="249" name="Rectangle 250"/>
          <p:cNvSpPr>
            <a:spLocks noGrp="1"/>
          </p:cNvSpPr>
          <p:nvPr/>
        </p:nvSpPr>
        <p:spPr>
          <a:xfrm>
            <a:off x="822960" y="5148072"/>
            <a:ext cx="1591056" cy="256032"/>
          </a:xfrm>
          <a:prstGeom prst="rect">
            <a:avLst/>
          </a:prstGeom>
          <a:noFill/>
          <a:ln w="0">
            <a:noFill/>
            <a:prstDash val="solid"/>
          </a:ln>
        </p:spPr>
        <p:txBody>
          <a:bodyPr lIns="0" tIns="0" rIns="0" bIns="0" anchor="t">
            <a:normAutofit/>
          </a:bodyPr>
          <a:lstStyle/>
          <a:p>
            <a:pPr algn="l">
              <a:lnSpc>
                <a:spcPct val="98000"/>
              </a:lnSpc>
              <a:buNone/>
              <a:defRPr sz="1000" b="1" i="0">
                <a:solidFill>
                  <a:srgbClr val="5B6670"/>
                </a:solidFill>
                <a:latin typeface="Segoe UI Semibold"/>
                <a:ea typeface="Segoe UI Semibold"/>
                <a:cs typeface="Segoe UI Semibold"/>
              </a:defRPr>
            </a:pPr>
            <a:r>
              <a:rPr sz="1000" b="1" i="0">
                <a:solidFill>
                  <a:srgbClr val="5B6670"/>
                </a:solidFill>
                <a:latin typeface="Segoe UI Semibold"/>
                <a:ea typeface="Segoe UI Semibold"/>
                <a:cs typeface="Segoe UI Semibold"/>
              </a:rPr>
              <a:t>metres/second</a:t>
            </a:r>
          </a:p>
        </p:txBody>
      </p:sp>
      <p:sp>
        <p:nvSpPr>
          <p:cNvPr id="251" name="Rectangle 252"/>
          <p:cNvSpPr>
            <a:spLocks noGrp="1"/>
          </p:cNvSpPr>
          <p:nvPr/>
        </p:nvSpPr>
        <p:spPr>
          <a:xfrm>
            <a:off x="2450592" y="4709160"/>
            <a:ext cx="1591056" cy="411480"/>
          </a:xfrm>
          <a:prstGeom prst="rect">
            <a:avLst/>
          </a:prstGeom>
          <a:noFill/>
          <a:ln w="0">
            <a:noFill/>
            <a:prstDash val="solid"/>
          </a:ln>
        </p:spPr>
        <p:txBody>
          <a:bodyPr lIns="0" tIns="0" rIns="0" bIns="0" anchor="t">
            <a:normAutofit/>
          </a:bodyPr>
          <a:lstStyle/>
          <a:p>
            <a:pPr algn="l">
              <a:lnSpc>
                <a:spcPct val="98000"/>
              </a:lnSpc>
              <a:buNone/>
              <a:defRPr sz="2400" b="1" i="0">
                <a:solidFill>
                  <a:srgbClr val="0B6B64"/>
                </a:solidFill>
                <a:latin typeface="Segoe UI Semibold"/>
                <a:ea typeface="Segoe UI Semibold"/>
                <a:cs typeface="Segoe UI Semibold"/>
              </a:defRPr>
            </a:pPr>
            <a:r>
              <a:rPr sz="2400" b="1" i="0">
                <a:solidFill>
                  <a:srgbClr val="0B6B64"/>
                </a:solidFill>
                <a:latin typeface="Segoe UI Semibold"/>
                <a:ea typeface="Segoe UI Semibold"/>
                <a:cs typeface="Segoe UI Semibold"/>
              </a:rPr>
              <a:t>963</a:t>
            </a:r>
          </a:p>
        </p:txBody>
      </p:sp>
      <p:sp>
        <p:nvSpPr>
          <p:cNvPr id="253" name="Rectangle 254"/>
          <p:cNvSpPr>
            <a:spLocks noGrp="1"/>
          </p:cNvSpPr>
          <p:nvPr/>
        </p:nvSpPr>
        <p:spPr>
          <a:xfrm>
            <a:off x="2450592" y="5148072"/>
            <a:ext cx="1591056" cy="256032"/>
          </a:xfrm>
          <a:prstGeom prst="rect">
            <a:avLst/>
          </a:prstGeom>
          <a:noFill/>
          <a:ln w="0">
            <a:noFill/>
            <a:prstDash val="solid"/>
          </a:ln>
        </p:spPr>
        <p:txBody>
          <a:bodyPr lIns="0" tIns="0" rIns="0" bIns="0" anchor="t">
            <a:normAutofit/>
          </a:bodyPr>
          <a:lstStyle/>
          <a:p>
            <a:pPr algn="l">
              <a:lnSpc>
                <a:spcPct val="98000"/>
              </a:lnSpc>
              <a:buNone/>
              <a:defRPr sz="1000" b="1" i="0">
                <a:solidFill>
                  <a:srgbClr val="5B6670"/>
                </a:solidFill>
                <a:latin typeface="Segoe UI Semibold"/>
                <a:ea typeface="Segoe UI Semibold"/>
                <a:cs typeface="Segoe UI Semibold"/>
              </a:defRPr>
            </a:pPr>
            <a:r>
              <a:rPr sz="1000" b="1" i="0">
                <a:solidFill>
                  <a:srgbClr val="5B6670"/>
                </a:solidFill>
                <a:latin typeface="Segoe UI Semibold"/>
                <a:ea typeface="Segoe UI Semibold"/>
                <a:cs typeface="Segoe UI Semibold"/>
              </a:rPr>
              <a:t>steps per attempt</a:t>
            </a:r>
          </a:p>
        </p:txBody>
      </p:sp>
      <p:sp>
        <p:nvSpPr>
          <p:cNvPr id="255" name="Rectangle 256"/>
          <p:cNvSpPr>
            <a:spLocks noGrp="1"/>
          </p:cNvSpPr>
          <p:nvPr/>
        </p:nvSpPr>
        <p:spPr>
          <a:xfrm>
            <a:off x="4078224" y="4709160"/>
            <a:ext cx="1591056" cy="411480"/>
          </a:xfrm>
          <a:prstGeom prst="rect">
            <a:avLst/>
          </a:prstGeom>
          <a:noFill/>
          <a:ln w="0">
            <a:noFill/>
            <a:prstDash val="solid"/>
          </a:ln>
        </p:spPr>
        <p:txBody>
          <a:bodyPr lIns="0" tIns="0" rIns="0" bIns="0" anchor="t">
            <a:normAutofit/>
          </a:bodyPr>
          <a:lstStyle/>
          <a:p>
            <a:pPr algn="l">
              <a:lnSpc>
                <a:spcPct val="98000"/>
              </a:lnSpc>
              <a:buNone/>
              <a:defRPr sz="2400" b="1" i="0">
                <a:solidFill>
                  <a:srgbClr val="0B6B64"/>
                </a:solidFill>
                <a:latin typeface="Segoe UI Semibold"/>
                <a:ea typeface="Segoe UI Semibold"/>
                <a:cs typeface="Segoe UI Semibold"/>
              </a:defRPr>
            </a:pPr>
            <a:r>
              <a:rPr sz="2400" b="1" i="0">
                <a:solidFill>
                  <a:srgbClr val="0B6B64"/>
                </a:solidFill>
                <a:latin typeface="Segoe UI Semibold"/>
                <a:ea typeface="Segoe UI Semibold"/>
                <a:cs typeface="Segoe UI Semibold"/>
              </a:rPr>
              <a:t>0.99</a:t>
            </a:r>
          </a:p>
        </p:txBody>
      </p:sp>
      <p:sp>
        <p:nvSpPr>
          <p:cNvPr id="257" name="Rectangle 258"/>
          <p:cNvSpPr>
            <a:spLocks noGrp="1"/>
          </p:cNvSpPr>
          <p:nvPr/>
        </p:nvSpPr>
        <p:spPr>
          <a:xfrm>
            <a:off x="4078224" y="5148072"/>
            <a:ext cx="1591056" cy="256032"/>
          </a:xfrm>
          <a:prstGeom prst="rect">
            <a:avLst/>
          </a:prstGeom>
          <a:noFill/>
          <a:ln w="0">
            <a:noFill/>
            <a:prstDash val="solid"/>
          </a:ln>
        </p:spPr>
        <p:txBody>
          <a:bodyPr lIns="0" tIns="0" rIns="0" bIns="0" anchor="t">
            <a:normAutofit/>
          </a:bodyPr>
          <a:lstStyle/>
          <a:p>
            <a:pPr algn="l">
              <a:lnSpc>
                <a:spcPct val="98000"/>
              </a:lnSpc>
              <a:buNone/>
              <a:defRPr sz="1000" b="1" i="0">
                <a:solidFill>
                  <a:srgbClr val="5B6670"/>
                </a:solidFill>
                <a:latin typeface="Segoe UI Semibold"/>
                <a:ea typeface="Segoe UI Semibold"/>
                <a:cs typeface="Segoe UI Semibold"/>
              </a:defRPr>
            </a:pPr>
            <a:r>
              <a:rPr sz="1000" b="1" i="0">
                <a:solidFill>
                  <a:srgbClr val="5B6670"/>
                </a:solidFill>
                <a:latin typeface="Segoe UI Semibold"/>
                <a:ea typeface="Segoe UI Semibold"/>
                <a:cs typeface="Segoe UI Semibold"/>
              </a:rPr>
              <a:t>how upright</a:t>
            </a:r>
          </a:p>
        </p:txBody>
      </p:sp>
      <p:sp>
        <p:nvSpPr>
          <p:cNvPr id="259" name="Rectangle 260"/>
          <p:cNvSpPr>
            <a:spLocks noGrp="1"/>
          </p:cNvSpPr>
          <p:nvPr/>
        </p:nvSpPr>
        <p:spPr>
          <a:xfrm>
            <a:off x="822960" y="5449824"/>
            <a:ext cx="4800600" cy="219456"/>
          </a:xfrm>
          <a:prstGeom prst="rect">
            <a:avLst/>
          </a:prstGeom>
          <a:noFill/>
          <a:ln w="0">
            <a:noFill/>
            <a:prstDash val="solid"/>
          </a:ln>
        </p:spPr>
        <p:txBody>
          <a:bodyPr lIns="0" tIns="0" rIns="0" bIns="0" anchor="t">
            <a:normAutofit/>
          </a:bodyPr>
          <a:lstStyle/>
          <a:p>
            <a:pPr algn="l">
              <a:lnSpc>
                <a:spcPct val="98000"/>
              </a:lnSpc>
              <a:buNone/>
              <a:defRPr sz="1050" b="0" i="0">
                <a:solidFill>
                  <a:srgbClr val="5B6670"/>
                </a:solidFill>
                <a:latin typeface="Segoe UI"/>
                <a:ea typeface="Segoe UI"/>
                <a:cs typeface="Segoe UI"/>
              </a:defRPr>
            </a:pPr>
            <a:r>
              <a:rPr sz="1050" b="0" i="0">
                <a:solidFill>
                  <a:srgbClr val="5B6670"/>
                </a:solidFill>
                <a:latin typeface="Segoe UI"/>
                <a:ea typeface="Segoe UI"/>
                <a:cs typeface="Segoe UI"/>
              </a:rPr>
              <a:t>This reward punishes bouncing, so the robot keeps its feet on the ground.</a:t>
            </a:r>
          </a:p>
        </p:txBody>
      </p:sp>
      <p:sp>
        <p:nvSpPr>
          <p:cNvPr id="261" name="Shape 262"/>
          <p:cNvSpPr>
            <a:spLocks noGrp="1"/>
          </p:cNvSpPr>
          <p:nvPr/>
        </p:nvSpPr>
        <p:spPr>
          <a:xfrm>
            <a:off x="5760720" y="1874520"/>
            <a:ext cx="5074920" cy="3794760"/>
          </a:xfrm>
          <a:prstGeom prst="roundRect">
            <a:avLst>
              <a:gd name="adj" fmla="val 5000"/>
            </a:avLst>
          </a:prstGeom>
          <a:solidFill>
            <a:srgbClr val="FFFFFF"/>
          </a:solidFill>
          <a:ln w="9525">
            <a:solidFill>
              <a:srgbClr val="D5DAD6"/>
            </a:solidFill>
            <a:prstDash val="solid"/>
          </a:ln>
        </p:spPr>
        <p:txBody>
          <a:bodyPr/>
          <a:lstStyle/>
          <a:p>
            <a:endParaRPr lang="en-IN"/>
          </a:p>
        </p:txBody>
      </p:sp>
      <p:pic>
        <p:nvPicPr>
          <p:cNvPr id="263" name="Picture 264"/>
          <p:cNvPicPr>
            <a:picLocks noChangeAspect="1"/>
          </p:cNvPicPr>
          <p:nvPr/>
        </p:nvPicPr>
        <p:blipFill>
          <a:blip r:embed="rId3"/>
          <a:srcRect t="8000" b="8000"/>
          <a:stretch>
            <a:fillRect/>
          </a:stretch>
        </p:blipFill>
        <p:spPr>
          <a:xfrm>
            <a:off x="5897880" y="2011680"/>
            <a:ext cx="4800600" cy="2121408"/>
          </a:xfrm>
          <a:prstGeom prst="roundRect">
            <a:avLst>
              <a:gd name="adj" fmla="val 5085"/>
            </a:avLst>
          </a:prstGeom>
        </p:spPr>
      </p:pic>
      <p:sp>
        <p:nvSpPr>
          <p:cNvPr id="265" name="Shape 266"/>
          <p:cNvSpPr>
            <a:spLocks noGrp="1"/>
          </p:cNvSpPr>
          <p:nvPr/>
        </p:nvSpPr>
        <p:spPr>
          <a:xfrm>
            <a:off x="5897880" y="4261104"/>
            <a:ext cx="2880360" cy="301752"/>
          </a:xfrm>
          <a:prstGeom prst="roundRect">
            <a:avLst>
              <a:gd name="adj" fmla="val 20000"/>
            </a:avLst>
          </a:prstGeom>
          <a:solidFill>
            <a:srgbClr val="0B6B64"/>
          </a:solidFill>
          <a:ln w="0">
            <a:noFill/>
            <a:prstDash val="solid"/>
          </a:ln>
        </p:spPr>
        <p:txBody>
          <a:bodyPr/>
          <a:lstStyle/>
          <a:p>
            <a:endParaRPr lang="en-IN"/>
          </a:p>
        </p:txBody>
      </p:sp>
      <p:sp>
        <p:nvSpPr>
          <p:cNvPr id="267" name="Rectangle 268"/>
          <p:cNvSpPr>
            <a:spLocks noGrp="1"/>
          </p:cNvSpPr>
          <p:nvPr/>
        </p:nvSpPr>
        <p:spPr>
          <a:xfrm>
            <a:off x="5897880" y="4297680"/>
            <a:ext cx="2880360" cy="256032"/>
          </a:xfrm>
          <a:prstGeom prst="rect">
            <a:avLst/>
          </a:prstGeom>
          <a:noFill/>
          <a:ln w="0">
            <a:noFill/>
            <a:prstDash val="solid"/>
          </a:ln>
        </p:spPr>
        <p:txBody>
          <a:bodyPr lIns="0" tIns="0" rIns="0" bIns="0" anchor="t">
            <a:normAutofit/>
          </a:bodyPr>
          <a:lstStyle/>
          <a:p>
            <a:pPr algn="ctr">
              <a:lnSpc>
                <a:spcPct val="98000"/>
              </a:lnSpc>
              <a:buNone/>
              <a:defRPr sz="950" b="1" i="0">
                <a:solidFill>
                  <a:srgbClr val="FFFFFF"/>
                </a:solidFill>
                <a:latin typeface="Segoe UI Semibold"/>
                <a:ea typeface="Segoe UI Semibold"/>
                <a:cs typeface="Segoe UI Semibold"/>
              </a:defRPr>
            </a:pPr>
            <a:r>
              <a:rPr sz="950" b="1" i="0">
                <a:solidFill>
                  <a:srgbClr val="FFFFFF"/>
                </a:solidFill>
                <a:latin typeface="Segoe UI Semibold"/>
                <a:ea typeface="Segoe UI Semibold"/>
                <a:cs typeface="Segoe UI Semibold"/>
              </a:rPr>
              <a:t>GAIT REWARD  ·  7 RULES</a:t>
            </a:r>
          </a:p>
        </p:txBody>
      </p:sp>
      <p:sp>
        <p:nvSpPr>
          <p:cNvPr id="269" name="Rectangle 270"/>
          <p:cNvSpPr>
            <a:spLocks noGrp="1"/>
          </p:cNvSpPr>
          <p:nvPr/>
        </p:nvSpPr>
        <p:spPr>
          <a:xfrm>
            <a:off x="5897880" y="4709160"/>
            <a:ext cx="1591056" cy="411480"/>
          </a:xfrm>
          <a:prstGeom prst="rect">
            <a:avLst/>
          </a:prstGeom>
          <a:noFill/>
          <a:ln w="0">
            <a:noFill/>
            <a:prstDash val="solid"/>
          </a:ln>
        </p:spPr>
        <p:txBody>
          <a:bodyPr lIns="0" tIns="0" rIns="0" bIns="0" anchor="t">
            <a:normAutofit/>
          </a:bodyPr>
          <a:lstStyle/>
          <a:p>
            <a:pPr algn="l">
              <a:lnSpc>
                <a:spcPct val="98000"/>
              </a:lnSpc>
              <a:buNone/>
              <a:defRPr sz="2400" b="1" i="0">
                <a:solidFill>
                  <a:srgbClr val="0B6B64"/>
                </a:solidFill>
                <a:latin typeface="Segoe UI Semibold"/>
                <a:ea typeface="Segoe UI Semibold"/>
                <a:cs typeface="Segoe UI Semibold"/>
              </a:defRPr>
            </a:pPr>
            <a:r>
              <a:rPr sz="2400" b="1" i="0">
                <a:solidFill>
                  <a:srgbClr val="0B6B64"/>
                </a:solidFill>
                <a:latin typeface="Segoe UI Semibold"/>
                <a:ea typeface="Segoe UI Semibold"/>
                <a:cs typeface="Segoe UI Semibold"/>
              </a:rPr>
              <a:t>1.38</a:t>
            </a:r>
          </a:p>
        </p:txBody>
      </p:sp>
      <p:sp>
        <p:nvSpPr>
          <p:cNvPr id="271" name="Rectangle 272"/>
          <p:cNvSpPr>
            <a:spLocks noGrp="1"/>
          </p:cNvSpPr>
          <p:nvPr/>
        </p:nvSpPr>
        <p:spPr>
          <a:xfrm>
            <a:off x="5897880" y="5148072"/>
            <a:ext cx="1591056" cy="256032"/>
          </a:xfrm>
          <a:prstGeom prst="rect">
            <a:avLst/>
          </a:prstGeom>
          <a:noFill/>
          <a:ln w="0">
            <a:noFill/>
            <a:prstDash val="solid"/>
          </a:ln>
        </p:spPr>
        <p:txBody>
          <a:bodyPr lIns="0" tIns="0" rIns="0" bIns="0" anchor="t">
            <a:normAutofit/>
          </a:bodyPr>
          <a:lstStyle/>
          <a:p>
            <a:pPr algn="l">
              <a:lnSpc>
                <a:spcPct val="98000"/>
              </a:lnSpc>
              <a:buNone/>
              <a:defRPr sz="1000" b="1" i="0">
                <a:solidFill>
                  <a:srgbClr val="5B6670"/>
                </a:solidFill>
                <a:latin typeface="Segoe UI Semibold"/>
                <a:ea typeface="Segoe UI Semibold"/>
                <a:cs typeface="Segoe UI Semibold"/>
              </a:defRPr>
            </a:pPr>
            <a:r>
              <a:rPr sz="1000" b="1" i="0">
                <a:solidFill>
                  <a:srgbClr val="5B6670"/>
                </a:solidFill>
                <a:latin typeface="Segoe UI Semibold"/>
                <a:ea typeface="Segoe UI Semibold"/>
                <a:cs typeface="Segoe UI Semibold"/>
              </a:rPr>
              <a:t>metres/second</a:t>
            </a:r>
          </a:p>
        </p:txBody>
      </p:sp>
      <p:sp>
        <p:nvSpPr>
          <p:cNvPr id="273" name="Rectangle 274"/>
          <p:cNvSpPr>
            <a:spLocks noGrp="1"/>
          </p:cNvSpPr>
          <p:nvPr/>
        </p:nvSpPr>
        <p:spPr>
          <a:xfrm>
            <a:off x="7525512" y="4709160"/>
            <a:ext cx="1591056" cy="411480"/>
          </a:xfrm>
          <a:prstGeom prst="rect">
            <a:avLst/>
          </a:prstGeom>
          <a:noFill/>
          <a:ln w="0">
            <a:noFill/>
            <a:prstDash val="solid"/>
          </a:ln>
        </p:spPr>
        <p:txBody>
          <a:bodyPr lIns="0" tIns="0" rIns="0" bIns="0" anchor="t">
            <a:normAutofit/>
          </a:bodyPr>
          <a:lstStyle/>
          <a:p>
            <a:pPr algn="l">
              <a:lnSpc>
                <a:spcPct val="98000"/>
              </a:lnSpc>
              <a:buNone/>
              <a:defRPr sz="2400" b="1" i="0">
                <a:solidFill>
                  <a:srgbClr val="0B6B64"/>
                </a:solidFill>
                <a:latin typeface="Segoe UI Semibold"/>
                <a:ea typeface="Segoe UI Semibold"/>
                <a:cs typeface="Segoe UI Semibold"/>
              </a:defRPr>
            </a:pPr>
            <a:r>
              <a:rPr sz="2400" b="1" i="0">
                <a:solidFill>
                  <a:srgbClr val="0B6B64"/>
                </a:solidFill>
                <a:latin typeface="Segoe UI Semibold"/>
                <a:ea typeface="Segoe UI Semibold"/>
                <a:cs typeface="Segoe UI Semibold"/>
              </a:rPr>
              <a:t>1,000</a:t>
            </a:r>
          </a:p>
        </p:txBody>
      </p:sp>
      <p:sp>
        <p:nvSpPr>
          <p:cNvPr id="275" name="Rectangle 276"/>
          <p:cNvSpPr>
            <a:spLocks noGrp="1"/>
          </p:cNvSpPr>
          <p:nvPr/>
        </p:nvSpPr>
        <p:spPr>
          <a:xfrm>
            <a:off x="7525512" y="5148072"/>
            <a:ext cx="1591056" cy="256032"/>
          </a:xfrm>
          <a:prstGeom prst="rect">
            <a:avLst/>
          </a:prstGeom>
          <a:noFill/>
          <a:ln w="0">
            <a:noFill/>
            <a:prstDash val="solid"/>
          </a:ln>
        </p:spPr>
        <p:txBody>
          <a:bodyPr lIns="0" tIns="0" rIns="0" bIns="0" anchor="t">
            <a:normAutofit/>
          </a:bodyPr>
          <a:lstStyle/>
          <a:p>
            <a:pPr algn="l">
              <a:lnSpc>
                <a:spcPct val="98000"/>
              </a:lnSpc>
              <a:buNone/>
              <a:defRPr sz="1000" b="1" i="0">
                <a:solidFill>
                  <a:srgbClr val="5B6670"/>
                </a:solidFill>
                <a:latin typeface="Segoe UI Semibold"/>
                <a:ea typeface="Segoe UI Semibold"/>
                <a:cs typeface="Segoe UI Semibold"/>
              </a:defRPr>
            </a:pPr>
            <a:r>
              <a:rPr sz="1000" b="1" i="0">
                <a:solidFill>
                  <a:srgbClr val="5B6670"/>
                </a:solidFill>
                <a:latin typeface="Segoe UI Semibold"/>
                <a:ea typeface="Segoe UI Semibold"/>
                <a:cs typeface="Segoe UI Semibold"/>
              </a:rPr>
              <a:t>steps per attempt</a:t>
            </a:r>
          </a:p>
        </p:txBody>
      </p:sp>
      <p:sp>
        <p:nvSpPr>
          <p:cNvPr id="277" name="Rectangle 278"/>
          <p:cNvSpPr>
            <a:spLocks noGrp="1"/>
          </p:cNvSpPr>
          <p:nvPr/>
        </p:nvSpPr>
        <p:spPr>
          <a:xfrm>
            <a:off x="9153144" y="4709160"/>
            <a:ext cx="1591056" cy="411480"/>
          </a:xfrm>
          <a:prstGeom prst="rect">
            <a:avLst/>
          </a:prstGeom>
          <a:noFill/>
          <a:ln w="0">
            <a:noFill/>
            <a:prstDash val="solid"/>
          </a:ln>
        </p:spPr>
        <p:txBody>
          <a:bodyPr lIns="0" tIns="0" rIns="0" bIns="0" anchor="t">
            <a:normAutofit/>
          </a:bodyPr>
          <a:lstStyle/>
          <a:p>
            <a:pPr algn="l">
              <a:lnSpc>
                <a:spcPct val="98000"/>
              </a:lnSpc>
              <a:buNone/>
              <a:defRPr sz="2400" b="1" i="0">
                <a:solidFill>
                  <a:srgbClr val="0B6B64"/>
                </a:solidFill>
                <a:latin typeface="Segoe UI Semibold"/>
                <a:ea typeface="Segoe UI Semibold"/>
                <a:cs typeface="Segoe UI Semibold"/>
              </a:defRPr>
            </a:pPr>
            <a:r>
              <a:rPr sz="2400" b="1" i="0">
                <a:solidFill>
                  <a:srgbClr val="0B6B64"/>
                </a:solidFill>
                <a:latin typeface="Segoe UI Semibold"/>
                <a:ea typeface="Segoe UI Semibold"/>
                <a:cs typeface="Segoe UI Semibold"/>
              </a:rPr>
              <a:t>43%</a:t>
            </a:r>
          </a:p>
        </p:txBody>
      </p:sp>
      <p:sp>
        <p:nvSpPr>
          <p:cNvPr id="279" name="Rectangle 280"/>
          <p:cNvSpPr>
            <a:spLocks noGrp="1"/>
          </p:cNvSpPr>
          <p:nvPr/>
        </p:nvSpPr>
        <p:spPr>
          <a:xfrm>
            <a:off x="9153144" y="5148072"/>
            <a:ext cx="1591056" cy="256032"/>
          </a:xfrm>
          <a:prstGeom prst="rect">
            <a:avLst/>
          </a:prstGeom>
          <a:noFill/>
          <a:ln w="0">
            <a:noFill/>
            <a:prstDash val="solid"/>
          </a:ln>
        </p:spPr>
        <p:txBody>
          <a:bodyPr lIns="0" tIns="0" rIns="0" bIns="0" anchor="t">
            <a:normAutofit/>
          </a:bodyPr>
          <a:lstStyle/>
          <a:p>
            <a:pPr algn="l">
              <a:lnSpc>
                <a:spcPct val="98000"/>
              </a:lnSpc>
              <a:buNone/>
              <a:defRPr sz="1000" b="1" i="0">
                <a:solidFill>
                  <a:srgbClr val="5B6670"/>
                </a:solidFill>
                <a:latin typeface="Segoe UI Semibold"/>
                <a:ea typeface="Segoe UI Semibold"/>
                <a:cs typeface="Segoe UI Semibold"/>
              </a:defRPr>
            </a:pPr>
            <a:r>
              <a:rPr sz="1000" b="1" i="0">
                <a:solidFill>
                  <a:srgbClr val="5B6670"/>
                </a:solidFill>
                <a:latin typeface="Segoe UI Semibold"/>
                <a:ea typeface="Segoe UI Semibold"/>
                <a:cs typeface="Segoe UI Semibold"/>
              </a:rPr>
              <a:t>of time in the air</a:t>
            </a:r>
          </a:p>
        </p:txBody>
      </p:sp>
      <p:sp>
        <p:nvSpPr>
          <p:cNvPr id="281" name="Rectangle 282"/>
          <p:cNvSpPr>
            <a:spLocks noGrp="1"/>
          </p:cNvSpPr>
          <p:nvPr/>
        </p:nvSpPr>
        <p:spPr>
          <a:xfrm>
            <a:off x="5897880" y="5449824"/>
            <a:ext cx="4800600" cy="219456"/>
          </a:xfrm>
          <a:prstGeom prst="rect">
            <a:avLst/>
          </a:prstGeom>
          <a:noFill/>
          <a:ln w="0">
            <a:noFill/>
            <a:prstDash val="solid"/>
          </a:ln>
        </p:spPr>
        <p:txBody>
          <a:bodyPr lIns="0" tIns="0" rIns="0" bIns="0" anchor="t">
            <a:normAutofit/>
          </a:bodyPr>
          <a:lstStyle/>
          <a:p>
            <a:pPr algn="l">
              <a:lnSpc>
                <a:spcPct val="98000"/>
              </a:lnSpc>
              <a:buNone/>
              <a:defRPr sz="1050" b="0" i="0">
                <a:solidFill>
                  <a:srgbClr val="5B6670"/>
                </a:solidFill>
                <a:latin typeface="Segoe UI"/>
                <a:ea typeface="Segoe UI"/>
                <a:cs typeface="Segoe UI"/>
              </a:defRPr>
            </a:pPr>
            <a:r>
              <a:rPr sz="1050" b="0" i="0">
                <a:solidFill>
                  <a:srgbClr val="5B6670"/>
                </a:solidFill>
                <a:latin typeface="Segoe UI"/>
                <a:ea typeface="Segoe UI"/>
                <a:cs typeface="Segoe UI"/>
              </a:rPr>
              <a:t>This reward pays the robot for leaving the ground, and drops the rules against it.</a:t>
            </a:r>
          </a:p>
        </p:txBody>
      </p:sp>
      <p:sp>
        <p:nvSpPr>
          <p:cNvPr id="283" name="Rectangle 284"/>
          <p:cNvSpPr>
            <a:spLocks noGrp="1"/>
          </p:cNvSpPr>
          <p:nvPr/>
        </p:nvSpPr>
        <p:spPr>
          <a:xfrm>
            <a:off x="685800" y="5870448"/>
            <a:ext cx="10817352" cy="457200"/>
          </a:xfrm>
          <a:prstGeom prst="rect">
            <a:avLst/>
          </a:prstGeom>
          <a:noFill/>
          <a:ln w="0">
            <a:noFill/>
            <a:prstDash val="solid"/>
          </a:ln>
        </p:spPr>
        <p:txBody>
          <a:bodyPr lIns="0" tIns="0" rIns="0" bIns="0" anchor="t">
            <a:normAutofit/>
          </a:bodyPr>
          <a:lstStyle/>
          <a:p>
            <a:pPr algn="l">
              <a:lnSpc>
                <a:spcPct val="98000"/>
              </a:lnSpc>
              <a:buNone/>
              <a:defRPr sz="1500" b="0" i="0">
                <a:solidFill>
                  <a:srgbClr val="18232F"/>
                </a:solidFill>
                <a:latin typeface="Segoe UI"/>
                <a:ea typeface="Segoe UI"/>
                <a:cs typeface="Segoe UI"/>
              </a:defRPr>
            </a:pPr>
            <a:r>
              <a:rPr sz="1500" b="0" i="0">
                <a:solidFill>
                  <a:srgbClr val="18232F"/>
                </a:solidFill>
                <a:latin typeface="Segoe UI"/>
                <a:ea typeface="Segoe UI"/>
                <a:cs typeface="Segoe UI"/>
              </a:rPr>
              <a:t>The same Unitree Go1 robot and the same 40 million training steps. Only the reward changed.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285" name="Rectangle 286"/>
          <p:cNvSpPr>
            <a:spLocks noGrp="1"/>
          </p:cNvSpPr>
          <p:nvPr/>
        </p:nvSpPr>
        <p:spPr>
          <a:xfrm>
            <a:off x="11109960" y="265176"/>
            <a:ext cx="402336" cy="228600"/>
          </a:xfrm>
          <a:prstGeom prst="rect">
            <a:avLst/>
          </a:prstGeom>
          <a:noFill/>
          <a:ln w="0">
            <a:noFill/>
            <a:prstDash val="solid"/>
          </a:ln>
        </p:spPr>
        <p:txBody>
          <a:bodyPr lIns="0" tIns="0" rIns="0" bIns="0" anchor="t">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17</a:t>
            </a:r>
          </a:p>
        </p:txBody>
      </p:sp>
      <p:sp>
        <p:nvSpPr>
          <p:cNvPr id="287" name="Rectangle 288"/>
          <p:cNvSpPr>
            <a:spLocks noGrp="1"/>
          </p:cNvSpPr>
          <p:nvPr/>
        </p:nvSpPr>
        <p:spPr>
          <a:xfrm>
            <a:off x="685800" y="713232"/>
            <a:ext cx="10817352" cy="1161288"/>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One reward broke the training,</a:t>
            </a:r>
          </a:p>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and that taught us a rule</a:t>
            </a:r>
          </a:p>
        </p:txBody>
      </p:sp>
      <p:sp>
        <p:nvSpPr>
          <p:cNvPr id="289" name="Shape 290"/>
          <p:cNvSpPr>
            <a:spLocks noGrp="1"/>
          </p:cNvSpPr>
          <p:nvPr/>
        </p:nvSpPr>
        <p:spPr>
          <a:xfrm>
            <a:off x="685800" y="6455664"/>
            <a:ext cx="10817352" cy="9510"/>
          </a:xfrm>
          <a:prstGeom prst="rect">
            <a:avLst/>
          </a:prstGeom>
          <a:solidFill>
            <a:srgbClr val="D5DAD6"/>
          </a:solidFill>
          <a:ln w="0">
            <a:noFill/>
            <a:prstDash val="solid"/>
          </a:ln>
        </p:spPr>
        <p:txBody>
          <a:bodyPr/>
          <a:lstStyle/>
          <a:p>
            <a:endParaRPr lang="en-IN"/>
          </a:p>
        </p:txBody>
      </p:sp>
      <p:sp>
        <p:nvSpPr>
          <p:cNvPr id="291" name="Rectangle 292"/>
          <p:cNvSpPr>
            <a:spLocks noGrp="1"/>
          </p:cNvSpPr>
          <p:nvPr/>
        </p:nvSpPr>
        <p:spPr>
          <a:xfrm>
            <a:off x="731520" y="1847088"/>
            <a:ext cx="6583680" cy="274320"/>
          </a:xfrm>
          <a:prstGeom prst="rect">
            <a:avLst/>
          </a:prstGeom>
          <a:noFill/>
          <a:ln w="0">
            <a:noFill/>
            <a:prstDash val="solid"/>
          </a:ln>
        </p:spPr>
        <p:txBody>
          <a:bodyPr lIns="0" tIns="0" rIns="0" bIns="0" anchor="t">
            <a:normAutofit/>
          </a:bodyPr>
          <a:lstStyle/>
          <a:p>
            <a:pPr algn="l">
              <a:lnSpc>
                <a:spcPct val="98000"/>
              </a:lnSpc>
              <a:buNone/>
              <a:defRPr sz="1275" b="1" i="0">
                <a:solidFill>
                  <a:srgbClr val="5B6670"/>
                </a:solidFill>
                <a:latin typeface="Segoe UI Semibold"/>
                <a:ea typeface="Segoe UI Semibold"/>
                <a:cs typeface="Segoe UI Semibold"/>
              </a:defRPr>
            </a:pPr>
            <a:r>
              <a:rPr sz="1275" b="1" i="0">
                <a:solidFill>
                  <a:srgbClr val="5B6670"/>
                </a:solidFill>
                <a:latin typeface="Segoe UI Semibold"/>
                <a:ea typeface="Segoe UI Semibold"/>
                <a:cs typeface="Segoe UI Semibold"/>
              </a:rPr>
              <a:t>Average score per attempt, over 60 million steps of training</a:t>
            </a:r>
          </a:p>
        </p:txBody>
      </p:sp>
      <p:pic>
        <p:nvPicPr>
          <p:cNvPr id="293" name="Chart 294"/>
          <p:cNvPicPr>
            <a:picLocks noChangeAspect="1"/>
          </p:cNvPicPr>
          <p:nvPr/>
        </p:nvPicPr>
        <p:blipFill>
          <a:blip r:embed="rId2"/>
          <a:stretch>
            <a:fillRect/>
          </a:stretch>
        </p:blipFill>
        <p:spPr>
          <a:xfrm>
            <a:off x="658368" y="2157984"/>
            <a:ext cx="6766560" cy="3017520"/>
          </a:xfrm>
          <a:prstGeom prst="rect">
            <a:avLst/>
          </a:prstGeom>
        </p:spPr>
      </p:pic>
      <p:sp>
        <p:nvSpPr>
          <p:cNvPr id="295" name="Rectangle 296"/>
          <p:cNvSpPr>
            <a:spLocks noGrp="1"/>
          </p:cNvSpPr>
          <p:nvPr/>
        </p:nvSpPr>
        <p:spPr>
          <a:xfrm>
            <a:off x="731520" y="5358384"/>
            <a:ext cx="6766560" cy="502920"/>
          </a:xfrm>
          <a:prstGeom prst="rect">
            <a:avLst/>
          </a:prstGeom>
          <a:noFill/>
          <a:ln w="0">
            <a:noFill/>
            <a:prstDash val="solid"/>
          </a:ln>
        </p:spPr>
        <p:txBody>
          <a:bodyPr lIns="0" tIns="0" rIns="0" bIns="0" anchor="t">
            <a:normAutofit/>
          </a:bodyPr>
          <a:lstStyle/>
          <a:p>
            <a:pPr algn="l">
              <a:lnSpc>
                <a:spcPct val="98000"/>
              </a:lnSpc>
              <a:buNone/>
              <a:defRPr sz="1275" b="1" i="0">
                <a:solidFill>
                  <a:srgbClr val="5B6670"/>
                </a:solidFill>
                <a:latin typeface="Segoe UI Semibold"/>
                <a:ea typeface="Segoe UI Semibold"/>
                <a:cs typeface="Segoe UI Semibold"/>
              </a:defRPr>
            </a:pPr>
            <a:r>
              <a:rPr sz="1275" b="1" i="0">
                <a:solidFill>
                  <a:srgbClr val="5B6670"/>
                </a:solidFill>
                <a:latin typeface="Segoe UI Semibold"/>
                <a:ea typeface="Segoe UI Semibold"/>
                <a:cs typeface="Segoe UI Semibold"/>
              </a:rPr>
              <a:t>Higher is better. The score climbs, crashes, climbs again and ends near zero:</a:t>
            </a:r>
          </a:p>
          <a:p>
            <a:pPr algn="l">
              <a:lnSpc>
                <a:spcPct val="98000"/>
              </a:lnSpc>
              <a:buNone/>
              <a:defRPr sz="1275" b="1" i="0">
                <a:solidFill>
                  <a:srgbClr val="5B6670"/>
                </a:solidFill>
                <a:latin typeface="Segoe UI Semibold"/>
                <a:ea typeface="Segoe UI Semibold"/>
                <a:cs typeface="Segoe UI Semibold"/>
              </a:defRPr>
            </a:pPr>
            <a:r>
              <a:rPr sz="1275" b="1" i="0">
                <a:solidFill>
                  <a:srgbClr val="5B6670"/>
                </a:solidFill>
                <a:latin typeface="Segoe UI Semibold"/>
                <a:ea typeface="Segoe UI Semibold"/>
                <a:cs typeface="Segoe UI Semibold"/>
              </a:rPr>
              <a:t>the robot kept losing what it had learned.</a:t>
            </a:r>
          </a:p>
        </p:txBody>
      </p:sp>
      <p:sp>
        <p:nvSpPr>
          <p:cNvPr id="297" name="Shape 298"/>
          <p:cNvSpPr>
            <a:spLocks noGrp="1"/>
          </p:cNvSpPr>
          <p:nvPr/>
        </p:nvSpPr>
        <p:spPr>
          <a:xfrm>
            <a:off x="7635240" y="1847088"/>
            <a:ext cx="3520440" cy="3566160"/>
          </a:xfrm>
          <a:prstGeom prst="roundRect">
            <a:avLst>
              <a:gd name="adj" fmla="val 7000"/>
            </a:avLst>
          </a:prstGeom>
          <a:solidFill>
            <a:srgbClr val="F2E2D9"/>
          </a:solidFill>
          <a:ln w="0">
            <a:noFill/>
            <a:prstDash val="solid"/>
          </a:ln>
        </p:spPr>
        <p:txBody>
          <a:bodyPr/>
          <a:lstStyle/>
          <a:p>
            <a:endParaRPr lang="en-IN"/>
          </a:p>
        </p:txBody>
      </p:sp>
      <p:sp>
        <p:nvSpPr>
          <p:cNvPr id="299" name="Rectangle 300"/>
          <p:cNvSpPr>
            <a:spLocks noGrp="1"/>
          </p:cNvSpPr>
          <p:nvPr/>
        </p:nvSpPr>
        <p:spPr>
          <a:xfrm>
            <a:off x="7955280" y="2084832"/>
            <a:ext cx="2926080" cy="320040"/>
          </a:xfrm>
          <a:prstGeom prst="rect">
            <a:avLst/>
          </a:prstGeom>
          <a:noFill/>
          <a:ln w="0">
            <a:noFill/>
            <a:prstDash val="solid"/>
          </a:ln>
        </p:spPr>
        <p:txBody>
          <a:bodyPr lIns="0" tIns="0" rIns="0" bIns="0" anchor="t">
            <a:normAutofit/>
          </a:bodyPr>
          <a:lstStyle/>
          <a:p>
            <a:pPr algn="l">
              <a:lnSpc>
                <a:spcPct val="98000"/>
              </a:lnSpc>
              <a:buNone/>
              <a:defRPr sz="1725" b="1" i="0">
                <a:solidFill>
                  <a:srgbClr val="18232F"/>
                </a:solidFill>
                <a:latin typeface="Segoe UI Semibold"/>
                <a:ea typeface="Segoe UI Semibold"/>
                <a:cs typeface="Segoe UI Semibold"/>
              </a:defRPr>
            </a:pPr>
            <a:r>
              <a:rPr sz="1725" b="1" i="0">
                <a:solidFill>
                  <a:srgbClr val="18232F"/>
                </a:solidFill>
                <a:latin typeface="Segoe UI Semibold"/>
                <a:ea typeface="Segoe UI Semibold"/>
                <a:cs typeface="Segoe UI Semibold"/>
              </a:rPr>
              <a:t>What we changed</a:t>
            </a:r>
          </a:p>
        </p:txBody>
      </p:sp>
      <p:sp>
        <p:nvSpPr>
          <p:cNvPr id="301" name="Rectangle 302"/>
          <p:cNvSpPr>
            <a:spLocks noGrp="1"/>
          </p:cNvSpPr>
          <p:nvPr/>
        </p:nvSpPr>
        <p:spPr>
          <a:xfrm>
            <a:off x="7955280" y="2615184"/>
            <a:ext cx="2926080" cy="548640"/>
          </a:xfrm>
          <a:prstGeom prst="rect">
            <a:avLst/>
          </a:prstGeom>
          <a:noFill/>
          <a:ln w="0">
            <a:noFill/>
            <a:prstDash val="solid"/>
          </a:ln>
        </p:spPr>
        <p:txBody>
          <a:bodyPr lIns="0" tIns="0" rIns="0" bIns="0" anchor="t">
            <a:normAutofit/>
          </a:bodyPr>
          <a:lstStyle/>
          <a:p>
            <a:pPr algn="l">
              <a:lnSpc>
                <a:spcPct val="98000"/>
              </a:lnSpc>
              <a:buNone/>
              <a:defRPr sz="1350" b="0" i="0">
                <a:solidFill>
                  <a:srgbClr val="18232F"/>
                </a:solidFill>
                <a:latin typeface="Segoe UI"/>
                <a:ea typeface="Segoe UI"/>
                <a:cs typeface="Segoe UI"/>
              </a:defRPr>
            </a:pPr>
            <a:r>
              <a:rPr sz="1350" b="0" i="0">
                <a:solidFill>
                  <a:srgbClr val="18232F"/>
                </a:solidFill>
                <a:latin typeface="Segoe UI"/>
                <a:ea typeface="Segoe UI"/>
                <a:cs typeface="Segoe UI"/>
              </a:rPr>
              <a:t>Penalties are now an average across the joints instead of a sum</a:t>
            </a:r>
          </a:p>
        </p:txBody>
      </p:sp>
      <p:sp>
        <p:nvSpPr>
          <p:cNvPr id="303" name="Rectangle 304"/>
          <p:cNvSpPr>
            <a:spLocks noGrp="1"/>
          </p:cNvSpPr>
          <p:nvPr/>
        </p:nvSpPr>
        <p:spPr>
          <a:xfrm>
            <a:off x="7955280" y="3300984"/>
            <a:ext cx="2926080" cy="548640"/>
          </a:xfrm>
          <a:prstGeom prst="rect">
            <a:avLst/>
          </a:prstGeom>
          <a:noFill/>
          <a:ln w="0">
            <a:noFill/>
            <a:prstDash val="solid"/>
          </a:ln>
        </p:spPr>
        <p:txBody>
          <a:bodyPr lIns="0" tIns="0" rIns="0" bIns="0" anchor="t">
            <a:normAutofit/>
          </a:bodyPr>
          <a:lstStyle/>
          <a:p>
            <a:pPr algn="l">
              <a:lnSpc>
                <a:spcPct val="98000"/>
              </a:lnSpc>
              <a:buNone/>
              <a:defRPr sz="1350" b="0" i="0">
                <a:solidFill>
                  <a:srgbClr val="18232F"/>
                </a:solidFill>
                <a:latin typeface="Segoe UI"/>
                <a:ea typeface="Segoe UI"/>
                <a:cs typeface="Segoe UI"/>
              </a:defRPr>
            </a:pPr>
            <a:r>
              <a:rPr sz="1350" b="0" i="0">
                <a:solidFill>
                  <a:srgbClr val="18232F"/>
                </a:solidFill>
                <a:latin typeface="Segoe UI"/>
                <a:ea typeface="Segoe UI"/>
                <a:cs typeface="Segoe UI"/>
              </a:rPr>
              <a:t>The best version is saved as well as the last one</a:t>
            </a:r>
          </a:p>
        </p:txBody>
      </p:sp>
      <p:sp>
        <p:nvSpPr>
          <p:cNvPr id="305" name="Rectangle 306"/>
          <p:cNvSpPr>
            <a:spLocks noGrp="1"/>
          </p:cNvSpPr>
          <p:nvPr/>
        </p:nvSpPr>
        <p:spPr>
          <a:xfrm>
            <a:off x="7955280" y="3986784"/>
            <a:ext cx="2926080" cy="548640"/>
          </a:xfrm>
          <a:prstGeom prst="rect">
            <a:avLst/>
          </a:prstGeom>
          <a:noFill/>
          <a:ln w="0">
            <a:noFill/>
            <a:prstDash val="solid"/>
          </a:ln>
        </p:spPr>
        <p:txBody>
          <a:bodyPr lIns="0" tIns="0" rIns="0" bIns="0" anchor="t">
            <a:normAutofit/>
          </a:bodyPr>
          <a:lstStyle/>
          <a:p>
            <a:pPr algn="l">
              <a:lnSpc>
                <a:spcPct val="98000"/>
              </a:lnSpc>
              <a:buNone/>
              <a:defRPr sz="1350" b="0" i="0">
                <a:solidFill>
                  <a:srgbClr val="18232F"/>
                </a:solidFill>
                <a:latin typeface="Segoe UI"/>
                <a:ea typeface="Segoe UI"/>
                <a:cs typeface="Segoe UI"/>
              </a:defRPr>
            </a:pPr>
            <a:r>
              <a:rPr sz="1350" b="0" i="0">
                <a:solidFill>
                  <a:srgbClr val="18232F"/>
                </a:solidFill>
                <a:latin typeface="Segoe UI"/>
                <a:ea typeface="Segoe UI"/>
                <a:cs typeface="Segoe UI"/>
              </a:rPr>
              <a:t>Each rule is recorded on its own graph</a:t>
            </a:r>
          </a:p>
        </p:txBody>
      </p:sp>
      <p:sp>
        <p:nvSpPr>
          <p:cNvPr id="307" name="Rectangle 308"/>
          <p:cNvSpPr>
            <a:spLocks noGrp="1"/>
          </p:cNvSpPr>
          <p:nvPr/>
        </p:nvSpPr>
        <p:spPr>
          <a:xfrm>
            <a:off x="7955280" y="4672584"/>
            <a:ext cx="2926080" cy="548640"/>
          </a:xfrm>
          <a:prstGeom prst="rect">
            <a:avLst/>
          </a:prstGeom>
          <a:noFill/>
          <a:ln w="0">
            <a:noFill/>
            <a:prstDash val="solid"/>
          </a:ln>
        </p:spPr>
        <p:txBody>
          <a:bodyPr lIns="0" tIns="0" rIns="0" bIns="0" anchor="t">
            <a:normAutofit/>
          </a:bodyPr>
          <a:lstStyle/>
          <a:p>
            <a:pPr algn="l">
              <a:lnSpc>
                <a:spcPct val="98000"/>
              </a:lnSpc>
              <a:buNone/>
              <a:defRPr sz="1350" b="0" i="0">
                <a:solidFill>
                  <a:srgbClr val="18232F"/>
                </a:solidFill>
                <a:latin typeface="Segoe UI"/>
                <a:ea typeface="Segoe UI"/>
                <a:cs typeface="Segoe UI"/>
              </a:defRPr>
            </a:pPr>
            <a:r>
              <a:rPr sz="1350" b="0" i="0">
                <a:solidFill>
                  <a:srgbClr val="18232F"/>
                </a:solidFill>
                <a:latin typeface="Segoe UI"/>
                <a:ea typeface="Segoe UI"/>
                <a:cs typeface="Segoe UI"/>
              </a:rPr>
              <a:t>The app checks the reward size before training starts</a:t>
            </a:r>
          </a:p>
        </p:txBody>
      </p:sp>
      <p:sp>
        <p:nvSpPr>
          <p:cNvPr id="309" name="Rectangle 310"/>
          <p:cNvSpPr>
            <a:spLocks noGrp="1"/>
          </p:cNvSpPr>
          <p:nvPr/>
        </p:nvSpPr>
        <p:spPr>
          <a:xfrm>
            <a:off x="731520" y="5961888"/>
            <a:ext cx="10424160" cy="411480"/>
          </a:xfrm>
          <a:prstGeom prst="rect">
            <a:avLst/>
          </a:prstGeom>
          <a:noFill/>
          <a:ln w="0">
            <a:noFill/>
            <a:prstDash val="solid"/>
          </a:ln>
        </p:spPr>
        <p:txBody>
          <a:bodyPr lIns="0" tIns="0" rIns="0" bIns="0" anchor="t">
            <a:normAutofit/>
          </a:bodyPr>
          <a:lstStyle/>
          <a:p>
            <a:pPr algn="l">
              <a:lnSpc>
                <a:spcPct val="98000"/>
              </a:lnSpc>
              <a:buNone/>
              <a:defRPr sz="1425" b="0" i="0">
                <a:solidFill>
                  <a:srgbClr val="18232F"/>
                </a:solidFill>
                <a:latin typeface="Segoe UI"/>
                <a:ea typeface="Segoe UI"/>
                <a:cs typeface="Segoe UI"/>
              </a:defRPr>
            </a:pPr>
            <a:r>
              <a:rPr sz="1425" b="0" i="0">
                <a:solidFill>
                  <a:srgbClr val="18232F"/>
                </a:solidFill>
                <a:latin typeface="Segoe UI"/>
                <a:ea typeface="Segoe UI"/>
                <a:cs typeface="Segoe UI"/>
              </a:rPr>
              <a:t>Unitree A1, 60 million steps. One penalty grew with the number of joints until falling over scored better than walking.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311" name="Rectangle 312"/>
          <p:cNvSpPr>
            <a:spLocks noGrp="1"/>
          </p:cNvSpPr>
          <p:nvPr/>
        </p:nvSpPr>
        <p:spPr>
          <a:xfrm>
            <a:off x="11109960" y="265176"/>
            <a:ext cx="402336" cy="228600"/>
          </a:xfrm>
          <a:prstGeom prst="rect">
            <a:avLst/>
          </a:prstGeom>
          <a:noFill/>
          <a:ln w="0">
            <a:noFill/>
            <a:prstDash val="solid"/>
          </a:ln>
        </p:spPr>
        <p:txBody>
          <a:bodyPr lIns="0" tIns="0" rIns="0" bIns="0" anchor="t">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20</a:t>
            </a:r>
          </a:p>
        </p:txBody>
      </p:sp>
      <p:sp>
        <p:nvSpPr>
          <p:cNvPr id="313" name="Rectangle 314"/>
          <p:cNvSpPr>
            <a:spLocks noGrp="1"/>
          </p:cNvSpPr>
          <p:nvPr/>
        </p:nvSpPr>
        <p:spPr>
          <a:xfrm>
            <a:off x="685800" y="713232"/>
            <a:ext cx="10817352" cy="804672"/>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Every run was faster than the one before</a:t>
            </a:r>
          </a:p>
        </p:txBody>
      </p:sp>
      <p:sp>
        <p:nvSpPr>
          <p:cNvPr id="315" name="Shape 316"/>
          <p:cNvSpPr>
            <a:spLocks noGrp="1"/>
          </p:cNvSpPr>
          <p:nvPr/>
        </p:nvSpPr>
        <p:spPr>
          <a:xfrm>
            <a:off x="685800" y="6455664"/>
            <a:ext cx="10817352" cy="9510"/>
          </a:xfrm>
          <a:prstGeom prst="rect">
            <a:avLst/>
          </a:prstGeom>
          <a:solidFill>
            <a:srgbClr val="D5DAD6"/>
          </a:solidFill>
          <a:ln w="0">
            <a:noFill/>
            <a:prstDash val="solid"/>
          </a:ln>
        </p:spPr>
        <p:txBody>
          <a:bodyPr/>
          <a:lstStyle/>
          <a:p>
            <a:endParaRPr lang="en-IN"/>
          </a:p>
        </p:txBody>
      </p:sp>
      <p:sp>
        <p:nvSpPr>
          <p:cNvPr id="317" name="Rectangle 318"/>
          <p:cNvSpPr>
            <a:spLocks noGrp="1"/>
          </p:cNvSpPr>
          <p:nvPr/>
        </p:nvSpPr>
        <p:spPr>
          <a:xfrm>
            <a:off x="731520" y="1755648"/>
            <a:ext cx="6949440" cy="274320"/>
          </a:xfrm>
          <a:prstGeom prst="rect">
            <a:avLst/>
          </a:prstGeom>
          <a:noFill/>
          <a:ln w="0">
            <a:noFill/>
            <a:prstDash val="solid"/>
          </a:ln>
        </p:spPr>
        <p:txBody>
          <a:bodyPr lIns="0" tIns="0" rIns="0" bIns="0" anchor="t">
            <a:normAutofit/>
          </a:bodyPr>
          <a:lstStyle/>
          <a:p>
            <a:pPr algn="l">
              <a:lnSpc>
                <a:spcPct val="98000"/>
              </a:lnSpc>
              <a:buNone/>
              <a:defRPr sz="1275" b="1" i="0">
                <a:solidFill>
                  <a:srgbClr val="5B6670"/>
                </a:solidFill>
                <a:latin typeface="Segoe UI Semibold"/>
                <a:ea typeface="Segoe UI Semibold"/>
                <a:cs typeface="Segoe UI Semibold"/>
              </a:defRPr>
            </a:pPr>
            <a:r>
              <a:rPr sz="1275" b="1" i="0">
                <a:solidFill>
                  <a:srgbClr val="5B6670"/>
                </a:solidFill>
                <a:latin typeface="Segoe UI Semibold"/>
                <a:ea typeface="Segoe UI Semibold"/>
                <a:cs typeface="Segoe UI Semibold"/>
              </a:rPr>
              <a:t>Steps of simulation per second, averaged over each run</a:t>
            </a:r>
          </a:p>
        </p:txBody>
      </p:sp>
      <p:pic>
        <p:nvPicPr>
          <p:cNvPr id="319" name="Chart 320"/>
          <p:cNvPicPr>
            <a:picLocks noChangeAspect="1"/>
          </p:cNvPicPr>
          <p:nvPr/>
        </p:nvPicPr>
        <p:blipFill>
          <a:blip r:embed="rId2"/>
          <a:stretch>
            <a:fillRect/>
          </a:stretch>
        </p:blipFill>
        <p:spPr>
          <a:xfrm>
            <a:off x="658368" y="2048256"/>
            <a:ext cx="7498080" cy="2944368"/>
          </a:xfrm>
          <a:prstGeom prst="rect">
            <a:avLst/>
          </a:prstGeom>
        </p:spPr>
      </p:pic>
      <p:sp>
        <p:nvSpPr>
          <p:cNvPr id="321" name="Rectangle 322"/>
          <p:cNvSpPr>
            <a:spLocks noGrp="1"/>
          </p:cNvSpPr>
          <p:nvPr/>
        </p:nvSpPr>
        <p:spPr>
          <a:xfrm>
            <a:off x="731520" y="5230368"/>
            <a:ext cx="7360920" cy="502920"/>
          </a:xfrm>
          <a:prstGeom prst="rect">
            <a:avLst/>
          </a:prstGeom>
          <a:noFill/>
          <a:ln w="0">
            <a:noFill/>
            <a:prstDash val="solid"/>
          </a:ln>
        </p:spPr>
        <p:txBody>
          <a:bodyPr lIns="0" tIns="0" rIns="0" bIns="0" anchor="t">
            <a:normAutofit/>
          </a:bodyPr>
          <a:lstStyle/>
          <a:p>
            <a:pPr algn="l">
              <a:lnSpc>
                <a:spcPct val="98000"/>
              </a:lnSpc>
              <a:buNone/>
              <a:defRPr sz="1275" b="1" i="0">
                <a:solidFill>
                  <a:srgbClr val="5B6670"/>
                </a:solidFill>
                <a:latin typeface="Segoe UI Semibold"/>
                <a:ea typeface="Segoe UI Semibold"/>
                <a:cs typeface="Segoe UI Semibold"/>
              </a:defRPr>
            </a:pPr>
            <a:r>
              <a:rPr sz="1275" b="1" i="0">
                <a:solidFill>
                  <a:srgbClr val="5B6670"/>
                </a:solidFill>
                <a:latin typeface="Segoe UI Semibold"/>
                <a:ea typeface="Segoe UI Semibold"/>
                <a:cs typeface="Segoe UI Semibold"/>
              </a:rPr>
              <a:t>A longer bar is better. Running more robots at once, and fixing the setup between runs,</a:t>
            </a:r>
          </a:p>
          <a:p>
            <a:pPr algn="l">
              <a:lnSpc>
                <a:spcPct val="98000"/>
              </a:lnSpc>
              <a:buNone/>
              <a:defRPr sz="1275" b="1" i="0">
                <a:solidFill>
                  <a:srgbClr val="5B6670"/>
                </a:solidFill>
                <a:latin typeface="Segoe UI Semibold"/>
                <a:ea typeface="Segoe UI Semibold"/>
                <a:cs typeface="Segoe UI Semibold"/>
              </a:defRPr>
            </a:pPr>
            <a:r>
              <a:rPr sz="1275" b="1" i="0">
                <a:solidFill>
                  <a:srgbClr val="5B6670"/>
                </a:solidFill>
                <a:latin typeface="Segoe UI Semibold"/>
                <a:ea typeface="Segoe UI Semibold"/>
                <a:cs typeface="Segoe UI Semibold"/>
              </a:rPr>
              <a:t>took us from 18,000 steps a second to 30,000.</a:t>
            </a:r>
          </a:p>
        </p:txBody>
      </p:sp>
      <p:sp>
        <p:nvSpPr>
          <p:cNvPr id="323" name="Shape 324"/>
          <p:cNvSpPr>
            <a:spLocks noGrp="1"/>
          </p:cNvSpPr>
          <p:nvPr/>
        </p:nvSpPr>
        <p:spPr>
          <a:xfrm>
            <a:off x="8275320" y="2011680"/>
            <a:ext cx="2880360" cy="1508760"/>
          </a:xfrm>
          <a:prstGeom prst="roundRect">
            <a:avLst>
              <a:gd name="adj" fmla="val 9000"/>
            </a:avLst>
          </a:prstGeom>
          <a:solidFill>
            <a:srgbClr val="DDEBE7"/>
          </a:solidFill>
          <a:ln w="0">
            <a:noFill/>
            <a:prstDash val="solid"/>
          </a:ln>
        </p:spPr>
        <p:txBody>
          <a:bodyPr/>
          <a:lstStyle/>
          <a:p>
            <a:endParaRPr lang="en-IN"/>
          </a:p>
        </p:txBody>
      </p:sp>
      <p:sp>
        <p:nvSpPr>
          <p:cNvPr id="325" name="Rectangle 326"/>
          <p:cNvSpPr>
            <a:spLocks noGrp="1"/>
          </p:cNvSpPr>
          <p:nvPr/>
        </p:nvSpPr>
        <p:spPr>
          <a:xfrm>
            <a:off x="8503920" y="2249424"/>
            <a:ext cx="2423160" cy="548640"/>
          </a:xfrm>
          <a:prstGeom prst="rect">
            <a:avLst/>
          </a:prstGeom>
          <a:noFill/>
          <a:ln w="0">
            <a:noFill/>
            <a:prstDash val="solid"/>
          </a:ln>
        </p:spPr>
        <p:txBody>
          <a:bodyPr lIns="0" tIns="0" rIns="0" bIns="0" anchor="t">
            <a:normAutofit/>
          </a:bodyPr>
          <a:lstStyle/>
          <a:p>
            <a:pPr algn="ctr">
              <a:lnSpc>
                <a:spcPct val="98000"/>
              </a:lnSpc>
              <a:buNone/>
              <a:defRPr sz="2700" b="1" i="0">
                <a:solidFill>
                  <a:srgbClr val="0B6B64"/>
                </a:solidFill>
                <a:latin typeface="Segoe UI Semibold"/>
                <a:ea typeface="Segoe UI Semibold"/>
                <a:cs typeface="Segoe UI Semibold"/>
              </a:defRPr>
            </a:pPr>
            <a:r>
              <a:rPr sz="2700" b="1" i="0">
                <a:solidFill>
                  <a:srgbClr val="0B6B64"/>
                </a:solidFill>
                <a:latin typeface="Segoe UI Semibold"/>
                <a:ea typeface="Segoe UI Semibold"/>
                <a:cs typeface="Segoe UI Semibold"/>
              </a:rPr>
              <a:t>30,138</a:t>
            </a:r>
          </a:p>
        </p:txBody>
      </p:sp>
      <p:sp>
        <p:nvSpPr>
          <p:cNvPr id="327" name="Rectangle 328"/>
          <p:cNvSpPr>
            <a:spLocks noGrp="1"/>
          </p:cNvSpPr>
          <p:nvPr/>
        </p:nvSpPr>
        <p:spPr>
          <a:xfrm>
            <a:off x="8503920" y="2889504"/>
            <a:ext cx="2423160" cy="502920"/>
          </a:xfrm>
          <a:prstGeom prst="rect">
            <a:avLst/>
          </a:prstGeom>
          <a:noFill/>
          <a:ln w="0">
            <a:noFill/>
            <a:prstDash val="solid"/>
          </a:ln>
        </p:spPr>
        <p:txBody>
          <a:bodyPr lIns="0" tIns="0" rIns="0" bIns="0" anchor="t">
            <a:normAutofit/>
          </a:bodyPr>
          <a:lstStyle/>
          <a:p>
            <a:pPr algn="ctr">
              <a:lnSpc>
                <a:spcPct val="98000"/>
              </a:lnSpc>
              <a:buNone/>
              <a:defRPr sz="1200" b="0" i="0">
                <a:solidFill>
                  <a:srgbClr val="18232F"/>
                </a:solidFill>
                <a:latin typeface="Segoe UI"/>
                <a:ea typeface="Segoe UI"/>
                <a:cs typeface="Segoe UI"/>
              </a:defRPr>
            </a:pPr>
            <a:r>
              <a:rPr sz="1200" b="0" i="0">
                <a:solidFill>
                  <a:srgbClr val="18232F"/>
                </a:solidFill>
                <a:latin typeface="Segoe UI"/>
                <a:ea typeface="Segoe UI"/>
                <a:cs typeface="Segoe UI"/>
              </a:rPr>
              <a:t>steps a second</a:t>
            </a:r>
          </a:p>
          <a:p>
            <a:pPr algn="ctr">
              <a:lnSpc>
                <a:spcPct val="98000"/>
              </a:lnSpc>
              <a:buNone/>
              <a:defRPr sz="1200" b="0" i="0">
                <a:solidFill>
                  <a:srgbClr val="18232F"/>
                </a:solidFill>
                <a:latin typeface="Segoe UI"/>
                <a:ea typeface="Segoe UI"/>
                <a:cs typeface="Segoe UI"/>
              </a:defRPr>
            </a:pPr>
            <a:r>
              <a:rPr sz="1200" b="0" i="0">
                <a:solidFill>
                  <a:srgbClr val="18232F"/>
                </a:solidFill>
                <a:latin typeface="Segoe UI"/>
                <a:ea typeface="Segoe UI"/>
                <a:cs typeface="Segoe UI"/>
              </a:rPr>
              <a:t>in our best run</a:t>
            </a:r>
          </a:p>
        </p:txBody>
      </p:sp>
      <p:sp>
        <p:nvSpPr>
          <p:cNvPr id="329" name="Shape 330"/>
          <p:cNvSpPr>
            <a:spLocks noGrp="1"/>
          </p:cNvSpPr>
          <p:nvPr/>
        </p:nvSpPr>
        <p:spPr>
          <a:xfrm>
            <a:off x="8275320" y="3749040"/>
            <a:ext cx="2880360" cy="1508760"/>
          </a:xfrm>
          <a:prstGeom prst="roundRect">
            <a:avLst>
              <a:gd name="adj" fmla="val 9000"/>
            </a:avLst>
          </a:prstGeom>
          <a:solidFill>
            <a:srgbClr val="F2E2D9"/>
          </a:solidFill>
          <a:ln w="0">
            <a:noFill/>
            <a:prstDash val="solid"/>
          </a:ln>
        </p:spPr>
        <p:txBody>
          <a:bodyPr/>
          <a:lstStyle/>
          <a:p>
            <a:endParaRPr lang="en-IN"/>
          </a:p>
        </p:txBody>
      </p:sp>
      <p:sp>
        <p:nvSpPr>
          <p:cNvPr id="331" name="Rectangle 332"/>
          <p:cNvSpPr>
            <a:spLocks noGrp="1"/>
          </p:cNvSpPr>
          <p:nvPr/>
        </p:nvSpPr>
        <p:spPr>
          <a:xfrm>
            <a:off x="8503920" y="3986784"/>
            <a:ext cx="2423160" cy="548640"/>
          </a:xfrm>
          <a:prstGeom prst="rect">
            <a:avLst/>
          </a:prstGeom>
          <a:noFill/>
          <a:ln w="0">
            <a:noFill/>
            <a:prstDash val="solid"/>
          </a:ln>
        </p:spPr>
        <p:txBody>
          <a:bodyPr lIns="0" tIns="0" rIns="0" bIns="0" anchor="t">
            <a:normAutofit/>
          </a:bodyPr>
          <a:lstStyle/>
          <a:p>
            <a:pPr algn="ctr">
              <a:lnSpc>
                <a:spcPct val="98000"/>
              </a:lnSpc>
              <a:buNone/>
              <a:defRPr sz="2700" b="1" i="0">
                <a:solidFill>
                  <a:srgbClr val="B8502A"/>
                </a:solidFill>
                <a:latin typeface="Segoe UI Semibold"/>
                <a:ea typeface="Segoe UI Semibold"/>
                <a:cs typeface="Segoe UI Semibold"/>
              </a:defRPr>
            </a:pPr>
            <a:r>
              <a:rPr sz="2700" b="1" i="0">
                <a:solidFill>
                  <a:srgbClr val="B8502A"/>
                </a:solidFill>
                <a:latin typeface="Segoe UI Semibold"/>
                <a:ea typeface="Segoe UI Semibold"/>
                <a:cs typeface="Segoe UI Semibold"/>
              </a:rPr>
              <a:t>22.7 min</a:t>
            </a:r>
          </a:p>
        </p:txBody>
      </p:sp>
      <p:sp>
        <p:nvSpPr>
          <p:cNvPr id="333" name="Rectangle 334"/>
          <p:cNvSpPr>
            <a:spLocks noGrp="1"/>
          </p:cNvSpPr>
          <p:nvPr/>
        </p:nvSpPr>
        <p:spPr>
          <a:xfrm>
            <a:off x="8503920" y="4590288"/>
            <a:ext cx="2423160" cy="502920"/>
          </a:xfrm>
          <a:prstGeom prst="rect">
            <a:avLst/>
          </a:prstGeom>
          <a:noFill/>
          <a:ln w="0">
            <a:noFill/>
            <a:prstDash val="solid"/>
          </a:ln>
        </p:spPr>
        <p:txBody>
          <a:bodyPr lIns="0" tIns="0" rIns="0" bIns="0" anchor="t">
            <a:normAutofit/>
          </a:bodyPr>
          <a:lstStyle/>
          <a:p>
            <a:pPr algn="ctr">
              <a:lnSpc>
                <a:spcPct val="98000"/>
              </a:lnSpc>
              <a:buNone/>
              <a:defRPr sz="1200" b="0" i="0">
                <a:solidFill>
                  <a:srgbClr val="18232F"/>
                </a:solidFill>
                <a:latin typeface="Segoe UI"/>
                <a:ea typeface="Segoe UI"/>
                <a:cs typeface="Segoe UI"/>
              </a:defRPr>
            </a:pPr>
            <a:r>
              <a:rPr sz="1200" b="0" i="0">
                <a:solidFill>
                  <a:srgbClr val="18232F"/>
                </a:solidFill>
                <a:latin typeface="Segoe UI"/>
                <a:ea typeface="Segoe UI"/>
                <a:cs typeface="Segoe UI"/>
              </a:rPr>
              <a:t>to train the Go1</a:t>
            </a:r>
          </a:p>
          <a:p>
            <a:pPr algn="ctr">
              <a:lnSpc>
                <a:spcPct val="98000"/>
              </a:lnSpc>
              <a:buNone/>
              <a:defRPr sz="1200" b="0" i="0">
                <a:solidFill>
                  <a:srgbClr val="18232F"/>
                </a:solidFill>
                <a:latin typeface="Segoe UI"/>
                <a:ea typeface="Segoe UI"/>
                <a:cs typeface="Segoe UI"/>
              </a:defRPr>
            </a:pPr>
            <a:r>
              <a:rPr sz="1200" b="0" i="0">
                <a:solidFill>
                  <a:srgbClr val="18232F"/>
                </a:solidFill>
                <a:latin typeface="Segoe UI"/>
                <a:ea typeface="Segoe UI"/>
                <a:cs typeface="Segoe UI"/>
              </a:rPr>
              <a:t>for 40 million steps</a:t>
            </a:r>
          </a:p>
        </p:txBody>
      </p:sp>
      <p:sp>
        <p:nvSpPr>
          <p:cNvPr id="335" name="Rectangle 336"/>
          <p:cNvSpPr>
            <a:spLocks noGrp="1"/>
          </p:cNvSpPr>
          <p:nvPr/>
        </p:nvSpPr>
        <p:spPr>
          <a:xfrm>
            <a:off x="731520" y="5961888"/>
            <a:ext cx="10424160" cy="411480"/>
          </a:xfrm>
          <a:prstGeom prst="rect">
            <a:avLst/>
          </a:prstGeom>
          <a:noFill/>
          <a:ln w="0">
            <a:noFill/>
            <a:prstDash val="solid"/>
          </a:ln>
        </p:spPr>
        <p:txBody>
          <a:bodyPr lIns="0" tIns="0" rIns="0" bIns="0" anchor="t">
            <a:normAutofit/>
          </a:bodyPr>
          <a:lstStyle/>
          <a:p>
            <a:pPr algn="l">
              <a:lnSpc>
                <a:spcPct val="98000"/>
              </a:lnSpc>
              <a:buNone/>
              <a:defRPr sz="1425" b="0" i="0">
                <a:solidFill>
                  <a:srgbClr val="18232F"/>
                </a:solidFill>
                <a:latin typeface="Segoe UI"/>
                <a:ea typeface="Segoe UI"/>
                <a:cs typeface="Segoe UI"/>
              </a:defRPr>
            </a:pPr>
            <a:r>
              <a:rPr sz="1425" b="0" i="0">
                <a:solidFill>
                  <a:srgbClr val="18232F"/>
                </a:solidFill>
                <a:latin typeface="Segoe UI"/>
                <a:ea typeface="Segoe UI"/>
                <a:cs typeface="Segoe UI"/>
              </a:rPr>
              <a:t>On the CPU the same work ran at 240 steps a second with one robot, or about 1,750 with many.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337" name="Rectangle 338"/>
          <p:cNvSpPr>
            <a:spLocks noGrp="1"/>
          </p:cNvSpPr>
          <p:nvPr/>
        </p:nvSpPr>
        <p:spPr>
          <a:xfrm>
            <a:off x="11109960" y="265176"/>
            <a:ext cx="402336" cy="228600"/>
          </a:xfrm>
          <a:prstGeom prst="rect">
            <a:avLst/>
          </a:prstGeom>
          <a:noFill/>
          <a:ln w="0">
            <a:noFill/>
            <a:prstDash val="solid"/>
          </a:ln>
        </p:spPr>
        <p:txBody>
          <a:bodyPr lIns="0" tIns="0" rIns="0" bIns="0" anchor="t">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21</a:t>
            </a:r>
          </a:p>
        </p:txBody>
      </p:sp>
      <p:sp>
        <p:nvSpPr>
          <p:cNvPr id="339" name="Rectangle 340"/>
          <p:cNvSpPr>
            <a:spLocks noGrp="1"/>
          </p:cNvSpPr>
          <p:nvPr/>
        </p:nvSpPr>
        <p:spPr>
          <a:xfrm>
            <a:off x="685800" y="713232"/>
            <a:ext cx="10817352" cy="804672"/>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What learning looks like during one run</a:t>
            </a:r>
          </a:p>
        </p:txBody>
      </p:sp>
      <p:sp>
        <p:nvSpPr>
          <p:cNvPr id="341" name="Shape 342"/>
          <p:cNvSpPr>
            <a:spLocks noGrp="1"/>
          </p:cNvSpPr>
          <p:nvPr/>
        </p:nvSpPr>
        <p:spPr>
          <a:xfrm>
            <a:off x="685800" y="6455664"/>
            <a:ext cx="10817352" cy="9510"/>
          </a:xfrm>
          <a:prstGeom prst="rect">
            <a:avLst/>
          </a:prstGeom>
          <a:solidFill>
            <a:srgbClr val="D5DAD6"/>
          </a:solidFill>
          <a:ln w="0">
            <a:noFill/>
            <a:prstDash val="solid"/>
          </a:ln>
        </p:spPr>
        <p:txBody>
          <a:bodyPr/>
          <a:lstStyle/>
          <a:p>
            <a:endParaRPr lang="en-IN"/>
          </a:p>
        </p:txBody>
      </p:sp>
      <p:sp>
        <p:nvSpPr>
          <p:cNvPr id="343" name="Rectangle 344"/>
          <p:cNvSpPr>
            <a:spLocks noGrp="1"/>
          </p:cNvSpPr>
          <p:nvPr/>
        </p:nvSpPr>
        <p:spPr>
          <a:xfrm>
            <a:off x="731520" y="1755648"/>
            <a:ext cx="6766560" cy="274320"/>
          </a:xfrm>
          <a:prstGeom prst="rect">
            <a:avLst/>
          </a:prstGeom>
          <a:noFill/>
          <a:ln w="0">
            <a:noFill/>
            <a:prstDash val="solid"/>
          </a:ln>
        </p:spPr>
        <p:txBody>
          <a:bodyPr lIns="0" tIns="0" rIns="0" bIns="0" anchor="t">
            <a:normAutofit/>
          </a:bodyPr>
          <a:lstStyle/>
          <a:p>
            <a:pPr algn="l">
              <a:lnSpc>
                <a:spcPct val="98000"/>
              </a:lnSpc>
              <a:buNone/>
              <a:defRPr sz="1275" b="1" i="0">
                <a:solidFill>
                  <a:srgbClr val="5B6670"/>
                </a:solidFill>
                <a:latin typeface="Segoe UI Semibold"/>
                <a:ea typeface="Segoe UI Semibold"/>
                <a:cs typeface="Segoe UI Semibold"/>
              </a:defRPr>
            </a:pPr>
            <a:r>
              <a:rPr sz="1275" b="1" i="0">
                <a:solidFill>
                  <a:srgbClr val="5B6670"/>
                </a:solidFill>
                <a:latin typeface="Segoe UI Semibold"/>
                <a:ea typeface="Segoe UI Semibold"/>
                <a:cs typeface="Segoe UI Semibold"/>
              </a:rPr>
              <a:t>How many steps the Go1 lasted before falling over</a:t>
            </a:r>
          </a:p>
        </p:txBody>
      </p:sp>
      <p:pic>
        <p:nvPicPr>
          <p:cNvPr id="345" name="Chart 346"/>
          <p:cNvPicPr>
            <a:picLocks noChangeAspect="1"/>
          </p:cNvPicPr>
          <p:nvPr/>
        </p:nvPicPr>
        <p:blipFill>
          <a:blip r:embed="rId2"/>
          <a:stretch>
            <a:fillRect/>
          </a:stretch>
        </p:blipFill>
        <p:spPr>
          <a:xfrm>
            <a:off x="658368" y="2048256"/>
            <a:ext cx="7315200" cy="3090672"/>
          </a:xfrm>
          <a:prstGeom prst="rect">
            <a:avLst/>
          </a:prstGeom>
        </p:spPr>
      </p:pic>
      <p:sp>
        <p:nvSpPr>
          <p:cNvPr id="347" name="Rectangle 348"/>
          <p:cNvSpPr>
            <a:spLocks noGrp="1"/>
          </p:cNvSpPr>
          <p:nvPr/>
        </p:nvSpPr>
        <p:spPr>
          <a:xfrm>
            <a:off x="731520" y="5230368"/>
            <a:ext cx="7178040" cy="502920"/>
          </a:xfrm>
          <a:prstGeom prst="rect">
            <a:avLst/>
          </a:prstGeom>
          <a:noFill/>
          <a:ln w="0">
            <a:noFill/>
            <a:prstDash val="solid"/>
          </a:ln>
        </p:spPr>
        <p:txBody>
          <a:bodyPr lIns="0" tIns="0" rIns="0" bIns="0" anchor="t">
            <a:normAutofit/>
          </a:bodyPr>
          <a:lstStyle/>
          <a:p>
            <a:pPr algn="l">
              <a:lnSpc>
                <a:spcPct val="98000"/>
              </a:lnSpc>
              <a:buNone/>
              <a:defRPr sz="1275" b="1" i="0">
                <a:solidFill>
                  <a:srgbClr val="5B6670"/>
                </a:solidFill>
                <a:latin typeface="Segoe UI Semibold"/>
                <a:ea typeface="Segoe UI Semibold"/>
                <a:cs typeface="Segoe UI Semibold"/>
              </a:defRPr>
            </a:pPr>
            <a:r>
              <a:rPr sz="1275" b="1" i="0">
                <a:solidFill>
                  <a:srgbClr val="5B6670"/>
                </a:solidFill>
                <a:latin typeface="Segoe UI Semibold"/>
                <a:ea typeface="Segoe UI Semibold"/>
                <a:cs typeface="Segoe UI Semibold"/>
              </a:rPr>
              <a:t>Higher is better, and 1,000 is the maximum length of one attempt. The robot went from</a:t>
            </a:r>
          </a:p>
          <a:p>
            <a:pPr algn="l">
              <a:lnSpc>
                <a:spcPct val="98000"/>
              </a:lnSpc>
              <a:buNone/>
              <a:defRPr sz="1275" b="1" i="0">
                <a:solidFill>
                  <a:srgbClr val="5B6670"/>
                </a:solidFill>
                <a:latin typeface="Segoe UI Semibold"/>
                <a:ea typeface="Segoe UI Semibold"/>
                <a:cs typeface="Segoe UI Semibold"/>
              </a:defRPr>
            </a:pPr>
            <a:r>
              <a:rPr sz="1275" b="1" i="0">
                <a:solidFill>
                  <a:srgbClr val="5B6670"/>
                </a:solidFill>
                <a:latin typeface="Segoe UI Semibold"/>
                <a:ea typeface="Segoe UI Semibold"/>
                <a:cs typeface="Segoe UI Semibold"/>
              </a:rPr>
              <a:t>falling after 17 steps to finishing every attempt.</a:t>
            </a:r>
          </a:p>
        </p:txBody>
      </p:sp>
      <p:sp>
        <p:nvSpPr>
          <p:cNvPr id="349" name="Shape 350"/>
          <p:cNvSpPr>
            <a:spLocks noGrp="1"/>
          </p:cNvSpPr>
          <p:nvPr/>
        </p:nvSpPr>
        <p:spPr>
          <a:xfrm>
            <a:off x="8092440" y="2011680"/>
            <a:ext cx="3063240" cy="1417320"/>
          </a:xfrm>
          <a:prstGeom prst="roundRect">
            <a:avLst>
              <a:gd name="adj" fmla="val 9000"/>
            </a:avLst>
          </a:prstGeom>
          <a:solidFill>
            <a:srgbClr val="DDEBE7"/>
          </a:solidFill>
          <a:ln w="0">
            <a:noFill/>
            <a:prstDash val="solid"/>
          </a:ln>
        </p:spPr>
        <p:txBody>
          <a:bodyPr/>
          <a:lstStyle/>
          <a:p>
            <a:endParaRPr lang="en-IN"/>
          </a:p>
        </p:txBody>
      </p:sp>
      <p:sp>
        <p:nvSpPr>
          <p:cNvPr id="351" name="Rectangle 352"/>
          <p:cNvSpPr>
            <a:spLocks noGrp="1"/>
          </p:cNvSpPr>
          <p:nvPr/>
        </p:nvSpPr>
        <p:spPr>
          <a:xfrm>
            <a:off x="8321040" y="2231136"/>
            <a:ext cx="2606040" cy="548640"/>
          </a:xfrm>
          <a:prstGeom prst="rect">
            <a:avLst/>
          </a:prstGeom>
          <a:noFill/>
          <a:ln w="0">
            <a:noFill/>
            <a:prstDash val="solid"/>
          </a:ln>
        </p:spPr>
        <p:txBody>
          <a:bodyPr lIns="0" tIns="0" rIns="0" bIns="0" anchor="t">
            <a:normAutofit/>
          </a:bodyPr>
          <a:lstStyle/>
          <a:p>
            <a:pPr algn="ctr">
              <a:lnSpc>
                <a:spcPct val="98000"/>
              </a:lnSpc>
              <a:buNone/>
              <a:defRPr sz="2400" b="1" i="0">
                <a:solidFill>
                  <a:srgbClr val="0B6B64"/>
                </a:solidFill>
                <a:latin typeface="Segoe UI Semibold"/>
                <a:ea typeface="Segoe UI Semibold"/>
                <a:cs typeface="Segoe UI Semibold"/>
              </a:defRPr>
            </a:pPr>
            <a:r>
              <a:rPr sz="2400" b="1" i="0">
                <a:solidFill>
                  <a:srgbClr val="0B6B64"/>
                </a:solidFill>
                <a:latin typeface="Segoe UI Semibold"/>
                <a:ea typeface="Segoe UI Semibold"/>
                <a:cs typeface="Segoe UI Semibold"/>
              </a:rPr>
              <a:t>17 → 1,000</a:t>
            </a:r>
          </a:p>
        </p:txBody>
      </p:sp>
      <p:sp>
        <p:nvSpPr>
          <p:cNvPr id="353" name="Rectangle 354"/>
          <p:cNvSpPr>
            <a:spLocks noGrp="1"/>
          </p:cNvSpPr>
          <p:nvPr/>
        </p:nvSpPr>
        <p:spPr>
          <a:xfrm>
            <a:off x="8321040" y="2834640"/>
            <a:ext cx="2606040" cy="502920"/>
          </a:xfrm>
          <a:prstGeom prst="rect">
            <a:avLst/>
          </a:prstGeom>
          <a:noFill/>
          <a:ln w="0">
            <a:noFill/>
            <a:prstDash val="solid"/>
          </a:ln>
        </p:spPr>
        <p:txBody>
          <a:bodyPr lIns="0" tIns="0" rIns="0" bIns="0" anchor="t">
            <a:normAutofit/>
          </a:bodyPr>
          <a:lstStyle/>
          <a:p>
            <a:pPr algn="ctr">
              <a:lnSpc>
                <a:spcPct val="98000"/>
              </a:lnSpc>
              <a:buNone/>
              <a:defRPr sz="1200" b="0" i="0">
                <a:solidFill>
                  <a:srgbClr val="18232F"/>
                </a:solidFill>
                <a:latin typeface="Segoe UI"/>
                <a:ea typeface="Segoe UI"/>
                <a:cs typeface="Segoe UI"/>
              </a:defRPr>
            </a:pPr>
            <a:r>
              <a:rPr sz="1200" b="0" i="0">
                <a:solidFill>
                  <a:srgbClr val="18232F"/>
                </a:solidFill>
                <a:latin typeface="Segoe UI"/>
                <a:ea typeface="Segoe UI"/>
                <a:cs typeface="Segoe UI"/>
              </a:rPr>
              <a:t>steps per attempt,</a:t>
            </a:r>
          </a:p>
          <a:p>
            <a:pPr algn="ctr">
              <a:lnSpc>
                <a:spcPct val="98000"/>
              </a:lnSpc>
              <a:buNone/>
              <a:defRPr sz="1200" b="0" i="0">
                <a:solidFill>
                  <a:srgbClr val="18232F"/>
                </a:solidFill>
                <a:latin typeface="Segoe UI"/>
                <a:ea typeface="Segoe UI"/>
                <a:cs typeface="Segoe UI"/>
              </a:defRPr>
            </a:pPr>
            <a:r>
              <a:rPr sz="1200" b="0" i="0">
                <a:solidFill>
                  <a:srgbClr val="18232F"/>
                </a:solidFill>
                <a:latin typeface="Segoe UI"/>
                <a:ea typeface="Segoe UI"/>
                <a:cs typeface="Segoe UI"/>
              </a:rPr>
              <a:t>start to finish</a:t>
            </a:r>
          </a:p>
        </p:txBody>
      </p:sp>
      <p:sp>
        <p:nvSpPr>
          <p:cNvPr id="355" name="Rectangle 356"/>
          <p:cNvSpPr>
            <a:spLocks noGrp="1"/>
          </p:cNvSpPr>
          <p:nvPr/>
        </p:nvSpPr>
        <p:spPr>
          <a:xfrm>
            <a:off x="8092440" y="3657600"/>
            <a:ext cx="3063240" cy="32004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One thing to watch</a:t>
            </a:r>
          </a:p>
        </p:txBody>
      </p:sp>
      <p:sp>
        <p:nvSpPr>
          <p:cNvPr id="357" name="Rectangle 358"/>
          <p:cNvSpPr>
            <a:spLocks noGrp="1"/>
          </p:cNvSpPr>
          <p:nvPr/>
        </p:nvSpPr>
        <p:spPr>
          <a:xfrm>
            <a:off x="8092440" y="4041648"/>
            <a:ext cx="3063240" cy="1463040"/>
          </a:xfrm>
          <a:prstGeom prst="rect">
            <a:avLst/>
          </a:prstGeom>
          <a:noFill/>
          <a:ln w="0">
            <a:noFill/>
            <a:prstDash val="solid"/>
          </a:ln>
        </p:spPr>
        <p:txBody>
          <a:bodyPr lIns="0" tIns="0" rIns="0" bIns="0" anchor="t">
            <a:normAutofit/>
          </a:bodyPr>
          <a:lstStyle/>
          <a:p>
            <a:pPr algn="l">
              <a:lnSpc>
                <a:spcPct val="98000"/>
              </a:lnSpc>
              <a:buNone/>
              <a:defRPr sz="1200" b="0" i="0">
                <a:solidFill>
                  <a:srgbClr val="5B6670"/>
                </a:solidFill>
                <a:latin typeface="Segoe UI"/>
                <a:ea typeface="Segoe UI"/>
                <a:cs typeface="Segoe UI"/>
              </a:defRPr>
            </a:pPr>
            <a:r>
              <a:rPr sz="1200" b="0" i="0">
                <a:solidFill>
                  <a:srgbClr val="5B6670"/>
                </a:solidFill>
                <a:latin typeface="Segoe UI"/>
                <a:ea typeface="Segoe UI"/>
                <a:cs typeface="Segoe UI"/>
              </a:rPr>
              <a:t>Early on the robot is off the ground a lot, but each attempt only lasts 82 steps. That is falling, not running. Time in the air only counts once the attempts last the full 1,000 steps.</a:t>
            </a:r>
          </a:p>
        </p:txBody>
      </p:sp>
      <p:sp>
        <p:nvSpPr>
          <p:cNvPr id="359" name="Rectangle 360"/>
          <p:cNvSpPr>
            <a:spLocks noGrp="1"/>
          </p:cNvSpPr>
          <p:nvPr/>
        </p:nvSpPr>
        <p:spPr>
          <a:xfrm>
            <a:off x="731520" y="5961888"/>
            <a:ext cx="10424160" cy="411480"/>
          </a:xfrm>
          <a:prstGeom prst="rect">
            <a:avLst/>
          </a:prstGeom>
          <a:noFill/>
          <a:ln w="0">
            <a:noFill/>
            <a:prstDash val="solid"/>
          </a:ln>
        </p:spPr>
        <p:txBody>
          <a:bodyPr lIns="0" tIns="0" rIns="0" bIns="0" anchor="t">
            <a:normAutofit/>
          </a:bodyPr>
          <a:lstStyle/>
          <a:p>
            <a:pPr algn="l">
              <a:lnSpc>
                <a:spcPct val="98000"/>
              </a:lnSpc>
              <a:buNone/>
              <a:defRPr sz="1425" b="0" i="0">
                <a:solidFill>
                  <a:srgbClr val="18232F"/>
                </a:solidFill>
                <a:latin typeface="Segoe UI"/>
                <a:ea typeface="Segoe UI"/>
                <a:cs typeface="Segoe UI"/>
              </a:defRPr>
            </a:pPr>
            <a:r>
              <a:rPr sz="1425" b="0" i="0">
                <a:solidFill>
                  <a:srgbClr val="18232F"/>
                </a:solidFill>
                <a:latin typeface="Segoe UI"/>
                <a:ea typeface="Segoe UI"/>
                <a:cs typeface="Segoe UI"/>
              </a:rPr>
              <a:t>Unitree Go1, 40 million steps, trained with the gait reward.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361" name="Rectangle 362"/>
          <p:cNvSpPr>
            <a:spLocks noGrp="1"/>
          </p:cNvSpPr>
          <p:nvPr/>
        </p:nvSpPr>
        <p:spPr>
          <a:xfrm>
            <a:off x="11109960" y="265176"/>
            <a:ext cx="402336" cy="228600"/>
          </a:xfrm>
          <a:prstGeom prst="rect">
            <a:avLst/>
          </a:prstGeom>
          <a:noFill/>
          <a:ln w="0">
            <a:noFill/>
            <a:prstDash val="solid"/>
          </a:ln>
        </p:spPr>
        <p:txBody>
          <a:bodyPr lIns="0" tIns="0" rIns="0" bIns="0" anchor="t">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27</a:t>
            </a:r>
          </a:p>
        </p:txBody>
      </p:sp>
      <p:sp>
        <p:nvSpPr>
          <p:cNvPr id="363" name="Rectangle 364"/>
          <p:cNvSpPr>
            <a:spLocks noGrp="1"/>
          </p:cNvSpPr>
          <p:nvPr/>
        </p:nvSpPr>
        <p:spPr>
          <a:xfrm>
            <a:off x="685800" y="713232"/>
            <a:ext cx="10817352" cy="804672"/>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Which algorithm suits which task</a:t>
            </a:r>
          </a:p>
        </p:txBody>
      </p:sp>
      <p:sp>
        <p:nvSpPr>
          <p:cNvPr id="365" name="Shape 366"/>
          <p:cNvSpPr>
            <a:spLocks noGrp="1"/>
          </p:cNvSpPr>
          <p:nvPr/>
        </p:nvSpPr>
        <p:spPr>
          <a:xfrm>
            <a:off x="685800" y="6455664"/>
            <a:ext cx="10817352" cy="9510"/>
          </a:xfrm>
          <a:prstGeom prst="rect">
            <a:avLst/>
          </a:prstGeom>
          <a:solidFill>
            <a:srgbClr val="D5DAD6"/>
          </a:solidFill>
          <a:ln w="0">
            <a:noFill/>
            <a:prstDash val="solid"/>
          </a:ln>
        </p:spPr>
        <p:txBody>
          <a:bodyPr/>
          <a:lstStyle/>
          <a:p>
            <a:endParaRPr lang="en-IN"/>
          </a:p>
        </p:txBody>
      </p:sp>
      <p:sp>
        <p:nvSpPr>
          <p:cNvPr id="367" name="Shape 368"/>
          <p:cNvSpPr>
            <a:spLocks noGrp="1"/>
          </p:cNvSpPr>
          <p:nvPr/>
        </p:nvSpPr>
        <p:spPr>
          <a:xfrm>
            <a:off x="685800" y="1691640"/>
            <a:ext cx="10817352" cy="841248"/>
          </a:xfrm>
          <a:prstGeom prst="roundRect">
            <a:avLst>
              <a:gd name="adj" fmla="val 12000"/>
            </a:avLst>
          </a:prstGeom>
          <a:solidFill>
            <a:srgbClr val="DDEBE7"/>
          </a:solidFill>
          <a:ln w="0">
            <a:noFill/>
            <a:prstDash val="solid"/>
          </a:ln>
        </p:spPr>
        <p:txBody>
          <a:bodyPr/>
          <a:lstStyle/>
          <a:p>
            <a:endParaRPr lang="en-IN"/>
          </a:p>
        </p:txBody>
      </p:sp>
      <p:sp>
        <p:nvSpPr>
          <p:cNvPr id="369" name="Rectangle 370"/>
          <p:cNvSpPr>
            <a:spLocks noGrp="1"/>
          </p:cNvSpPr>
          <p:nvPr/>
        </p:nvSpPr>
        <p:spPr>
          <a:xfrm>
            <a:off x="868680" y="1810512"/>
            <a:ext cx="2788920" cy="320040"/>
          </a:xfrm>
          <a:prstGeom prst="rect">
            <a:avLst/>
          </a:prstGeom>
          <a:noFill/>
          <a:ln w="0">
            <a:noFill/>
            <a:prstDash val="solid"/>
          </a:ln>
        </p:spPr>
        <p:txBody>
          <a:bodyPr lIns="0" tIns="0" rIns="0" bIns="0" anchor="t">
            <a:normAutofit/>
          </a:bodyPr>
          <a:lstStyle/>
          <a:p>
            <a:pPr algn="l">
              <a:lnSpc>
                <a:spcPct val="98000"/>
              </a:lnSpc>
              <a:buNone/>
              <a:defRPr sz="1650" b="1" i="0">
                <a:solidFill>
                  <a:srgbClr val="0B6B64"/>
                </a:solidFill>
                <a:latin typeface="Segoe UI Semibold"/>
                <a:ea typeface="Segoe UI Semibold"/>
                <a:cs typeface="Segoe UI Semibold"/>
              </a:defRPr>
            </a:pPr>
            <a:r>
              <a:rPr sz="1650" b="1" i="0">
                <a:solidFill>
                  <a:srgbClr val="0B6B64"/>
                </a:solidFill>
                <a:latin typeface="Segoe UI Semibold"/>
                <a:ea typeface="Segoe UI Semibold"/>
                <a:cs typeface="Segoe UI Semibold"/>
              </a:rPr>
              <a:t>SAC</a:t>
            </a:r>
          </a:p>
        </p:txBody>
      </p:sp>
      <p:sp>
        <p:nvSpPr>
          <p:cNvPr id="371" name="Rectangle 372"/>
          <p:cNvSpPr>
            <a:spLocks noGrp="1"/>
          </p:cNvSpPr>
          <p:nvPr/>
        </p:nvSpPr>
        <p:spPr>
          <a:xfrm>
            <a:off x="868680" y="2157984"/>
            <a:ext cx="2788920" cy="256032"/>
          </a:xfrm>
          <a:prstGeom prst="rect">
            <a:avLst/>
          </a:prstGeom>
          <a:noFill/>
          <a:ln w="0">
            <a:noFill/>
            <a:prstDash val="solid"/>
          </a:ln>
        </p:spPr>
        <p:txBody>
          <a:bodyPr lIns="0" tIns="0" rIns="0" bIns="0" anchor="t">
            <a:normAutofit/>
          </a:bodyPr>
          <a:lstStyle/>
          <a:p>
            <a:pPr algn="l">
              <a:lnSpc>
                <a:spcPct val="98000"/>
              </a:lnSpc>
              <a:buNone/>
              <a:defRPr sz="1125" b="0" i="0">
                <a:solidFill>
                  <a:srgbClr val="5B6670"/>
                </a:solidFill>
                <a:latin typeface="Segoe UI"/>
                <a:ea typeface="Segoe UI"/>
                <a:cs typeface="Segoe UI"/>
              </a:defRPr>
            </a:pPr>
            <a:r>
              <a:rPr sz="1125" b="0" i="0">
                <a:solidFill>
                  <a:srgbClr val="5B6670"/>
                </a:solidFill>
                <a:latin typeface="Segoe UI"/>
                <a:ea typeface="Segoe UI"/>
                <a:cs typeface="Segoe UI"/>
              </a:rPr>
              <a:t>best on all three</a:t>
            </a:r>
          </a:p>
        </p:txBody>
      </p:sp>
      <p:sp>
        <p:nvSpPr>
          <p:cNvPr id="373" name="Rectangle 374"/>
          <p:cNvSpPr>
            <a:spLocks noGrp="1"/>
          </p:cNvSpPr>
          <p:nvPr/>
        </p:nvSpPr>
        <p:spPr>
          <a:xfrm>
            <a:off x="3840480" y="1792224"/>
            <a:ext cx="7498080" cy="640080"/>
          </a:xfrm>
          <a:prstGeom prst="rect">
            <a:avLst/>
          </a:prstGeom>
          <a:noFill/>
          <a:ln w="0">
            <a:noFill/>
            <a:prstDash val="solid"/>
          </a:ln>
        </p:spPr>
        <p:txBody>
          <a:bodyPr lIns="0" tIns="0" rIns="0" bIns="0" anchor="t">
            <a:normAutofit/>
          </a:bodyPr>
          <a:lstStyle/>
          <a:p>
            <a:pPr algn="l">
              <a:lnSpc>
                <a:spcPct val="98000"/>
              </a:lnSpc>
              <a:buNone/>
              <a:defRPr sz="1425" b="0" i="0">
                <a:solidFill>
                  <a:srgbClr val="18232F"/>
                </a:solidFill>
                <a:latin typeface="Segoe UI"/>
                <a:ea typeface="Segoe UI"/>
                <a:cs typeface="Segoe UI"/>
              </a:defRPr>
            </a:pPr>
            <a:r>
              <a:rPr sz="1425" b="0" i="0">
                <a:solidFill>
                  <a:srgbClr val="18232F"/>
                </a:solidFill>
                <a:latin typeface="Segoe UI"/>
                <a:ea typeface="Segoe UI"/>
                <a:cs typeface="Segoe UI"/>
              </a:rPr>
              <a:t>Reuses old attempts, so it gets more out of each one. It won every task here, and it was the only algorithm that got the humanoid walking at all.</a:t>
            </a:r>
          </a:p>
        </p:txBody>
      </p:sp>
      <p:sp>
        <p:nvSpPr>
          <p:cNvPr id="375" name="Shape 376"/>
          <p:cNvSpPr>
            <a:spLocks noGrp="1"/>
          </p:cNvSpPr>
          <p:nvPr/>
        </p:nvSpPr>
        <p:spPr>
          <a:xfrm>
            <a:off x="868680" y="2542032"/>
            <a:ext cx="10469880" cy="9510"/>
          </a:xfrm>
          <a:prstGeom prst="rect">
            <a:avLst/>
          </a:prstGeom>
          <a:solidFill>
            <a:srgbClr val="D5DAD6"/>
          </a:solidFill>
          <a:ln w="0">
            <a:noFill/>
            <a:prstDash val="solid"/>
          </a:ln>
        </p:spPr>
        <p:txBody>
          <a:bodyPr/>
          <a:lstStyle/>
          <a:p>
            <a:endParaRPr lang="en-IN"/>
          </a:p>
        </p:txBody>
      </p:sp>
      <p:sp>
        <p:nvSpPr>
          <p:cNvPr id="377" name="Rectangle 378"/>
          <p:cNvSpPr>
            <a:spLocks noGrp="1"/>
          </p:cNvSpPr>
          <p:nvPr/>
        </p:nvSpPr>
        <p:spPr>
          <a:xfrm>
            <a:off x="868680" y="2615184"/>
            <a:ext cx="2788920" cy="320040"/>
          </a:xfrm>
          <a:prstGeom prst="rect">
            <a:avLst/>
          </a:prstGeom>
          <a:noFill/>
          <a:ln w="0">
            <a:noFill/>
            <a:prstDash val="solid"/>
          </a:ln>
        </p:spPr>
        <p:txBody>
          <a:bodyPr lIns="0" tIns="0" rIns="0" bIns="0" anchor="t">
            <a:normAutofit/>
          </a:bodyPr>
          <a:lstStyle/>
          <a:p>
            <a:pPr algn="l">
              <a:lnSpc>
                <a:spcPct val="98000"/>
              </a:lnSpc>
              <a:buNone/>
              <a:defRPr sz="1650" b="1" i="0">
                <a:solidFill>
                  <a:srgbClr val="18232F"/>
                </a:solidFill>
                <a:latin typeface="Segoe UI Semibold"/>
                <a:ea typeface="Segoe UI Semibold"/>
                <a:cs typeface="Segoe UI Semibold"/>
              </a:defRPr>
            </a:pPr>
            <a:r>
              <a:rPr sz="1650" b="1" i="0">
                <a:solidFill>
                  <a:srgbClr val="18232F"/>
                </a:solidFill>
                <a:latin typeface="Segoe UI Semibold"/>
                <a:ea typeface="Segoe UI Semibold"/>
                <a:cs typeface="Segoe UI Semibold"/>
              </a:rPr>
              <a:t>PPO</a:t>
            </a:r>
          </a:p>
        </p:txBody>
      </p:sp>
      <p:sp>
        <p:nvSpPr>
          <p:cNvPr id="379" name="Rectangle 380"/>
          <p:cNvSpPr>
            <a:spLocks noGrp="1"/>
          </p:cNvSpPr>
          <p:nvPr/>
        </p:nvSpPr>
        <p:spPr>
          <a:xfrm>
            <a:off x="868680" y="2962656"/>
            <a:ext cx="2788920" cy="256032"/>
          </a:xfrm>
          <a:prstGeom prst="rect">
            <a:avLst/>
          </a:prstGeom>
          <a:noFill/>
          <a:ln w="0">
            <a:noFill/>
            <a:prstDash val="solid"/>
          </a:ln>
        </p:spPr>
        <p:txBody>
          <a:bodyPr lIns="0" tIns="0" rIns="0" bIns="0" anchor="t">
            <a:normAutofit/>
          </a:bodyPr>
          <a:lstStyle/>
          <a:p>
            <a:pPr algn="l">
              <a:lnSpc>
                <a:spcPct val="98000"/>
              </a:lnSpc>
              <a:buNone/>
              <a:defRPr sz="1125" b="0" i="0">
                <a:solidFill>
                  <a:srgbClr val="5B6670"/>
                </a:solidFill>
                <a:latin typeface="Segoe UI"/>
                <a:ea typeface="Segoe UI"/>
                <a:cs typeface="Segoe UI"/>
              </a:defRPr>
            </a:pPr>
            <a:r>
              <a:rPr sz="1125" b="0" i="0">
                <a:solidFill>
                  <a:srgbClr val="5B6670"/>
                </a:solidFill>
                <a:latin typeface="Segoe UI"/>
                <a:ea typeface="Segoe UI"/>
                <a:cs typeface="Segoe UI"/>
              </a:rPr>
              <a:t>steady, and where we started</a:t>
            </a:r>
          </a:p>
        </p:txBody>
      </p:sp>
      <p:sp>
        <p:nvSpPr>
          <p:cNvPr id="381" name="Rectangle 382"/>
          <p:cNvSpPr>
            <a:spLocks noGrp="1"/>
          </p:cNvSpPr>
          <p:nvPr/>
        </p:nvSpPr>
        <p:spPr>
          <a:xfrm>
            <a:off x="3840480" y="2596896"/>
            <a:ext cx="7498080" cy="640080"/>
          </a:xfrm>
          <a:prstGeom prst="rect">
            <a:avLst/>
          </a:prstGeom>
          <a:noFill/>
          <a:ln w="0">
            <a:noFill/>
            <a:prstDash val="solid"/>
          </a:ln>
        </p:spPr>
        <p:txBody>
          <a:bodyPr lIns="0" tIns="0" rIns="0" bIns="0" anchor="t">
            <a:normAutofit/>
          </a:bodyPr>
          <a:lstStyle/>
          <a:p>
            <a:pPr algn="l">
              <a:lnSpc>
                <a:spcPct val="98000"/>
              </a:lnSpc>
              <a:buNone/>
              <a:defRPr sz="1425" b="0" i="0">
                <a:solidFill>
                  <a:srgbClr val="5B6670"/>
                </a:solidFill>
                <a:latin typeface="Segoe UI"/>
                <a:ea typeface="Segoe UI"/>
                <a:cs typeface="Segoe UI"/>
              </a:defRPr>
            </a:pPr>
            <a:r>
              <a:rPr sz="1425" b="0" i="0">
                <a:solidFill>
                  <a:srgbClr val="5B6670"/>
                </a:solidFill>
                <a:latin typeface="Segoe UI"/>
                <a:ea typeface="Segoe UI"/>
                <a:cs typeface="Segoe UI"/>
              </a:rPr>
              <a:t>Learns only from its newest attempts. Reached a good Go1 walk fastest of the three, but on the humanoid it stalled and never recovered, even after 200 million steps.</a:t>
            </a:r>
          </a:p>
        </p:txBody>
      </p:sp>
      <p:sp>
        <p:nvSpPr>
          <p:cNvPr id="383" name="Shape 384"/>
          <p:cNvSpPr>
            <a:spLocks noGrp="1"/>
          </p:cNvSpPr>
          <p:nvPr/>
        </p:nvSpPr>
        <p:spPr>
          <a:xfrm>
            <a:off x="868680" y="3346704"/>
            <a:ext cx="10469880" cy="9510"/>
          </a:xfrm>
          <a:prstGeom prst="rect">
            <a:avLst/>
          </a:prstGeom>
          <a:solidFill>
            <a:srgbClr val="D5DAD6"/>
          </a:solidFill>
          <a:ln w="0">
            <a:noFill/>
            <a:prstDash val="solid"/>
          </a:ln>
        </p:spPr>
        <p:txBody>
          <a:bodyPr/>
          <a:lstStyle/>
          <a:p>
            <a:endParaRPr lang="en-IN"/>
          </a:p>
        </p:txBody>
      </p:sp>
      <p:sp>
        <p:nvSpPr>
          <p:cNvPr id="385" name="Rectangle 386"/>
          <p:cNvSpPr>
            <a:spLocks noGrp="1"/>
          </p:cNvSpPr>
          <p:nvPr/>
        </p:nvSpPr>
        <p:spPr>
          <a:xfrm>
            <a:off x="868680" y="3419856"/>
            <a:ext cx="2788920" cy="320040"/>
          </a:xfrm>
          <a:prstGeom prst="rect">
            <a:avLst/>
          </a:prstGeom>
          <a:noFill/>
          <a:ln w="0">
            <a:noFill/>
            <a:prstDash val="solid"/>
          </a:ln>
        </p:spPr>
        <p:txBody>
          <a:bodyPr lIns="0" tIns="0" rIns="0" bIns="0" anchor="t">
            <a:normAutofit/>
          </a:bodyPr>
          <a:lstStyle/>
          <a:p>
            <a:pPr algn="l">
              <a:lnSpc>
                <a:spcPct val="98000"/>
              </a:lnSpc>
              <a:buNone/>
              <a:defRPr sz="1650" b="1" i="0">
                <a:solidFill>
                  <a:srgbClr val="18232F"/>
                </a:solidFill>
                <a:latin typeface="Segoe UI Semibold"/>
                <a:ea typeface="Segoe UI Semibold"/>
                <a:cs typeface="Segoe UI Semibold"/>
              </a:defRPr>
            </a:pPr>
            <a:r>
              <a:rPr sz="1650" b="1" i="0">
                <a:solidFill>
                  <a:srgbClr val="18232F"/>
                </a:solidFill>
                <a:latin typeface="Segoe UI Semibold"/>
                <a:ea typeface="Segoe UI Semibold"/>
                <a:cs typeface="Segoe UI Semibold"/>
              </a:rPr>
              <a:t>TD3</a:t>
            </a:r>
          </a:p>
        </p:txBody>
      </p:sp>
      <p:sp>
        <p:nvSpPr>
          <p:cNvPr id="387" name="Rectangle 388"/>
          <p:cNvSpPr>
            <a:spLocks noGrp="1"/>
          </p:cNvSpPr>
          <p:nvPr/>
        </p:nvSpPr>
        <p:spPr>
          <a:xfrm>
            <a:off x="868680" y="3767328"/>
            <a:ext cx="2788920" cy="256032"/>
          </a:xfrm>
          <a:prstGeom prst="rect">
            <a:avLst/>
          </a:prstGeom>
          <a:noFill/>
          <a:ln w="0">
            <a:noFill/>
            <a:prstDash val="solid"/>
          </a:ln>
        </p:spPr>
        <p:txBody>
          <a:bodyPr lIns="0" tIns="0" rIns="0" bIns="0" anchor="t">
            <a:normAutofit/>
          </a:bodyPr>
          <a:lstStyle/>
          <a:p>
            <a:pPr algn="l">
              <a:lnSpc>
                <a:spcPct val="98000"/>
              </a:lnSpc>
              <a:buNone/>
              <a:defRPr sz="1125" b="0" i="0">
                <a:solidFill>
                  <a:srgbClr val="5B6670"/>
                </a:solidFill>
                <a:latin typeface="Segoe UI"/>
                <a:ea typeface="Segoe UI"/>
                <a:cs typeface="Segoe UI"/>
              </a:defRPr>
            </a:pPr>
            <a:r>
              <a:rPr sz="1125" b="0" i="0">
                <a:solidFill>
                  <a:srgbClr val="5B6670"/>
                </a:solidFill>
                <a:latin typeface="Segoe UI"/>
                <a:ea typeface="Segoe UI"/>
                <a:cs typeface="Segoe UI"/>
              </a:rPr>
              <a:t>fast, then fragile</a:t>
            </a:r>
          </a:p>
        </p:txBody>
      </p:sp>
      <p:sp>
        <p:nvSpPr>
          <p:cNvPr id="389" name="Rectangle 390"/>
          <p:cNvSpPr>
            <a:spLocks noGrp="1"/>
          </p:cNvSpPr>
          <p:nvPr/>
        </p:nvSpPr>
        <p:spPr>
          <a:xfrm>
            <a:off x="3840480" y="3401568"/>
            <a:ext cx="7498080" cy="640080"/>
          </a:xfrm>
          <a:prstGeom prst="rect">
            <a:avLst/>
          </a:prstGeom>
          <a:noFill/>
          <a:ln w="0">
            <a:noFill/>
            <a:prstDash val="solid"/>
          </a:ln>
        </p:spPr>
        <p:txBody>
          <a:bodyPr lIns="0" tIns="0" rIns="0" bIns="0" anchor="t">
            <a:normAutofit/>
          </a:bodyPr>
          <a:lstStyle/>
          <a:p>
            <a:pPr algn="l">
              <a:lnSpc>
                <a:spcPct val="98000"/>
              </a:lnSpc>
              <a:buNone/>
              <a:defRPr sz="1425" b="0" i="0">
                <a:solidFill>
                  <a:srgbClr val="5B6670"/>
                </a:solidFill>
                <a:latin typeface="Segoe UI"/>
                <a:ea typeface="Segoe UI"/>
                <a:cs typeface="Segoe UI"/>
              </a:defRPr>
            </a:pPr>
            <a:r>
              <a:rPr sz="1425" b="0" i="0">
                <a:solidFill>
                  <a:srgbClr val="5B6670"/>
                </a:solidFill>
                <a:latin typeface="Segoe UI"/>
                <a:ea typeface="Segoe UI"/>
                <a:cs typeface="Segoe UI"/>
              </a:rPr>
              <a:t>Also reuses old attempts. Peaked earliest on the Go1 walk and then slid back, and on the humanoid the run broke down completely near the end.</a:t>
            </a:r>
          </a:p>
        </p:txBody>
      </p:sp>
      <p:sp>
        <p:nvSpPr>
          <p:cNvPr id="391" name="Shape 392"/>
          <p:cNvSpPr>
            <a:spLocks noGrp="1"/>
          </p:cNvSpPr>
          <p:nvPr/>
        </p:nvSpPr>
        <p:spPr>
          <a:xfrm>
            <a:off x="868680" y="4151376"/>
            <a:ext cx="10469880" cy="9510"/>
          </a:xfrm>
          <a:prstGeom prst="rect">
            <a:avLst/>
          </a:prstGeom>
          <a:solidFill>
            <a:srgbClr val="D5DAD6"/>
          </a:solidFill>
          <a:ln w="0">
            <a:noFill/>
            <a:prstDash val="solid"/>
          </a:ln>
        </p:spPr>
        <p:txBody>
          <a:bodyPr/>
          <a:lstStyle/>
          <a:p>
            <a:endParaRPr lang="en-IN"/>
          </a:p>
        </p:txBody>
      </p:sp>
      <p:sp>
        <p:nvSpPr>
          <p:cNvPr id="393" name="Rectangle 394"/>
          <p:cNvSpPr>
            <a:spLocks noGrp="1"/>
          </p:cNvSpPr>
          <p:nvPr/>
        </p:nvSpPr>
        <p:spPr>
          <a:xfrm>
            <a:off x="868680" y="4224528"/>
            <a:ext cx="2788920" cy="320040"/>
          </a:xfrm>
          <a:prstGeom prst="rect">
            <a:avLst/>
          </a:prstGeom>
          <a:noFill/>
          <a:ln w="0">
            <a:noFill/>
            <a:prstDash val="solid"/>
          </a:ln>
        </p:spPr>
        <p:txBody>
          <a:bodyPr lIns="0" tIns="0" rIns="0" bIns="0" anchor="t">
            <a:normAutofit/>
          </a:bodyPr>
          <a:lstStyle/>
          <a:p>
            <a:pPr algn="l">
              <a:lnSpc>
                <a:spcPct val="98000"/>
              </a:lnSpc>
              <a:buNone/>
              <a:defRPr sz="1650" b="1" i="0">
                <a:solidFill>
                  <a:srgbClr val="18232F"/>
                </a:solidFill>
                <a:latin typeface="Segoe UI Semibold"/>
                <a:ea typeface="Segoe UI Semibold"/>
                <a:cs typeface="Segoe UI Semibold"/>
              </a:defRPr>
            </a:pPr>
            <a:r>
              <a:rPr sz="1650" b="1" i="0">
                <a:solidFill>
                  <a:srgbClr val="18232F"/>
                </a:solidFill>
                <a:latin typeface="Segoe UI Semibold"/>
                <a:ea typeface="Segoe UI Semibold"/>
                <a:cs typeface="Segoe UI Semibold"/>
              </a:rPr>
              <a:t>Evolution strategies</a:t>
            </a:r>
          </a:p>
        </p:txBody>
      </p:sp>
      <p:sp>
        <p:nvSpPr>
          <p:cNvPr id="395" name="Rectangle 396"/>
          <p:cNvSpPr>
            <a:spLocks noGrp="1"/>
          </p:cNvSpPr>
          <p:nvPr/>
        </p:nvSpPr>
        <p:spPr>
          <a:xfrm>
            <a:off x="868680" y="4572000"/>
            <a:ext cx="2788920" cy="256032"/>
          </a:xfrm>
          <a:prstGeom prst="rect">
            <a:avLst/>
          </a:prstGeom>
          <a:noFill/>
          <a:ln w="0">
            <a:noFill/>
            <a:prstDash val="solid"/>
          </a:ln>
        </p:spPr>
        <p:txBody>
          <a:bodyPr lIns="0" tIns="0" rIns="0" bIns="0" anchor="t">
            <a:normAutofit/>
          </a:bodyPr>
          <a:lstStyle/>
          <a:p>
            <a:pPr algn="l">
              <a:lnSpc>
                <a:spcPct val="98000"/>
              </a:lnSpc>
              <a:buNone/>
              <a:defRPr sz="1125" b="0" i="0">
                <a:solidFill>
                  <a:srgbClr val="5B6670"/>
                </a:solidFill>
                <a:latin typeface="Segoe UI"/>
                <a:ea typeface="Segoe UI"/>
                <a:cs typeface="Segoe UI"/>
              </a:defRPr>
            </a:pPr>
            <a:r>
              <a:rPr sz="1125" b="0" i="0">
                <a:solidFill>
                  <a:srgbClr val="5B6670"/>
                </a:solidFill>
                <a:latin typeface="Segoe UI"/>
                <a:ea typeface="Segoe UI"/>
                <a:cs typeface="Segoe UI"/>
              </a:rPr>
              <a:t>not tried here</a:t>
            </a:r>
          </a:p>
        </p:txBody>
      </p:sp>
      <p:sp>
        <p:nvSpPr>
          <p:cNvPr id="397" name="Rectangle 398"/>
          <p:cNvSpPr>
            <a:spLocks noGrp="1"/>
          </p:cNvSpPr>
          <p:nvPr/>
        </p:nvSpPr>
        <p:spPr>
          <a:xfrm>
            <a:off x="3840480" y="4206240"/>
            <a:ext cx="7498080" cy="640080"/>
          </a:xfrm>
          <a:prstGeom prst="rect">
            <a:avLst/>
          </a:prstGeom>
          <a:noFill/>
          <a:ln w="0">
            <a:noFill/>
            <a:prstDash val="solid"/>
          </a:ln>
        </p:spPr>
        <p:txBody>
          <a:bodyPr lIns="0" tIns="0" rIns="0" bIns="0" anchor="t">
            <a:normAutofit/>
          </a:bodyPr>
          <a:lstStyle/>
          <a:p>
            <a:pPr algn="l">
              <a:lnSpc>
                <a:spcPct val="98000"/>
              </a:lnSpc>
              <a:buNone/>
              <a:defRPr sz="1425" b="0" i="0">
                <a:solidFill>
                  <a:srgbClr val="5B6670"/>
                </a:solidFill>
                <a:latin typeface="Segoe UI"/>
                <a:ea typeface="Segoe UI"/>
                <a:cs typeface="Segoe UI"/>
              </a:defRPr>
            </a:pPr>
            <a:r>
              <a:rPr sz="1425" b="0" i="0">
                <a:solidFill>
                  <a:srgbClr val="5B6670"/>
                </a:solidFill>
                <a:latin typeface="Segoe UI"/>
                <a:ea typeface="Segoe UI"/>
                <a:cs typeface="Segoe UI"/>
              </a:rPr>
              <a:t>Parallelises perfectly on this hardware, but scales badly to a humanoid with 129 sensor readings.</a:t>
            </a:r>
          </a:p>
        </p:txBody>
      </p:sp>
      <p:sp>
        <p:nvSpPr>
          <p:cNvPr id="399" name="Shape 400"/>
          <p:cNvSpPr>
            <a:spLocks noGrp="1"/>
          </p:cNvSpPr>
          <p:nvPr/>
        </p:nvSpPr>
        <p:spPr>
          <a:xfrm>
            <a:off x="868680" y="4956048"/>
            <a:ext cx="10469880" cy="9510"/>
          </a:xfrm>
          <a:prstGeom prst="rect">
            <a:avLst/>
          </a:prstGeom>
          <a:solidFill>
            <a:srgbClr val="D5DAD6"/>
          </a:solidFill>
          <a:ln w="0">
            <a:noFill/>
            <a:prstDash val="solid"/>
          </a:ln>
        </p:spPr>
        <p:txBody>
          <a:bodyPr/>
          <a:lstStyle/>
          <a:p>
            <a:endParaRPr lang="en-IN"/>
          </a:p>
        </p:txBody>
      </p:sp>
      <p:sp>
        <p:nvSpPr>
          <p:cNvPr id="401" name="Rectangle 402"/>
          <p:cNvSpPr>
            <a:spLocks noGrp="1"/>
          </p:cNvSpPr>
          <p:nvPr/>
        </p:nvSpPr>
        <p:spPr>
          <a:xfrm>
            <a:off x="868680" y="5029200"/>
            <a:ext cx="2788920" cy="320040"/>
          </a:xfrm>
          <a:prstGeom prst="rect">
            <a:avLst/>
          </a:prstGeom>
          <a:noFill/>
          <a:ln w="0">
            <a:noFill/>
            <a:prstDash val="solid"/>
          </a:ln>
        </p:spPr>
        <p:txBody>
          <a:bodyPr lIns="0" tIns="0" rIns="0" bIns="0" anchor="t">
            <a:normAutofit/>
          </a:bodyPr>
          <a:lstStyle/>
          <a:p>
            <a:pPr algn="l">
              <a:lnSpc>
                <a:spcPct val="98000"/>
              </a:lnSpc>
              <a:buNone/>
              <a:defRPr sz="1650" b="1" i="0">
                <a:solidFill>
                  <a:srgbClr val="18232F"/>
                </a:solidFill>
                <a:latin typeface="Segoe UI Semibold"/>
                <a:ea typeface="Segoe UI Semibold"/>
                <a:cs typeface="Segoe UI Semibold"/>
              </a:defRPr>
            </a:pPr>
            <a:r>
              <a:rPr sz="1650" b="1" i="0">
                <a:solidFill>
                  <a:srgbClr val="18232F"/>
                </a:solidFill>
                <a:latin typeface="Segoe UI Semibold"/>
                <a:ea typeface="Segoe UI Semibold"/>
                <a:cs typeface="Segoe UI Semibold"/>
              </a:rPr>
              <a:t>Model-based (Dreamer)</a:t>
            </a:r>
          </a:p>
        </p:txBody>
      </p:sp>
      <p:sp>
        <p:nvSpPr>
          <p:cNvPr id="403" name="Rectangle 404"/>
          <p:cNvSpPr>
            <a:spLocks noGrp="1"/>
          </p:cNvSpPr>
          <p:nvPr/>
        </p:nvSpPr>
        <p:spPr>
          <a:xfrm>
            <a:off x="868680" y="5376672"/>
            <a:ext cx="2788920" cy="256032"/>
          </a:xfrm>
          <a:prstGeom prst="rect">
            <a:avLst/>
          </a:prstGeom>
          <a:noFill/>
          <a:ln w="0">
            <a:noFill/>
            <a:prstDash val="solid"/>
          </a:ln>
        </p:spPr>
        <p:txBody>
          <a:bodyPr lIns="0" tIns="0" rIns="0" bIns="0" anchor="t">
            <a:normAutofit/>
          </a:bodyPr>
          <a:lstStyle/>
          <a:p>
            <a:pPr algn="l">
              <a:lnSpc>
                <a:spcPct val="98000"/>
              </a:lnSpc>
              <a:buNone/>
              <a:defRPr sz="1125" b="0" i="0">
                <a:solidFill>
                  <a:srgbClr val="5B6670"/>
                </a:solidFill>
                <a:latin typeface="Segoe UI"/>
                <a:ea typeface="Segoe UI"/>
                <a:cs typeface="Segoe UI"/>
              </a:defRPr>
            </a:pPr>
            <a:r>
              <a:rPr sz="1125" b="0" i="0">
                <a:solidFill>
                  <a:srgbClr val="5B6670"/>
                </a:solidFill>
                <a:latin typeface="Segoe UI"/>
                <a:ea typeface="Segoe UI"/>
                <a:cs typeface="Segoe UI"/>
              </a:rPr>
              <a:t>not tried here</a:t>
            </a:r>
          </a:p>
        </p:txBody>
      </p:sp>
      <p:sp>
        <p:nvSpPr>
          <p:cNvPr id="405" name="Rectangle 406"/>
          <p:cNvSpPr>
            <a:spLocks noGrp="1"/>
          </p:cNvSpPr>
          <p:nvPr/>
        </p:nvSpPr>
        <p:spPr>
          <a:xfrm>
            <a:off x="3840480" y="5010912"/>
            <a:ext cx="7498080" cy="640080"/>
          </a:xfrm>
          <a:prstGeom prst="rect">
            <a:avLst/>
          </a:prstGeom>
          <a:noFill/>
          <a:ln w="0">
            <a:noFill/>
            <a:prstDash val="solid"/>
          </a:ln>
        </p:spPr>
        <p:txBody>
          <a:bodyPr lIns="0" tIns="0" rIns="0" bIns="0" anchor="t">
            <a:normAutofit/>
          </a:bodyPr>
          <a:lstStyle/>
          <a:p>
            <a:pPr algn="l">
              <a:lnSpc>
                <a:spcPct val="98000"/>
              </a:lnSpc>
              <a:buNone/>
              <a:defRPr sz="1425" b="0" i="0">
                <a:solidFill>
                  <a:srgbClr val="5B6670"/>
                </a:solidFill>
                <a:latin typeface="Segoe UI"/>
                <a:ea typeface="Segoe UI"/>
                <a:cs typeface="Segoe UI"/>
              </a:defRPr>
            </a:pPr>
            <a:r>
              <a:rPr sz="1425" b="0" i="0">
                <a:solidFill>
                  <a:srgbClr val="5B6670"/>
                </a:solidFill>
                <a:latin typeface="Segoe UI"/>
                <a:ea typeface="Segoe UI"/>
                <a:cs typeface="Segoe UI"/>
              </a:rPr>
              <a:t>Useful when attempts are expensive. Our simulator is already fast, so learning a copy of it adds little.</a:t>
            </a:r>
          </a:p>
        </p:txBody>
      </p:sp>
      <p:sp>
        <p:nvSpPr>
          <p:cNvPr id="407" name="Rectangle 408"/>
          <p:cNvSpPr>
            <a:spLocks noGrp="1"/>
          </p:cNvSpPr>
          <p:nvPr/>
        </p:nvSpPr>
        <p:spPr>
          <a:xfrm>
            <a:off x="685800" y="5852160"/>
            <a:ext cx="10817352" cy="548640"/>
          </a:xfrm>
          <a:prstGeom prst="rect">
            <a:avLst/>
          </a:prstGeom>
          <a:noFill/>
          <a:ln w="0">
            <a:noFill/>
            <a:prstDash val="solid"/>
          </a:ln>
        </p:spPr>
        <p:txBody>
          <a:bodyPr lIns="0" tIns="0" rIns="0" bIns="0" anchor="t">
            <a:normAutofit/>
          </a:bodyPr>
          <a:lstStyle/>
          <a:p>
            <a:pPr algn="l">
              <a:lnSpc>
                <a:spcPct val="98000"/>
              </a:lnSpc>
              <a:buNone/>
              <a:defRPr sz="1425" b="1" i="0">
                <a:solidFill>
                  <a:srgbClr val="18232F"/>
                </a:solidFill>
                <a:latin typeface="Segoe UI Semibold"/>
                <a:ea typeface="Segoe UI Semibold"/>
                <a:cs typeface="Segoe UI Semibold"/>
              </a:defRPr>
            </a:pPr>
            <a:r>
              <a:rPr sz="1425" b="1" i="0">
                <a:solidFill>
                  <a:srgbClr val="18232F"/>
                </a:solidFill>
                <a:latin typeface="Segoe UI Semibold"/>
                <a:ea typeface="Segoe UI Semibold"/>
                <a:cs typeface="Segoe UI Semibold"/>
              </a:rPr>
              <a:t>We started with PPO because it ships with Isaac Sim's training library. Running the comparison is what showed us SAC was the better default.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409" name="Rectangle 410"/>
          <p:cNvSpPr>
            <a:spLocks noGrp="1"/>
          </p:cNvSpPr>
          <p:nvPr/>
        </p:nvSpPr>
        <p:spPr>
          <a:xfrm>
            <a:off x="11109960" y="265176"/>
            <a:ext cx="402336" cy="228600"/>
          </a:xfrm>
          <a:prstGeom prst="rect">
            <a:avLst/>
          </a:prstGeom>
          <a:noFill/>
          <a:ln w="0">
            <a:noFill/>
            <a:prstDash val="solid"/>
          </a:ln>
        </p:spPr>
        <p:txBody>
          <a:bodyPr lIns="0" tIns="0" rIns="0" bIns="0" anchor="t">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26</a:t>
            </a:r>
          </a:p>
        </p:txBody>
      </p:sp>
      <p:sp>
        <p:nvSpPr>
          <p:cNvPr id="411" name="Rectangle 412"/>
          <p:cNvSpPr>
            <a:spLocks noGrp="1"/>
          </p:cNvSpPr>
          <p:nvPr/>
        </p:nvSpPr>
        <p:spPr>
          <a:xfrm>
            <a:off x="685800" y="713232"/>
            <a:ext cx="10817352" cy="804672"/>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Two ways a robot can learn</a:t>
            </a:r>
          </a:p>
        </p:txBody>
      </p:sp>
      <p:sp>
        <p:nvSpPr>
          <p:cNvPr id="413" name="Shape 414"/>
          <p:cNvSpPr>
            <a:spLocks noGrp="1"/>
          </p:cNvSpPr>
          <p:nvPr/>
        </p:nvSpPr>
        <p:spPr>
          <a:xfrm>
            <a:off x="685800" y="6455664"/>
            <a:ext cx="10817352" cy="9510"/>
          </a:xfrm>
          <a:prstGeom prst="rect">
            <a:avLst/>
          </a:prstGeom>
          <a:solidFill>
            <a:srgbClr val="D5DAD6"/>
          </a:solidFill>
          <a:ln w="0">
            <a:noFill/>
            <a:prstDash val="solid"/>
          </a:ln>
        </p:spPr>
        <p:txBody>
          <a:bodyPr/>
          <a:lstStyle/>
          <a:p>
            <a:endParaRPr lang="en-IN"/>
          </a:p>
        </p:txBody>
      </p:sp>
      <p:sp>
        <p:nvSpPr>
          <p:cNvPr id="415" name="Shape 416"/>
          <p:cNvSpPr>
            <a:spLocks noGrp="1"/>
          </p:cNvSpPr>
          <p:nvPr/>
        </p:nvSpPr>
        <p:spPr>
          <a:xfrm>
            <a:off x="685800" y="1828800"/>
            <a:ext cx="5074920" cy="3611880"/>
          </a:xfrm>
          <a:prstGeom prst="roundRect">
            <a:avLst>
              <a:gd name="adj" fmla="val 6000"/>
            </a:avLst>
          </a:prstGeom>
          <a:solidFill>
            <a:srgbClr val="DDEBE7"/>
          </a:solidFill>
          <a:ln w="0">
            <a:noFill/>
            <a:prstDash val="solid"/>
          </a:ln>
        </p:spPr>
        <p:txBody>
          <a:bodyPr/>
          <a:lstStyle/>
          <a:p>
            <a:endParaRPr lang="en-IN"/>
          </a:p>
        </p:txBody>
      </p:sp>
      <p:sp>
        <p:nvSpPr>
          <p:cNvPr id="417" name="Shape 418"/>
          <p:cNvSpPr>
            <a:spLocks noGrp="1"/>
          </p:cNvSpPr>
          <p:nvPr/>
        </p:nvSpPr>
        <p:spPr>
          <a:xfrm>
            <a:off x="1005840" y="2121408"/>
            <a:ext cx="3063240" cy="301752"/>
          </a:xfrm>
          <a:prstGeom prst="roundRect">
            <a:avLst>
              <a:gd name="adj" fmla="val 20000"/>
            </a:avLst>
          </a:prstGeom>
          <a:solidFill>
            <a:srgbClr val="0B6B64"/>
          </a:solidFill>
          <a:ln w="0">
            <a:noFill/>
            <a:prstDash val="solid"/>
          </a:ln>
        </p:spPr>
        <p:txBody>
          <a:bodyPr/>
          <a:lstStyle/>
          <a:p>
            <a:endParaRPr lang="en-IN"/>
          </a:p>
        </p:txBody>
      </p:sp>
      <p:sp>
        <p:nvSpPr>
          <p:cNvPr id="419" name="Rectangle 420"/>
          <p:cNvSpPr>
            <a:spLocks noGrp="1"/>
          </p:cNvSpPr>
          <p:nvPr/>
        </p:nvSpPr>
        <p:spPr>
          <a:xfrm>
            <a:off x="1005840" y="2157984"/>
            <a:ext cx="3063240" cy="256032"/>
          </a:xfrm>
          <a:prstGeom prst="rect">
            <a:avLst/>
          </a:prstGeom>
          <a:noFill/>
          <a:ln w="0">
            <a:noFill/>
            <a:prstDash val="solid"/>
          </a:ln>
        </p:spPr>
        <p:txBody>
          <a:bodyPr lIns="0" tIns="0" rIns="0" bIns="0" anchor="t">
            <a:normAutofit/>
          </a:bodyPr>
          <a:lstStyle/>
          <a:p>
            <a:pPr algn="ctr">
              <a:lnSpc>
                <a:spcPct val="98000"/>
              </a:lnSpc>
              <a:buNone/>
              <a:defRPr sz="950" b="1" i="0">
                <a:solidFill>
                  <a:srgbClr val="FFFFFF"/>
                </a:solidFill>
                <a:latin typeface="Segoe UI Semibold"/>
                <a:ea typeface="Segoe UI Semibold"/>
                <a:cs typeface="Segoe UI Semibold"/>
              </a:defRPr>
            </a:pPr>
            <a:r>
              <a:rPr sz="950" b="1" i="0">
                <a:solidFill>
                  <a:srgbClr val="FFFFFF"/>
                </a:solidFill>
                <a:latin typeface="Segoe UI Semibold"/>
                <a:ea typeface="Segoe UI Semibold"/>
                <a:cs typeface="Segoe UI Semibold"/>
              </a:rPr>
              <a:t>ON-POLICY  ·  WHAT WE USE</a:t>
            </a:r>
          </a:p>
        </p:txBody>
      </p:sp>
      <p:sp>
        <p:nvSpPr>
          <p:cNvPr id="421" name="Rectangle 422"/>
          <p:cNvSpPr>
            <a:spLocks noGrp="1"/>
          </p:cNvSpPr>
          <p:nvPr/>
        </p:nvSpPr>
        <p:spPr>
          <a:xfrm>
            <a:off x="1005840" y="2615184"/>
            <a:ext cx="4434840" cy="685800"/>
          </a:xfrm>
          <a:prstGeom prst="rect">
            <a:avLst/>
          </a:prstGeom>
          <a:noFill/>
          <a:ln w="0">
            <a:noFill/>
            <a:prstDash val="solid"/>
          </a:ln>
        </p:spPr>
        <p:txBody>
          <a:bodyPr lIns="0" tIns="0" rIns="0" bIns="0" anchor="t">
            <a:normAutofit/>
          </a:bodyPr>
          <a:lstStyle/>
          <a:p>
            <a:pPr algn="l">
              <a:lnSpc>
                <a:spcPct val="98000"/>
              </a:lnSpc>
              <a:buNone/>
              <a:defRPr sz="1575" b="1" i="0">
                <a:solidFill>
                  <a:srgbClr val="18232F"/>
                </a:solidFill>
                <a:latin typeface="Segoe UI Semibold"/>
                <a:ea typeface="Segoe UI Semibold"/>
                <a:cs typeface="Segoe UI Semibold"/>
              </a:defRPr>
            </a:pPr>
            <a:r>
              <a:rPr sz="1575" b="1" i="0">
                <a:solidFill>
                  <a:srgbClr val="18232F"/>
                </a:solidFill>
                <a:latin typeface="Segoe UI Semibold"/>
                <a:ea typeface="Segoe UI Semibold"/>
                <a:cs typeface="Segoe UI Semibold"/>
              </a:rPr>
              <a:t>The robot tries something, learns from that attempt, then throws the attempt away.</a:t>
            </a:r>
          </a:p>
        </p:txBody>
      </p:sp>
      <p:sp>
        <p:nvSpPr>
          <p:cNvPr id="423" name="Shape 424"/>
          <p:cNvSpPr>
            <a:spLocks noGrp="1"/>
          </p:cNvSpPr>
          <p:nvPr/>
        </p:nvSpPr>
        <p:spPr>
          <a:xfrm>
            <a:off x="1005840" y="3538728"/>
            <a:ext cx="91440" cy="91440"/>
          </a:xfrm>
          <a:prstGeom prst="roundRect">
            <a:avLst>
              <a:gd name="adj" fmla="val 50000"/>
            </a:avLst>
          </a:prstGeom>
          <a:solidFill>
            <a:srgbClr val="0B6B64"/>
          </a:solidFill>
          <a:ln w="0">
            <a:noFill/>
            <a:prstDash val="solid"/>
          </a:ln>
        </p:spPr>
        <p:txBody>
          <a:bodyPr/>
          <a:lstStyle/>
          <a:p>
            <a:endParaRPr lang="en-IN"/>
          </a:p>
        </p:txBody>
      </p:sp>
      <p:sp>
        <p:nvSpPr>
          <p:cNvPr id="425" name="Rectangle 426"/>
          <p:cNvSpPr>
            <a:spLocks noGrp="1"/>
          </p:cNvSpPr>
          <p:nvPr/>
        </p:nvSpPr>
        <p:spPr>
          <a:xfrm>
            <a:off x="1234440" y="3456432"/>
            <a:ext cx="4206240" cy="457200"/>
          </a:xfrm>
          <a:prstGeom prst="rect">
            <a:avLst/>
          </a:prstGeom>
          <a:noFill/>
          <a:ln w="0">
            <a:noFill/>
            <a:prstDash val="solid"/>
          </a:ln>
        </p:spPr>
        <p:txBody>
          <a:bodyPr lIns="0" tIns="0" rIns="0" bIns="0" anchor="t">
            <a:normAutofit/>
          </a:bodyPr>
          <a:lstStyle/>
          <a:p>
            <a:pPr algn="l">
              <a:lnSpc>
                <a:spcPct val="98000"/>
              </a:lnSpc>
              <a:buNone/>
              <a:defRPr sz="1350" b="0" i="0">
                <a:solidFill>
                  <a:srgbClr val="18232F"/>
                </a:solidFill>
                <a:latin typeface="Segoe UI"/>
                <a:ea typeface="Segoe UI"/>
                <a:cs typeface="Segoe UI"/>
              </a:defRPr>
            </a:pPr>
            <a:r>
              <a:rPr sz="1350" b="0" i="0">
                <a:solidFill>
                  <a:srgbClr val="18232F"/>
                </a:solidFill>
                <a:latin typeface="Segoe UI"/>
                <a:ea typeface="Segoe UI"/>
                <a:cs typeface="Segoe UI"/>
              </a:rPr>
              <a:t>It always needs fresh attempts</a:t>
            </a:r>
          </a:p>
        </p:txBody>
      </p:sp>
      <p:sp>
        <p:nvSpPr>
          <p:cNvPr id="427" name="Shape 428"/>
          <p:cNvSpPr>
            <a:spLocks noGrp="1"/>
          </p:cNvSpPr>
          <p:nvPr/>
        </p:nvSpPr>
        <p:spPr>
          <a:xfrm>
            <a:off x="1005840" y="4069080"/>
            <a:ext cx="91440" cy="91440"/>
          </a:xfrm>
          <a:prstGeom prst="roundRect">
            <a:avLst>
              <a:gd name="adj" fmla="val 50000"/>
            </a:avLst>
          </a:prstGeom>
          <a:solidFill>
            <a:srgbClr val="0B6B64"/>
          </a:solidFill>
          <a:ln w="0">
            <a:noFill/>
            <a:prstDash val="solid"/>
          </a:ln>
        </p:spPr>
        <p:txBody>
          <a:bodyPr/>
          <a:lstStyle/>
          <a:p>
            <a:endParaRPr lang="en-IN"/>
          </a:p>
        </p:txBody>
      </p:sp>
      <p:sp>
        <p:nvSpPr>
          <p:cNvPr id="429" name="Rectangle 430"/>
          <p:cNvSpPr>
            <a:spLocks noGrp="1"/>
          </p:cNvSpPr>
          <p:nvPr/>
        </p:nvSpPr>
        <p:spPr>
          <a:xfrm>
            <a:off x="1234440" y="3986784"/>
            <a:ext cx="4206240" cy="457200"/>
          </a:xfrm>
          <a:prstGeom prst="rect">
            <a:avLst/>
          </a:prstGeom>
          <a:noFill/>
          <a:ln w="0">
            <a:noFill/>
            <a:prstDash val="solid"/>
          </a:ln>
        </p:spPr>
        <p:txBody>
          <a:bodyPr lIns="0" tIns="0" rIns="0" bIns="0" anchor="t">
            <a:normAutofit/>
          </a:bodyPr>
          <a:lstStyle/>
          <a:p>
            <a:pPr algn="l">
              <a:lnSpc>
                <a:spcPct val="98000"/>
              </a:lnSpc>
              <a:buNone/>
              <a:defRPr sz="1350" b="0" i="0">
                <a:solidFill>
                  <a:srgbClr val="18232F"/>
                </a:solidFill>
                <a:latin typeface="Segoe UI"/>
                <a:ea typeface="Segoe UI"/>
                <a:cs typeface="Segoe UI"/>
              </a:defRPr>
            </a:pPr>
            <a:r>
              <a:rPr sz="1350" b="0" i="0">
                <a:solidFill>
                  <a:srgbClr val="18232F"/>
                </a:solidFill>
                <a:latin typeface="Segoe UI"/>
                <a:ea typeface="Segoe UI"/>
                <a:cs typeface="Segoe UI"/>
              </a:rPr>
              <a:t>Simple, and steady during training</a:t>
            </a:r>
          </a:p>
        </p:txBody>
      </p:sp>
      <p:sp>
        <p:nvSpPr>
          <p:cNvPr id="431" name="Shape 432"/>
          <p:cNvSpPr>
            <a:spLocks noGrp="1"/>
          </p:cNvSpPr>
          <p:nvPr/>
        </p:nvSpPr>
        <p:spPr>
          <a:xfrm>
            <a:off x="1005840" y="4599432"/>
            <a:ext cx="91440" cy="91440"/>
          </a:xfrm>
          <a:prstGeom prst="roundRect">
            <a:avLst>
              <a:gd name="adj" fmla="val 50000"/>
            </a:avLst>
          </a:prstGeom>
          <a:solidFill>
            <a:srgbClr val="0B6B64"/>
          </a:solidFill>
          <a:ln w="0">
            <a:noFill/>
            <a:prstDash val="solid"/>
          </a:ln>
        </p:spPr>
        <p:txBody>
          <a:bodyPr/>
          <a:lstStyle/>
          <a:p>
            <a:endParaRPr lang="en-IN"/>
          </a:p>
        </p:txBody>
      </p:sp>
      <p:sp>
        <p:nvSpPr>
          <p:cNvPr id="433" name="Rectangle 434"/>
          <p:cNvSpPr>
            <a:spLocks noGrp="1"/>
          </p:cNvSpPr>
          <p:nvPr/>
        </p:nvSpPr>
        <p:spPr>
          <a:xfrm>
            <a:off x="1234440" y="4517136"/>
            <a:ext cx="4206240" cy="457200"/>
          </a:xfrm>
          <a:prstGeom prst="rect">
            <a:avLst/>
          </a:prstGeom>
          <a:noFill/>
          <a:ln w="0">
            <a:noFill/>
            <a:prstDash val="solid"/>
          </a:ln>
        </p:spPr>
        <p:txBody>
          <a:bodyPr lIns="0" tIns="0" rIns="0" bIns="0" anchor="t">
            <a:normAutofit/>
          </a:bodyPr>
          <a:lstStyle/>
          <a:p>
            <a:pPr algn="l">
              <a:lnSpc>
                <a:spcPct val="98000"/>
              </a:lnSpc>
              <a:buNone/>
              <a:defRPr sz="1350" b="0" i="0">
                <a:solidFill>
                  <a:srgbClr val="18232F"/>
                </a:solidFill>
                <a:latin typeface="Segoe UI"/>
                <a:ea typeface="Segoe UI"/>
                <a:cs typeface="Segoe UI"/>
              </a:defRPr>
            </a:pPr>
            <a:r>
              <a:rPr sz="1350" b="0" i="0">
                <a:solidFill>
                  <a:srgbClr val="18232F"/>
                </a:solidFill>
                <a:latin typeface="Segoe UI"/>
                <a:ea typeface="Segoe UI"/>
                <a:cs typeface="Segoe UI"/>
              </a:rPr>
              <a:t>Fine when attempts are cheap: we run 6,400 robots at once</a:t>
            </a:r>
          </a:p>
        </p:txBody>
      </p:sp>
      <p:sp>
        <p:nvSpPr>
          <p:cNvPr id="435" name="Rectangle 436"/>
          <p:cNvSpPr>
            <a:spLocks noGrp="1"/>
          </p:cNvSpPr>
          <p:nvPr/>
        </p:nvSpPr>
        <p:spPr>
          <a:xfrm>
            <a:off x="1005840" y="5047488"/>
            <a:ext cx="4434840" cy="274320"/>
          </a:xfrm>
          <a:prstGeom prst="rect">
            <a:avLst/>
          </a:prstGeom>
          <a:noFill/>
          <a:ln w="0">
            <a:noFill/>
            <a:prstDash val="solid"/>
          </a:ln>
        </p:spPr>
        <p:txBody>
          <a:bodyPr lIns="0" tIns="0" rIns="0" bIns="0" anchor="t">
            <a:normAutofit/>
          </a:bodyPr>
          <a:lstStyle/>
          <a:p>
            <a:pPr algn="l">
              <a:lnSpc>
                <a:spcPct val="98000"/>
              </a:lnSpc>
              <a:buNone/>
              <a:defRPr sz="1350" b="1" i="0">
                <a:solidFill>
                  <a:srgbClr val="0B6B64"/>
                </a:solidFill>
                <a:latin typeface="Segoe UI Semibold"/>
                <a:ea typeface="Segoe UI Semibold"/>
                <a:cs typeface="Segoe UI Semibold"/>
              </a:defRPr>
            </a:pPr>
            <a:r>
              <a:rPr sz="1350" b="1" i="0">
                <a:solidFill>
                  <a:srgbClr val="0B6B64"/>
                </a:solidFill>
                <a:latin typeface="Segoe UI Semibold"/>
                <a:ea typeface="Segoe UI Semibold"/>
                <a:cs typeface="Segoe UI Semibold"/>
              </a:rPr>
              <a:t>PPO learns this way.</a:t>
            </a:r>
          </a:p>
        </p:txBody>
      </p:sp>
      <p:sp>
        <p:nvSpPr>
          <p:cNvPr id="437" name="Shape 438"/>
          <p:cNvSpPr>
            <a:spLocks noGrp="1"/>
          </p:cNvSpPr>
          <p:nvPr/>
        </p:nvSpPr>
        <p:spPr>
          <a:xfrm>
            <a:off x="5760720" y="1828800"/>
            <a:ext cx="5074920" cy="3611880"/>
          </a:xfrm>
          <a:prstGeom prst="roundRect">
            <a:avLst>
              <a:gd name="adj" fmla="val 6000"/>
            </a:avLst>
          </a:prstGeom>
          <a:solidFill>
            <a:srgbClr val="F2E2D9"/>
          </a:solidFill>
          <a:ln w="0">
            <a:noFill/>
            <a:prstDash val="solid"/>
          </a:ln>
        </p:spPr>
        <p:txBody>
          <a:bodyPr/>
          <a:lstStyle/>
          <a:p>
            <a:endParaRPr lang="en-IN"/>
          </a:p>
        </p:txBody>
      </p:sp>
      <p:sp>
        <p:nvSpPr>
          <p:cNvPr id="439" name="Shape 440"/>
          <p:cNvSpPr>
            <a:spLocks noGrp="1"/>
          </p:cNvSpPr>
          <p:nvPr/>
        </p:nvSpPr>
        <p:spPr>
          <a:xfrm>
            <a:off x="6080760" y="2121408"/>
            <a:ext cx="3063240" cy="301752"/>
          </a:xfrm>
          <a:prstGeom prst="roundRect">
            <a:avLst>
              <a:gd name="adj" fmla="val 20000"/>
            </a:avLst>
          </a:prstGeom>
          <a:solidFill>
            <a:srgbClr val="B8502A"/>
          </a:solidFill>
          <a:ln w="0">
            <a:noFill/>
            <a:prstDash val="solid"/>
          </a:ln>
        </p:spPr>
        <p:txBody>
          <a:bodyPr/>
          <a:lstStyle/>
          <a:p>
            <a:endParaRPr lang="en-IN"/>
          </a:p>
        </p:txBody>
      </p:sp>
      <p:sp>
        <p:nvSpPr>
          <p:cNvPr id="441" name="Rectangle 442"/>
          <p:cNvSpPr>
            <a:spLocks noGrp="1"/>
          </p:cNvSpPr>
          <p:nvPr/>
        </p:nvSpPr>
        <p:spPr>
          <a:xfrm>
            <a:off x="6080760" y="2157984"/>
            <a:ext cx="3063240" cy="256032"/>
          </a:xfrm>
          <a:prstGeom prst="rect">
            <a:avLst/>
          </a:prstGeom>
          <a:noFill/>
          <a:ln w="0">
            <a:noFill/>
            <a:prstDash val="solid"/>
          </a:ln>
        </p:spPr>
        <p:txBody>
          <a:bodyPr lIns="0" tIns="0" rIns="0" bIns="0" anchor="t">
            <a:normAutofit/>
          </a:bodyPr>
          <a:lstStyle/>
          <a:p>
            <a:pPr algn="ctr">
              <a:lnSpc>
                <a:spcPct val="98000"/>
              </a:lnSpc>
              <a:buNone/>
              <a:defRPr sz="950" b="1" i="0">
                <a:solidFill>
                  <a:srgbClr val="FFFFFF"/>
                </a:solidFill>
                <a:latin typeface="Segoe UI Semibold"/>
                <a:ea typeface="Segoe UI Semibold"/>
                <a:cs typeface="Segoe UI Semibold"/>
              </a:defRPr>
            </a:pPr>
            <a:r>
              <a:rPr sz="950" b="1" i="0">
                <a:solidFill>
                  <a:srgbClr val="FFFFFF"/>
                </a:solidFill>
                <a:latin typeface="Segoe UI Semibold"/>
                <a:ea typeface="Segoe UI Semibold"/>
                <a:cs typeface="Segoe UI Semibold"/>
              </a:rPr>
              <a:t>OFF-POLICY</a:t>
            </a:r>
          </a:p>
        </p:txBody>
      </p:sp>
      <p:sp>
        <p:nvSpPr>
          <p:cNvPr id="443" name="Rectangle 444"/>
          <p:cNvSpPr>
            <a:spLocks noGrp="1"/>
          </p:cNvSpPr>
          <p:nvPr/>
        </p:nvSpPr>
        <p:spPr>
          <a:xfrm>
            <a:off x="6080760" y="2615184"/>
            <a:ext cx="4434840" cy="685800"/>
          </a:xfrm>
          <a:prstGeom prst="rect">
            <a:avLst/>
          </a:prstGeom>
          <a:noFill/>
          <a:ln w="0">
            <a:noFill/>
            <a:prstDash val="solid"/>
          </a:ln>
        </p:spPr>
        <p:txBody>
          <a:bodyPr lIns="0" tIns="0" rIns="0" bIns="0" anchor="t">
            <a:normAutofit/>
          </a:bodyPr>
          <a:lstStyle/>
          <a:p>
            <a:pPr algn="l">
              <a:lnSpc>
                <a:spcPct val="98000"/>
              </a:lnSpc>
              <a:buNone/>
              <a:defRPr sz="1575" b="1" i="0">
                <a:solidFill>
                  <a:srgbClr val="18232F"/>
                </a:solidFill>
                <a:latin typeface="Segoe UI Semibold"/>
                <a:ea typeface="Segoe UI Semibold"/>
                <a:cs typeface="Segoe UI Semibold"/>
              </a:defRPr>
            </a:pPr>
            <a:r>
              <a:rPr sz="1575" b="1" i="0">
                <a:solidFill>
                  <a:srgbClr val="18232F"/>
                </a:solidFill>
                <a:latin typeface="Segoe UI Semibold"/>
                <a:ea typeface="Segoe UI Semibold"/>
                <a:cs typeface="Segoe UI Semibold"/>
              </a:rPr>
              <a:t>The robot keeps a memory of old attempts and learns from them again and again.</a:t>
            </a:r>
          </a:p>
        </p:txBody>
      </p:sp>
      <p:sp>
        <p:nvSpPr>
          <p:cNvPr id="445" name="Shape 446"/>
          <p:cNvSpPr>
            <a:spLocks noGrp="1"/>
          </p:cNvSpPr>
          <p:nvPr/>
        </p:nvSpPr>
        <p:spPr>
          <a:xfrm>
            <a:off x="6080760" y="3538728"/>
            <a:ext cx="91440" cy="91440"/>
          </a:xfrm>
          <a:prstGeom prst="roundRect">
            <a:avLst>
              <a:gd name="adj" fmla="val 50000"/>
            </a:avLst>
          </a:prstGeom>
          <a:solidFill>
            <a:srgbClr val="B8502A"/>
          </a:solidFill>
          <a:ln w="0">
            <a:noFill/>
            <a:prstDash val="solid"/>
          </a:ln>
        </p:spPr>
        <p:txBody>
          <a:bodyPr/>
          <a:lstStyle/>
          <a:p>
            <a:endParaRPr lang="en-IN"/>
          </a:p>
        </p:txBody>
      </p:sp>
      <p:sp>
        <p:nvSpPr>
          <p:cNvPr id="447" name="Rectangle 448"/>
          <p:cNvSpPr>
            <a:spLocks noGrp="1"/>
          </p:cNvSpPr>
          <p:nvPr/>
        </p:nvSpPr>
        <p:spPr>
          <a:xfrm>
            <a:off x="6309360" y="3456432"/>
            <a:ext cx="4206240" cy="457200"/>
          </a:xfrm>
          <a:prstGeom prst="rect">
            <a:avLst/>
          </a:prstGeom>
          <a:noFill/>
          <a:ln w="0">
            <a:noFill/>
            <a:prstDash val="solid"/>
          </a:ln>
        </p:spPr>
        <p:txBody>
          <a:bodyPr lIns="0" tIns="0" rIns="0" bIns="0" anchor="t">
            <a:normAutofit/>
          </a:bodyPr>
          <a:lstStyle/>
          <a:p>
            <a:pPr algn="l">
              <a:lnSpc>
                <a:spcPct val="98000"/>
              </a:lnSpc>
              <a:buNone/>
              <a:defRPr sz="1350" b="0" i="0">
                <a:solidFill>
                  <a:srgbClr val="18232F"/>
                </a:solidFill>
                <a:latin typeface="Segoe UI"/>
                <a:ea typeface="Segoe UI"/>
                <a:cs typeface="Segoe UI"/>
              </a:defRPr>
            </a:pPr>
            <a:r>
              <a:rPr sz="1350" b="0" i="0">
                <a:solidFill>
                  <a:srgbClr val="18232F"/>
                </a:solidFill>
                <a:latin typeface="Segoe UI"/>
                <a:ea typeface="Segoe UI"/>
                <a:cs typeface="Segoe UI"/>
              </a:rPr>
              <a:t>It gets more out of every attempt</a:t>
            </a:r>
          </a:p>
        </p:txBody>
      </p:sp>
      <p:sp>
        <p:nvSpPr>
          <p:cNvPr id="449" name="Shape 450"/>
          <p:cNvSpPr>
            <a:spLocks noGrp="1"/>
          </p:cNvSpPr>
          <p:nvPr/>
        </p:nvSpPr>
        <p:spPr>
          <a:xfrm>
            <a:off x="6080760" y="4069080"/>
            <a:ext cx="91440" cy="91440"/>
          </a:xfrm>
          <a:prstGeom prst="roundRect">
            <a:avLst>
              <a:gd name="adj" fmla="val 50000"/>
            </a:avLst>
          </a:prstGeom>
          <a:solidFill>
            <a:srgbClr val="B8502A"/>
          </a:solidFill>
          <a:ln w="0">
            <a:noFill/>
            <a:prstDash val="solid"/>
          </a:ln>
        </p:spPr>
        <p:txBody>
          <a:bodyPr/>
          <a:lstStyle/>
          <a:p>
            <a:endParaRPr lang="en-IN"/>
          </a:p>
        </p:txBody>
      </p:sp>
      <p:sp>
        <p:nvSpPr>
          <p:cNvPr id="451" name="Rectangle 452"/>
          <p:cNvSpPr>
            <a:spLocks noGrp="1"/>
          </p:cNvSpPr>
          <p:nvPr/>
        </p:nvSpPr>
        <p:spPr>
          <a:xfrm>
            <a:off x="6309360" y="3986784"/>
            <a:ext cx="4206240" cy="457200"/>
          </a:xfrm>
          <a:prstGeom prst="rect">
            <a:avLst/>
          </a:prstGeom>
          <a:noFill/>
          <a:ln w="0">
            <a:noFill/>
            <a:prstDash val="solid"/>
          </a:ln>
        </p:spPr>
        <p:txBody>
          <a:bodyPr lIns="0" tIns="0" rIns="0" bIns="0" anchor="t">
            <a:normAutofit/>
          </a:bodyPr>
          <a:lstStyle/>
          <a:p>
            <a:pPr algn="l">
              <a:lnSpc>
                <a:spcPct val="98000"/>
              </a:lnSpc>
              <a:buNone/>
              <a:defRPr sz="1350" b="0" i="0">
                <a:solidFill>
                  <a:srgbClr val="18232F"/>
                </a:solidFill>
                <a:latin typeface="Segoe UI"/>
                <a:ea typeface="Segoe UI"/>
                <a:cs typeface="Segoe UI"/>
              </a:defRPr>
            </a:pPr>
            <a:r>
              <a:rPr sz="1350" b="0" i="0">
                <a:solidFill>
                  <a:srgbClr val="18232F"/>
                </a:solidFill>
                <a:latin typeface="Segoe UI"/>
                <a:ea typeface="Segoe UI"/>
                <a:cs typeface="Segoe UI"/>
              </a:rPr>
              <a:t>It needs a large memory of past attempts</a:t>
            </a:r>
          </a:p>
        </p:txBody>
      </p:sp>
      <p:sp>
        <p:nvSpPr>
          <p:cNvPr id="453" name="Shape 454"/>
          <p:cNvSpPr>
            <a:spLocks noGrp="1"/>
          </p:cNvSpPr>
          <p:nvPr/>
        </p:nvSpPr>
        <p:spPr>
          <a:xfrm>
            <a:off x="6080760" y="4599432"/>
            <a:ext cx="91440" cy="91440"/>
          </a:xfrm>
          <a:prstGeom prst="roundRect">
            <a:avLst>
              <a:gd name="adj" fmla="val 50000"/>
            </a:avLst>
          </a:prstGeom>
          <a:solidFill>
            <a:srgbClr val="B8502A"/>
          </a:solidFill>
          <a:ln w="0">
            <a:noFill/>
            <a:prstDash val="solid"/>
          </a:ln>
        </p:spPr>
        <p:txBody>
          <a:bodyPr/>
          <a:lstStyle/>
          <a:p>
            <a:endParaRPr lang="en-IN"/>
          </a:p>
        </p:txBody>
      </p:sp>
      <p:sp>
        <p:nvSpPr>
          <p:cNvPr id="455" name="Rectangle 456"/>
          <p:cNvSpPr>
            <a:spLocks noGrp="1"/>
          </p:cNvSpPr>
          <p:nvPr/>
        </p:nvSpPr>
        <p:spPr>
          <a:xfrm>
            <a:off x="6309360" y="4517136"/>
            <a:ext cx="4206240" cy="457200"/>
          </a:xfrm>
          <a:prstGeom prst="rect">
            <a:avLst/>
          </a:prstGeom>
          <a:noFill/>
          <a:ln w="0">
            <a:noFill/>
            <a:prstDash val="solid"/>
          </a:ln>
        </p:spPr>
        <p:txBody>
          <a:bodyPr lIns="0" tIns="0" rIns="0" bIns="0" anchor="t">
            <a:normAutofit/>
          </a:bodyPr>
          <a:lstStyle/>
          <a:p>
            <a:pPr algn="l">
              <a:lnSpc>
                <a:spcPct val="98000"/>
              </a:lnSpc>
              <a:buNone/>
              <a:defRPr sz="1350" b="0" i="0">
                <a:solidFill>
                  <a:srgbClr val="18232F"/>
                </a:solidFill>
                <a:latin typeface="Segoe UI"/>
                <a:ea typeface="Segoe UI"/>
                <a:cs typeface="Segoe UI"/>
              </a:defRPr>
            </a:pPr>
            <a:r>
              <a:rPr sz="1350" b="0" i="0">
                <a:solidFill>
                  <a:srgbClr val="18232F"/>
                </a:solidFill>
                <a:latin typeface="Segoe UI"/>
                <a:ea typeface="Segoe UI"/>
                <a:cs typeface="Segoe UI"/>
              </a:rPr>
              <a:t>Better when attempts are expensive, such as on a real robot</a:t>
            </a:r>
          </a:p>
        </p:txBody>
      </p:sp>
      <p:sp>
        <p:nvSpPr>
          <p:cNvPr id="457" name="Rectangle 458"/>
          <p:cNvSpPr>
            <a:spLocks noGrp="1"/>
          </p:cNvSpPr>
          <p:nvPr/>
        </p:nvSpPr>
        <p:spPr>
          <a:xfrm>
            <a:off x="6080760" y="5047488"/>
            <a:ext cx="4434840" cy="274320"/>
          </a:xfrm>
          <a:prstGeom prst="rect">
            <a:avLst/>
          </a:prstGeom>
          <a:noFill/>
          <a:ln w="0">
            <a:noFill/>
            <a:prstDash val="solid"/>
          </a:ln>
        </p:spPr>
        <p:txBody>
          <a:bodyPr lIns="0" tIns="0" rIns="0" bIns="0" anchor="t">
            <a:normAutofit/>
          </a:bodyPr>
          <a:lstStyle/>
          <a:p>
            <a:pPr algn="l">
              <a:lnSpc>
                <a:spcPct val="98000"/>
              </a:lnSpc>
              <a:buNone/>
              <a:defRPr sz="1350" b="1" i="0">
                <a:solidFill>
                  <a:srgbClr val="B8502A"/>
                </a:solidFill>
                <a:latin typeface="Segoe UI Semibold"/>
                <a:ea typeface="Segoe UI Semibold"/>
                <a:cs typeface="Segoe UI Semibold"/>
              </a:defRPr>
            </a:pPr>
            <a:r>
              <a:rPr sz="1350" b="1" i="0">
                <a:solidFill>
                  <a:srgbClr val="B8502A"/>
                </a:solidFill>
                <a:latin typeface="Segoe UI Semibold"/>
                <a:ea typeface="Segoe UI Semibold"/>
                <a:cs typeface="Segoe UI Semibold"/>
              </a:rPr>
              <a:t>SAC and TD3 learn this way.</a:t>
            </a:r>
          </a:p>
        </p:txBody>
      </p:sp>
      <p:sp>
        <p:nvSpPr>
          <p:cNvPr id="459" name="Rectangle 460"/>
          <p:cNvSpPr>
            <a:spLocks noGrp="1"/>
          </p:cNvSpPr>
          <p:nvPr/>
        </p:nvSpPr>
        <p:spPr>
          <a:xfrm>
            <a:off x="685800" y="5669280"/>
            <a:ext cx="10817352" cy="685800"/>
          </a:xfrm>
          <a:prstGeom prst="rect">
            <a:avLst/>
          </a:prstGeom>
          <a:noFill/>
          <a:ln w="0">
            <a:noFill/>
            <a:prstDash val="solid"/>
          </a:ln>
        </p:spPr>
        <p:txBody>
          <a:bodyPr lIns="0" tIns="0" rIns="0" bIns="0" anchor="t">
            <a:normAutofit/>
          </a:bodyPr>
          <a:lstStyle/>
          <a:p>
            <a:pPr algn="l">
              <a:lnSpc>
                <a:spcPct val="98000"/>
              </a:lnSpc>
              <a:buNone/>
              <a:defRPr sz="1425" b="0" i="0">
                <a:solidFill>
                  <a:srgbClr val="18232F"/>
                </a:solidFill>
                <a:latin typeface="Segoe UI"/>
                <a:ea typeface="Segoe UI"/>
                <a:cs typeface="Segoe UI"/>
              </a:defRPr>
            </a:pPr>
            <a:r>
              <a:rPr sz="1425" b="0" i="0">
                <a:solidFill>
                  <a:srgbClr val="18232F"/>
                </a:solidFill>
                <a:latin typeface="Segoe UI"/>
                <a:ea typeface="Segoe UI"/>
                <a:cs typeface="Segoe UI"/>
              </a:rPr>
              <a:t>The difference is whether old attempts are reused. Our simulator produces new attempts almost for free, so keeping</a:t>
            </a:r>
          </a:p>
          <a:p>
            <a:pPr algn="l">
              <a:lnSpc>
                <a:spcPct val="98000"/>
              </a:lnSpc>
              <a:buNone/>
              <a:defRPr sz="1425" b="0" i="0">
                <a:solidFill>
                  <a:srgbClr val="18232F"/>
                </a:solidFill>
                <a:latin typeface="Segoe UI"/>
                <a:ea typeface="Segoe UI"/>
                <a:cs typeface="Segoe UI"/>
              </a:defRPr>
            </a:pPr>
            <a:r>
              <a:rPr sz="1425" b="0" i="0">
                <a:solidFill>
                  <a:srgbClr val="18232F"/>
                </a:solidFill>
                <a:latin typeface="Segoe UI"/>
                <a:ea typeface="Segoe UI"/>
                <a:cs typeface="Segoe UI"/>
              </a:rPr>
              <a:t>a memory of old ones buys us little, so we train on-policy.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461" name="Rectangle 462"/>
          <p:cNvSpPr>
            <a:spLocks noGrp="1"/>
          </p:cNvSpPr>
          <p:nvPr/>
        </p:nvSpPr>
        <p:spPr>
          <a:xfrm>
            <a:off x="11109960" y="265176"/>
            <a:ext cx="402336" cy="228600"/>
          </a:xfrm>
          <a:prstGeom prst="rect">
            <a:avLst/>
          </a:prstGeom>
          <a:noFill/>
          <a:ln w="0">
            <a:noFill/>
            <a:prstDash val="solid"/>
          </a:ln>
        </p:spPr>
        <p:txBody>
          <a:bodyPr lIns="0" tIns="0" rIns="0" bIns="0" anchor="t">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18</a:t>
            </a:r>
          </a:p>
        </p:txBody>
      </p:sp>
      <p:sp>
        <p:nvSpPr>
          <p:cNvPr id="463" name="Rectangle 464"/>
          <p:cNvSpPr>
            <a:spLocks noGrp="1"/>
          </p:cNvSpPr>
          <p:nvPr/>
        </p:nvSpPr>
        <p:spPr>
          <a:xfrm>
            <a:off x="685800" y="713232"/>
            <a:ext cx="10817352" cy="804672"/>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Most of our training runs did not work</a:t>
            </a:r>
          </a:p>
        </p:txBody>
      </p:sp>
      <p:sp>
        <p:nvSpPr>
          <p:cNvPr id="465" name="Shape 466"/>
          <p:cNvSpPr>
            <a:spLocks noGrp="1"/>
          </p:cNvSpPr>
          <p:nvPr/>
        </p:nvSpPr>
        <p:spPr>
          <a:xfrm>
            <a:off x="685800" y="6455664"/>
            <a:ext cx="10817352" cy="9510"/>
          </a:xfrm>
          <a:prstGeom prst="rect">
            <a:avLst/>
          </a:prstGeom>
          <a:solidFill>
            <a:srgbClr val="D5DAD6"/>
          </a:solidFill>
          <a:ln w="0">
            <a:noFill/>
            <a:prstDash val="solid"/>
          </a:ln>
        </p:spPr>
        <p:txBody>
          <a:bodyPr/>
          <a:lstStyle/>
          <a:p>
            <a:endParaRPr lang="en-IN"/>
          </a:p>
        </p:txBody>
      </p:sp>
      <p:sp>
        <p:nvSpPr>
          <p:cNvPr id="467" name="Rectangle 468"/>
          <p:cNvSpPr>
            <a:spLocks noGrp="1"/>
          </p:cNvSpPr>
          <p:nvPr/>
        </p:nvSpPr>
        <p:spPr>
          <a:xfrm>
            <a:off x="731520" y="1755648"/>
            <a:ext cx="7498080" cy="274320"/>
          </a:xfrm>
          <a:prstGeom prst="rect">
            <a:avLst/>
          </a:prstGeom>
          <a:noFill/>
          <a:ln w="0">
            <a:noFill/>
            <a:prstDash val="solid"/>
          </a:ln>
        </p:spPr>
        <p:txBody>
          <a:bodyPr lIns="0" tIns="0" rIns="0" bIns="0" anchor="t">
            <a:normAutofit/>
          </a:bodyPr>
          <a:lstStyle/>
          <a:p>
            <a:pPr algn="l">
              <a:lnSpc>
                <a:spcPct val="98000"/>
              </a:lnSpc>
              <a:buNone/>
              <a:defRPr sz="1275" b="1" i="0">
                <a:solidFill>
                  <a:srgbClr val="5B6670"/>
                </a:solidFill>
                <a:latin typeface="Segoe UI Semibold"/>
                <a:ea typeface="Segoe UI Semibold"/>
                <a:cs typeface="Segoe UI Semibold"/>
              </a:defRPr>
            </a:pPr>
            <a:r>
              <a:rPr sz="1275" b="1" i="0">
                <a:solidFill>
                  <a:srgbClr val="5B6670"/>
                </a:solidFill>
                <a:latin typeface="Segoe UI Semibold"/>
                <a:ea typeface="Segoe UI Semibold"/>
                <a:cs typeface="Segoe UI Semibold"/>
              </a:rPr>
              <a:t>Longest attempt each run managed, in date order</a:t>
            </a:r>
          </a:p>
        </p:txBody>
      </p:sp>
      <p:pic>
        <p:nvPicPr>
          <p:cNvPr id="469" name="Chart 470"/>
          <p:cNvPicPr>
            <a:picLocks noChangeAspect="1"/>
          </p:cNvPicPr>
          <p:nvPr/>
        </p:nvPicPr>
        <p:blipFill>
          <a:blip r:embed="rId2"/>
          <a:stretch>
            <a:fillRect/>
          </a:stretch>
        </p:blipFill>
        <p:spPr>
          <a:xfrm>
            <a:off x="621792" y="2048256"/>
            <a:ext cx="7955280" cy="2916936"/>
          </a:xfrm>
          <a:prstGeom prst="rect">
            <a:avLst/>
          </a:prstGeom>
        </p:spPr>
      </p:pic>
      <p:sp>
        <p:nvSpPr>
          <p:cNvPr id="471" name="Rectangle 472"/>
          <p:cNvSpPr>
            <a:spLocks noGrp="1"/>
          </p:cNvSpPr>
          <p:nvPr/>
        </p:nvSpPr>
        <p:spPr>
          <a:xfrm>
            <a:off x="731520" y="5230368"/>
            <a:ext cx="10424160" cy="502920"/>
          </a:xfrm>
          <a:prstGeom prst="rect">
            <a:avLst/>
          </a:prstGeom>
          <a:noFill/>
          <a:ln w="0">
            <a:noFill/>
            <a:prstDash val="solid"/>
          </a:ln>
        </p:spPr>
        <p:txBody>
          <a:bodyPr lIns="0" tIns="0" rIns="0" bIns="0" anchor="t">
            <a:normAutofit/>
          </a:bodyPr>
          <a:lstStyle/>
          <a:p>
            <a:pPr algn="l">
              <a:lnSpc>
                <a:spcPct val="98000"/>
              </a:lnSpc>
              <a:buNone/>
              <a:defRPr sz="1275" b="1" i="0">
                <a:solidFill>
                  <a:srgbClr val="5B6670"/>
                </a:solidFill>
                <a:latin typeface="Segoe UI Semibold"/>
                <a:ea typeface="Segoe UI Semibold"/>
                <a:cs typeface="Segoe UI Semibold"/>
              </a:defRPr>
            </a:pPr>
            <a:r>
              <a:rPr sz="1275" b="1" i="0">
                <a:solidFill>
                  <a:srgbClr val="5B6670"/>
                </a:solidFill>
                <a:latin typeface="Segoe UI Semibold"/>
                <a:ea typeface="Segoe UI Semibold"/>
                <a:cs typeface="Segoe UI Semibold"/>
              </a:rPr>
              <a:t>Each column is one run. Green finished full 1,000-step attempts, grey learned a little, red fell over quickly.</a:t>
            </a:r>
          </a:p>
          <a:p>
            <a:pPr algn="l">
              <a:lnSpc>
                <a:spcPct val="98000"/>
              </a:lnSpc>
              <a:buNone/>
              <a:defRPr sz="1275" b="1" i="0">
                <a:solidFill>
                  <a:srgbClr val="5B6670"/>
                </a:solidFill>
                <a:latin typeface="Segoe UI Semibold"/>
                <a:ea typeface="Segoe UI Semibold"/>
                <a:cs typeface="Segoe UI Semibold"/>
              </a:defRPr>
            </a:pPr>
            <a:r>
              <a:rPr sz="1275" b="1" i="0">
                <a:solidFill>
                  <a:srgbClr val="5B6670"/>
                </a:solidFill>
                <a:latin typeface="Segoe UI Semibold"/>
                <a:ea typeface="Segoe UI Semibold"/>
                <a:cs typeface="Segoe UI Semibold"/>
              </a:rPr>
              <a:t>Six columns sit at zero: those runs crashed before training started.</a:t>
            </a:r>
          </a:p>
        </p:txBody>
      </p:sp>
      <p:sp>
        <p:nvSpPr>
          <p:cNvPr id="473" name="Shape 474"/>
          <p:cNvSpPr>
            <a:spLocks noGrp="1"/>
          </p:cNvSpPr>
          <p:nvPr/>
        </p:nvSpPr>
        <p:spPr>
          <a:xfrm>
            <a:off x="8732520" y="1920240"/>
            <a:ext cx="2423160" cy="3337560"/>
          </a:xfrm>
          <a:prstGeom prst="roundRect">
            <a:avLst>
              <a:gd name="adj" fmla="val 7000"/>
            </a:avLst>
          </a:prstGeom>
          <a:solidFill>
            <a:srgbClr val="FFFFFF"/>
          </a:solidFill>
          <a:ln w="9525">
            <a:solidFill>
              <a:srgbClr val="D5DAD6"/>
            </a:solidFill>
            <a:prstDash val="solid"/>
          </a:ln>
        </p:spPr>
        <p:txBody>
          <a:bodyPr/>
          <a:lstStyle/>
          <a:p>
            <a:endParaRPr lang="en-IN"/>
          </a:p>
        </p:txBody>
      </p:sp>
      <p:sp>
        <p:nvSpPr>
          <p:cNvPr id="475" name="Rectangle 476"/>
          <p:cNvSpPr>
            <a:spLocks noGrp="1"/>
          </p:cNvSpPr>
          <p:nvPr/>
        </p:nvSpPr>
        <p:spPr>
          <a:xfrm>
            <a:off x="8961120" y="2011680"/>
            <a:ext cx="1965960" cy="548640"/>
          </a:xfrm>
          <a:prstGeom prst="rect">
            <a:avLst/>
          </a:prstGeom>
          <a:noFill/>
          <a:ln w="0">
            <a:noFill/>
            <a:prstDash val="solid"/>
          </a:ln>
        </p:spPr>
        <p:txBody>
          <a:bodyPr lIns="0" tIns="0" rIns="0" bIns="0" anchor="t">
            <a:normAutofit/>
          </a:bodyPr>
          <a:lstStyle/>
          <a:p>
            <a:pPr algn="l">
              <a:lnSpc>
                <a:spcPct val="98000"/>
              </a:lnSpc>
              <a:buNone/>
              <a:defRPr sz="3000" b="1" i="0">
                <a:solidFill>
                  <a:srgbClr val="0B6B64"/>
                </a:solidFill>
                <a:latin typeface="Segoe UI Semibold"/>
                <a:ea typeface="Segoe UI Semibold"/>
                <a:cs typeface="Segoe UI Semibold"/>
              </a:defRPr>
            </a:pPr>
            <a:r>
              <a:rPr sz="3000" b="1" i="0">
                <a:solidFill>
                  <a:srgbClr val="0B6B64"/>
                </a:solidFill>
                <a:latin typeface="Segoe UI Semibold"/>
                <a:ea typeface="Segoe UI Semibold"/>
                <a:cs typeface="Segoe UI Semibold"/>
              </a:rPr>
              <a:t>30</a:t>
            </a:r>
          </a:p>
        </p:txBody>
      </p:sp>
      <p:sp>
        <p:nvSpPr>
          <p:cNvPr id="477" name="Rectangle 478"/>
          <p:cNvSpPr>
            <a:spLocks noGrp="1"/>
          </p:cNvSpPr>
          <p:nvPr/>
        </p:nvSpPr>
        <p:spPr>
          <a:xfrm>
            <a:off x="8961120" y="2578608"/>
            <a:ext cx="1965960" cy="411480"/>
          </a:xfrm>
          <a:prstGeom prst="rect">
            <a:avLst/>
          </a:prstGeom>
          <a:noFill/>
          <a:ln w="0">
            <a:noFill/>
            <a:prstDash val="solid"/>
          </a:ln>
        </p:spPr>
        <p:txBody>
          <a:bodyPr lIns="0" tIns="0" rIns="0" bIns="0" anchor="t">
            <a:normAutofit/>
          </a:bodyPr>
          <a:lstStyle/>
          <a:p>
            <a:pPr algn="l">
              <a:lnSpc>
                <a:spcPct val="98000"/>
              </a:lnSpc>
              <a:buNone/>
              <a:defRPr sz="1200" b="1" i="0">
                <a:solidFill>
                  <a:srgbClr val="5B6670"/>
                </a:solidFill>
                <a:latin typeface="Segoe UI Semibold"/>
                <a:ea typeface="Segoe UI Semibold"/>
                <a:cs typeface="Segoe UI Semibold"/>
              </a:defRPr>
            </a:pPr>
            <a:r>
              <a:rPr sz="1200" b="1" i="0">
                <a:solidFill>
                  <a:srgbClr val="5B6670"/>
                </a:solidFill>
                <a:latin typeface="Segoe UI Semibold"/>
                <a:ea typeface="Segoe UI Semibold"/>
                <a:cs typeface="Segoe UI Semibold"/>
              </a:rPr>
              <a:t>training runs</a:t>
            </a:r>
          </a:p>
        </p:txBody>
      </p:sp>
      <p:sp>
        <p:nvSpPr>
          <p:cNvPr id="479" name="Rectangle 480"/>
          <p:cNvSpPr>
            <a:spLocks noGrp="1"/>
          </p:cNvSpPr>
          <p:nvPr/>
        </p:nvSpPr>
        <p:spPr>
          <a:xfrm>
            <a:off x="8961120" y="3154680"/>
            <a:ext cx="1965960" cy="548640"/>
          </a:xfrm>
          <a:prstGeom prst="rect">
            <a:avLst/>
          </a:prstGeom>
          <a:noFill/>
          <a:ln w="0">
            <a:noFill/>
            <a:prstDash val="solid"/>
          </a:ln>
        </p:spPr>
        <p:txBody>
          <a:bodyPr lIns="0" tIns="0" rIns="0" bIns="0" anchor="t">
            <a:normAutofit/>
          </a:bodyPr>
          <a:lstStyle/>
          <a:p>
            <a:pPr algn="l">
              <a:lnSpc>
                <a:spcPct val="98000"/>
              </a:lnSpc>
              <a:buNone/>
              <a:defRPr sz="3000" b="1" i="0">
                <a:solidFill>
                  <a:srgbClr val="0B6B64"/>
                </a:solidFill>
                <a:latin typeface="Segoe UI Semibold"/>
                <a:ea typeface="Segoe UI Semibold"/>
                <a:cs typeface="Segoe UI Semibold"/>
              </a:defRPr>
            </a:pPr>
            <a:r>
              <a:rPr sz="3000" b="1" i="0">
                <a:solidFill>
                  <a:srgbClr val="0B6B64"/>
                </a:solidFill>
                <a:latin typeface="Segoe UI Semibold"/>
                <a:ea typeface="Segoe UI Semibold"/>
                <a:cs typeface="Segoe UI Semibold"/>
              </a:rPr>
              <a:t>9</a:t>
            </a:r>
          </a:p>
        </p:txBody>
      </p:sp>
      <p:sp>
        <p:nvSpPr>
          <p:cNvPr id="481" name="Rectangle 482"/>
          <p:cNvSpPr>
            <a:spLocks noGrp="1"/>
          </p:cNvSpPr>
          <p:nvPr/>
        </p:nvSpPr>
        <p:spPr>
          <a:xfrm>
            <a:off x="8961120" y="3721608"/>
            <a:ext cx="1965960" cy="411480"/>
          </a:xfrm>
          <a:prstGeom prst="rect">
            <a:avLst/>
          </a:prstGeom>
          <a:noFill/>
          <a:ln w="0">
            <a:noFill/>
            <a:prstDash val="solid"/>
          </a:ln>
        </p:spPr>
        <p:txBody>
          <a:bodyPr lIns="0" tIns="0" rIns="0" bIns="0" anchor="t">
            <a:normAutofit/>
          </a:bodyPr>
          <a:lstStyle/>
          <a:p>
            <a:pPr algn="l">
              <a:lnSpc>
                <a:spcPct val="98000"/>
              </a:lnSpc>
              <a:buNone/>
              <a:defRPr sz="1200" b="1" i="0">
                <a:solidFill>
                  <a:srgbClr val="5B6670"/>
                </a:solidFill>
                <a:latin typeface="Segoe UI Semibold"/>
                <a:ea typeface="Segoe UI Semibold"/>
                <a:cs typeface="Segoe UI Semibold"/>
              </a:defRPr>
            </a:pPr>
            <a:r>
              <a:rPr sz="1200" b="1" i="0">
                <a:solidFill>
                  <a:srgbClr val="5B6670"/>
                </a:solidFill>
                <a:latin typeface="Segoe UI Semibold"/>
                <a:ea typeface="Segoe UI Semibold"/>
                <a:cs typeface="Segoe UI Semibold"/>
              </a:rPr>
              <a:t>gave a usable robot</a:t>
            </a:r>
          </a:p>
        </p:txBody>
      </p:sp>
      <p:sp>
        <p:nvSpPr>
          <p:cNvPr id="483" name="Rectangle 484"/>
          <p:cNvSpPr>
            <a:spLocks noGrp="1"/>
          </p:cNvSpPr>
          <p:nvPr/>
        </p:nvSpPr>
        <p:spPr>
          <a:xfrm>
            <a:off x="8961120" y="4297680"/>
            <a:ext cx="1965960" cy="548640"/>
          </a:xfrm>
          <a:prstGeom prst="rect">
            <a:avLst/>
          </a:prstGeom>
          <a:noFill/>
          <a:ln w="0">
            <a:noFill/>
            <a:prstDash val="solid"/>
          </a:ln>
        </p:spPr>
        <p:txBody>
          <a:bodyPr lIns="0" tIns="0" rIns="0" bIns="0" anchor="t">
            <a:normAutofit/>
          </a:bodyPr>
          <a:lstStyle/>
          <a:p>
            <a:pPr algn="l">
              <a:lnSpc>
                <a:spcPct val="98000"/>
              </a:lnSpc>
              <a:buNone/>
              <a:defRPr sz="3000" b="1" i="0">
                <a:solidFill>
                  <a:srgbClr val="B8502A"/>
                </a:solidFill>
                <a:latin typeface="Segoe UI Semibold"/>
                <a:ea typeface="Segoe UI Semibold"/>
                <a:cs typeface="Segoe UI Semibold"/>
              </a:defRPr>
            </a:pPr>
            <a:r>
              <a:rPr sz="3000" b="1" i="0">
                <a:solidFill>
                  <a:srgbClr val="B8502A"/>
                </a:solidFill>
                <a:latin typeface="Segoe UI Semibold"/>
                <a:ea typeface="Segoe UI Semibold"/>
                <a:cs typeface="Segoe UI Semibold"/>
              </a:rPr>
              <a:t>6</a:t>
            </a:r>
          </a:p>
        </p:txBody>
      </p:sp>
      <p:sp>
        <p:nvSpPr>
          <p:cNvPr id="485" name="Rectangle 486"/>
          <p:cNvSpPr>
            <a:spLocks noGrp="1"/>
          </p:cNvSpPr>
          <p:nvPr/>
        </p:nvSpPr>
        <p:spPr>
          <a:xfrm>
            <a:off x="8961120" y="4864608"/>
            <a:ext cx="1965960" cy="411480"/>
          </a:xfrm>
          <a:prstGeom prst="rect">
            <a:avLst/>
          </a:prstGeom>
          <a:noFill/>
          <a:ln w="0">
            <a:noFill/>
            <a:prstDash val="solid"/>
          </a:ln>
        </p:spPr>
        <p:txBody>
          <a:bodyPr lIns="0" tIns="0" rIns="0" bIns="0" anchor="t">
            <a:normAutofit/>
          </a:bodyPr>
          <a:lstStyle/>
          <a:p>
            <a:pPr algn="l">
              <a:lnSpc>
                <a:spcPct val="98000"/>
              </a:lnSpc>
              <a:buNone/>
              <a:defRPr sz="1200" b="1" i="0">
                <a:solidFill>
                  <a:srgbClr val="5B6670"/>
                </a:solidFill>
                <a:latin typeface="Segoe UI Semibold"/>
                <a:ea typeface="Segoe UI Semibold"/>
                <a:cs typeface="Segoe UI Semibold"/>
              </a:defRPr>
            </a:pPr>
            <a:r>
              <a:rPr sz="1200" b="1" i="0">
                <a:solidFill>
                  <a:srgbClr val="5B6670"/>
                </a:solidFill>
                <a:latin typeface="Segoe UI Semibold"/>
                <a:ea typeface="Segoe UI Semibold"/>
                <a:cs typeface="Segoe UI Semibold"/>
              </a:rPr>
              <a:t>crashed at launch</a:t>
            </a:r>
          </a:p>
        </p:txBody>
      </p:sp>
      <p:sp>
        <p:nvSpPr>
          <p:cNvPr id="487" name="Rectangle 488"/>
          <p:cNvSpPr>
            <a:spLocks noGrp="1"/>
          </p:cNvSpPr>
          <p:nvPr/>
        </p:nvSpPr>
        <p:spPr>
          <a:xfrm>
            <a:off x="731520" y="5961888"/>
            <a:ext cx="10424160" cy="411480"/>
          </a:xfrm>
          <a:prstGeom prst="rect">
            <a:avLst/>
          </a:prstGeom>
          <a:noFill/>
          <a:ln w="0">
            <a:noFill/>
            <a:prstDash val="solid"/>
          </a:ln>
        </p:spPr>
        <p:txBody>
          <a:bodyPr lIns="0" tIns="0" rIns="0" bIns="0" anchor="t">
            <a:normAutofit/>
          </a:bodyPr>
          <a:lstStyle/>
          <a:p>
            <a:pPr algn="l">
              <a:lnSpc>
                <a:spcPct val="98000"/>
              </a:lnSpc>
              <a:buNone/>
              <a:defRPr sz="1425" b="0" i="0">
                <a:solidFill>
                  <a:srgbClr val="18232F"/>
                </a:solidFill>
                <a:latin typeface="Segoe UI"/>
                <a:ea typeface="Segoe UI"/>
                <a:cs typeface="Segoe UI"/>
              </a:defRPr>
            </a:pPr>
            <a:r>
              <a:rPr sz="1425" b="0" i="0">
                <a:solidFill>
                  <a:srgbClr val="18232F"/>
                </a:solidFill>
                <a:latin typeface="Segoe UI"/>
                <a:ea typeface="Segoe UI"/>
                <a:cs typeface="Segoe UI"/>
              </a:rPr>
              <a:t>Between 13 July and 3 August. The failures are the reason the working runs work.</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489" name="Rectangle 490"/>
          <p:cNvSpPr>
            <a:spLocks noGrp="1"/>
          </p:cNvSpPr>
          <p:nvPr/>
        </p:nvSpPr>
        <p:spPr>
          <a:xfrm>
            <a:off x="11109960" y="265176"/>
            <a:ext cx="402336" cy="228600"/>
          </a:xfrm>
          <a:prstGeom prst="rect">
            <a:avLst/>
          </a:prstGeom>
          <a:noFill/>
          <a:ln w="0">
            <a:noFill/>
            <a:prstDash val="solid"/>
          </a:ln>
        </p:spPr>
        <p:txBody>
          <a:bodyPr lIns="0" tIns="0" rIns="0" bIns="0" anchor="t">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16</a:t>
            </a:r>
          </a:p>
        </p:txBody>
      </p:sp>
      <p:sp>
        <p:nvSpPr>
          <p:cNvPr id="491" name="Rectangle 492"/>
          <p:cNvSpPr>
            <a:spLocks noGrp="1"/>
          </p:cNvSpPr>
          <p:nvPr/>
        </p:nvSpPr>
        <p:spPr>
          <a:xfrm>
            <a:off x="685800" y="713232"/>
            <a:ext cx="10817352" cy="804672"/>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Four problems that changed the code</a:t>
            </a:r>
          </a:p>
        </p:txBody>
      </p:sp>
      <p:sp>
        <p:nvSpPr>
          <p:cNvPr id="493" name="Shape 494"/>
          <p:cNvSpPr>
            <a:spLocks noGrp="1"/>
          </p:cNvSpPr>
          <p:nvPr/>
        </p:nvSpPr>
        <p:spPr>
          <a:xfrm>
            <a:off x="685800" y="6455664"/>
            <a:ext cx="10817352" cy="9510"/>
          </a:xfrm>
          <a:prstGeom prst="rect">
            <a:avLst/>
          </a:prstGeom>
          <a:solidFill>
            <a:srgbClr val="D5DAD6"/>
          </a:solidFill>
          <a:ln w="0">
            <a:noFill/>
            <a:prstDash val="solid"/>
          </a:ln>
        </p:spPr>
        <p:txBody>
          <a:bodyPr/>
          <a:lstStyle/>
          <a:p>
            <a:endParaRPr lang="en-IN"/>
          </a:p>
        </p:txBody>
      </p:sp>
      <p:sp>
        <p:nvSpPr>
          <p:cNvPr id="495" name="Rectangle 496"/>
          <p:cNvSpPr>
            <a:spLocks noGrp="1"/>
          </p:cNvSpPr>
          <p:nvPr/>
        </p:nvSpPr>
        <p:spPr>
          <a:xfrm>
            <a:off x="758952" y="1847088"/>
            <a:ext cx="3063240" cy="548640"/>
          </a:xfrm>
          <a:prstGeom prst="rect">
            <a:avLst/>
          </a:prstGeom>
          <a:noFill/>
          <a:ln w="0">
            <a:noFill/>
            <a:prstDash val="solid"/>
          </a:ln>
        </p:spPr>
        <p:txBody>
          <a:bodyPr lIns="0" tIns="0" rIns="0" bIns="0" anchor="t">
            <a:normAutofit/>
          </a:bodyPr>
          <a:lstStyle/>
          <a:p>
            <a:pPr algn="l">
              <a:lnSpc>
                <a:spcPct val="98000"/>
              </a:lnSpc>
              <a:buNone/>
              <a:defRPr sz="1575" b="1" i="0">
                <a:solidFill>
                  <a:srgbClr val="B8502A"/>
                </a:solidFill>
                <a:latin typeface="Segoe UI Semibold"/>
                <a:ea typeface="Segoe UI Semibold"/>
                <a:cs typeface="Segoe UI Semibold"/>
              </a:defRPr>
            </a:pPr>
            <a:r>
              <a:rPr sz="1575" b="1" i="0">
                <a:solidFill>
                  <a:srgbClr val="B8502A"/>
                </a:solidFill>
                <a:latin typeface="Segoe UI Semibold"/>
                <a:ea typeface="Segoe UI Semibold"/>
                <a:cs typeface="Segoe UI Semibold"/>
              </a:rPr>
              <a:t>The robot could not stand up</a:t>
            </a:r>
          </a:p>
        </p:txBody>
      </p:sp>
      <p:sp>
        <p:nvSpPr>
          <p:cNvPr id="497" name="Rectangle 498"/>
          <p:cNvSpPr>
            <a:spLocks noGrp="1"/>
          </p:cNvSpPr>
          <p:nvPr/>
        </p:nvSpPr>
        <p:spPr>
          <a:xfrm>
            <a:off x="4041648" y="1828800"/>
            <a:ext cx="3520440" cy="822960"/>
          </a:xfrm>
          <a:prstGeom prst="rect">
            <a:avLst/>
          </a:prstGeom>
          <a:noFill/>
          <a:ln w="0">
            <a:noFill/>
            <a:prstDash val="solid"/>
          </a:ln>
        </p:spPr>
        <p:txBody>
          <a:bodyPr lIns="0" tIns="0" rIns="0" bIns="0" anchor="t">
            <a:normAutofit/>
          </a:bodyPr>
          <a:lstStyle/>
          <a:p>
            <a:pPr algn="l">
              <a:lnSpc>
                <a:spcPct val="98000"/>
              </a:lnSpc>
              <a:buNone/>
              <a:defRPr sz="1200" b="0" i="0">
                <a:solidFill>
                  <a:srgbClr val="5B6670"/>
                </a:solidFill>
                <a:latin typeface="Segoe UI"/>
                <a:ea typeface="Segoe UI"/>
                <a:cs typeface="Segoe UI"/>
              </a:defRPr>
            </a:pPr>
            <a:r>
              <a:rPr sz="1200" b="0" i="0">
                <a:solidFill>
                  <a:srgbClr val="5B6670"/>
                </a:solidFill>
                <a:latin typeface="Segoe UI"/>
                <a:ea typeface="Segoe UI"/>
                <a:cs typeface="Segoe UI"/>
              </a:rPr>
              <a:t>Motor commands were absolute angles centred on zero, but the Go1 stands with its thigh at 0.8 radians. The pose it needed was outside the range it could ask for.</a:t>
            </a:r>
          </a:p>
        </p:txBody>
      </p:sp>
      <p:sp>
        <p:nvSpPr>
          <p:cNvPr id="499" name="Rectangle 500"/>
          <p:cNvSpPr>
            <a:spLocks noGrp="1"/>
          </p:cNvSpPr>
          <p:nvPr/>
        </p:nvSpPr>
        <p:spPr>
          <a:xfrm>
            <a:off x="7882128" y="1828800"/>
            <a:ext cx="3611880" cy="822960"/>
          </a:xfrm>
          <a:prstGeom prst="rect">
            <a:avLst/>
          </a:prstGeom>
          <a:noFill/>
          <a:ln w="0">
            <a:noFill/>
            <a:prstDash val="solid"/>
          </a:ln>
        </p:spPr>
        <p:txBody>
          <a:bodyPr lIns="0" tIns="0" rIns="0" bIns="0" anchor="t">
            <a:normAutofit/>
          </a:bodyPr>
          <a:lstStyle/>
          <a:p>
            <a:pPr algn="l">
              <a:lnSpc>
                <a:spcPct val="98000"/>
              </a:lnSpc>
              <a:buNone/>
              <a:defRPr sz="1200" b="0" i="0">
                <a:solidFill>
                  <a:srgbClr val="18232F"/>
                </a:solidFill>
                <a:latin typeface="Segoe UI"/>
                <a:ea typeface="Segoe UI"/>
                <a:cs typeface="Segoe UI"/>
              </a:defRPr>
            </a:pPr>
            <a:r>
              <a:rPr sz="1200" b="0" i="0">
                <a:solidFill>
                  <a:srgbClr val="18232F"/>
                </a:solidFill>
                <a:latin typeface="Segoe UI"/>
                <a:ea typeface="Segoe UI"/>
                <a:cs typeface="Segoe UI"/>
              </a:rPr>
              <a:t>Commands are now offsets from the robot's own standing pose. Nothing could be trained properly before this.</a:t>
            </a:r>
          </a:p>
        </p:txBody>
      </p:sp>
      <p:sp>
        <p:nvSpPr>
          <p:cNvPr id="501" name="Shape 502"/>
          <p:cNvSpPr>
            <a:spLocks noGrp="1"/>
          </p:cNvSpPr>
          <p:nvPr/>
        </p:nvSpPr>
        <p:spPr>
          <a:xfrm>
            <a:off x="758952" y="2761488"/>
            <a:ext cx="10716768" cy="9510"/>
          </a:xfrm>
          <a:prstGeom prst="rect">
            <a:avLst/>
          </a:prstGeom>
          <a:solidFill>
            <a:srgbClr val="D5DAD6"/>
          </a:solidFill>
          <a:ln w="0">
            <a:noFill/>
            <a:prstDash val="solid"/>
          </a:ln>
        </p:spPr>
        <p:txBody>
          <a:bodyPr/>
          <a:lstStyle/>
          <a:p>
            <a:endParaRPr lang="en-IN"/>
          </a:p>
        </p:txBody>
      </p:sp>
      <p:sp>
        <p:nvSpPr>
          <p:cNvPr id="503" name="Rectangle 504"/>
          <p:cNvSpPr>
            <a:spLocks noGrp="1"/>
          </p:cNvSpPr>
          <p:nvPr/>
        </p:nvSpPr>
        <p:spPr>
          <a:xfrm>
            <a:off x="758952" y="2907792"/>
            <a:ext cx="3063240" cy="548640"/>
          </a:xfrm>
          <a:prstGeom prst="rect">
            <a:avLst/>
          </a:prstGeom>
          <a:noFill/>
          <a:ln w="0">
            <a:noFill/>
            <a:prstDash val="solid"/>
          </a:ln>
        </p:spPr>
        <p:txBody>
          <a:bodyPr lIns="0" tIns="0" rIns="0" bIns="0" anchor="t">
            <a:normAutofit/>
          </a:bodyPr>
          <a:lstStyle/>
          <a:p>
            <a:pPr algn="l">
              <a:lnSpc>
                <a:spcPct val="98000"/>
              </a:lnSpc>
              <a:buNone/>
              <a:defRPr sz="1575" b="1" i="0">
                <a:solidFill>
                  <a:srgbClr val="B8502A"/>
                </a:solidFill>
                <a:latin typeface="Segoe UI Semibold"/>
                <a:ea typeface="Segoe UI Semibold"/>
                <a:cs typeface="Segoe UI Semibold"/>
              </a:defRPr>
            </a:pPr>
            <a:r>
              <a:rPr sz="1575" b="1" i="0">
                <a:solidFill>
                  <a:srgbClr val="B8502A"/>
                </a:solidFill>
                <a:latin typeface="Segoe UI Semibold"/>
                <a:ea typeface="Segoe UI Semibold"/>
                <a:cs typeface="Segoe UI Semibold"/>
              </a:rPr>
              <a:t>A gallop could not be described</a:t>
            </a:r>
          </a:p>
        </p:txBody>
      </p:sp>
      <p:sp>
        <p:nvSpPr>
          <p:cNvPr id="505" name="Rectangle 506"/>
          <p:cNvSpPr>
            <a:spLocks noGrp="1"/>
          </p:cNvSpPr>
          <p:nvPr/>
        </p:nvSpPr>
        <p:spPr>
          <a:xfrm>
            <a:off x="4041648" y="2889504"/>
            <a:ext cx="3520440" cy="822960"/>
          </a:xfrm>
          <a:prstGeom prst="rect">
            <a:avLst/>
          </a:prstGeom>
          <a:noFill/>
          <a:ln w="0">
            <a:noFill/>
            <a:prstDash val="solid"/>
          </a:ln>
        </p:spPr>
        <p:txBody>
          <a:bodyPr lIns="0" tIns="0" rIns="0" bIns="0" anchor="t">
            <a:normAutofit/>
          </a:bodyPr>
          <a:lstStyle/>
          <a:p>
            <a:pPr algn="l">
              <a:lnSpc>
                <a:spcPct val="98000"/>
              </a:lnSpc>
              <a:buNone/>
              <a:defRPr sz="1200" b="0" i="0">
                <a:solidFill>
                  <a:srgbClr val="5B6670"/>
                </a:solidFill>
                <a:latin typeface="Segoe UI"/>
                <a:ea typeface="Segoe UI"/>
                <a:cs typeface="Segoe UI"/>
              </a:defRPr>
            </a:pPr>
            <a:r>
              <a:rPr sz="1200" b="0" i="0">
                <a:solidFill>
                  <a:srgbClr val="5B6670"/>
                </a:solidFill>
                <a:latin typeface="Segoe UI"/>
                <a:ea typeface="Segoe UI"/>
                <a:cs typeface="Segoe UI"/>
              </a:rPr>
              <a:t>The reward could talk about speed and height, but not about feet. Asking for a gallop returned a fast trot every time, and no weighting of the available rules could fix it.</a:t>
            </a:r>
          </a:p>
        </p:txBody>
      </p:sp>
      <p:sp>
        <p:nvSpPr>
          <p:cNvPr id="507" name="Rectangle 508"/>
          <p:cNvSpPr>
            <a:spLocks noGrp="1"/>
          </p:cNvSpPr>
          <p:nvPr/>
        </p:nvSpPr>
        <p:spPr>
          <a:xfrm>
            <a:off x="7882128" y="2889504"/>
            <a:ext cx="3611880" cy="822960"/>
          </a:xfrm>
          <a:prstGeom prst="rect">
            <a:avLst/>
          </a:prstGeom>
          <a:noFill/>
          <a:ln w="0">
            <a:noFill/>
            <a:prstDash val="solid"/>
          </a:ln>
        </p:spPr>
        <p:txBody>
          <a:bodyPr lIns="0" tIns="0" rIns="0" bIns="0" anchor="t">
            <a:normAutofit/>
          </a:bodyPr>
          <a:lstStyle/>
          <a:p>
            <a:pPr algn="l">
              <a:lnSpc>
                <a:spcPct val="98000"/>
              </a:lnSpc>
              <a:buNone/>
              <a:defRPr sz="1200" b="0" i="0">
                <a:solidFill>
                  <a:srgbClr val="18232F"/>
                </a:solidFill>
                <a:latin typeface="Segoe UI"/>
                <a:ea typeface="Segoe UI"/>
                <a:cs typeface="Segoe UI"/>
              </a:defRPr>
            </a:pPr>
            <a:r>
              <a:rPr sz="1200" b="0" i="0">
                <a:solidFill>
                  <a:srgbClr val="18232F"/>
                </a:solidFill>
                <a:latin typeface="Segoe UI"/>
                <a:ea typeface="Segoe UI"/>
                <a:cs typeface="Segoe UI"/>
              </a:rPr>
              <a:t>Isaac created one contact sensor instead of thirteen, because its setup stops at the first body it meets. Walking the tree ourselves gave every foot a sensor.</a:t>
            </a:r>
          </a:p>
        </p:txBody>
      </p:sp>
      <p:sp>
        <p:nvSpPr>
          <p:cNvPr id="509" name="Shape 510"/>
          <p:cNvSpPr>
            <a:spLocks noGrp="1"/>
          </p:cNvSpPr>
          <p:nvPr/>
        </p:nvSpPr>
        <p:spPr>
          <a:xfrm>
            <a:off x="758952" y="3822192"/>
            <a:ext cx="10716768" cy="9510"/>
          </a:xfrm>
          <a:prstGeom prst="rect">
            <a:avLst/>
          </a:prstGeom>
          <a:solidFill>
            <a:srgbClr val="D5DAD6"/>
          </a:solidFill>
          <a:ln w="0">
            <a:noFill/>
            <a:prstDash val="solid"/>
          </a:ln>
        </p:spPr>
        <p:txBody>
          <a:bodyPr/>
          <a:lstStyle/>
          <a:p>
            <a:endParaRPr lang="en-IN"/>
          </a:p>
        </p:txBody>
      </p:sp>
      <p:sp>
        <p:nvSpPr>
          <p:cNvPr id="511" name="Rectangle 512"/>
          <p:cNvSpPr>
            <a:spLocks noGrp="1"/>
          </p:cNvSpPr>
          <p:nvPr/>
        </p:nvSpPr>
        <p:spPr>
          <a:xfrm>
            <a:off x="758952" y="3968496"/>
            <a:ext cx="3063240" cy="548640"/>
          </a:xfrm>
          <a:prstGeom prst="rect">
            <a:avLst/>
          </a:prstGeom>
          <a:noFill/>
          <a:ln w="0">
            <a:noFill/>
            <a:prstDash val="solid"/>
          </a:ln>
        </p:spPr>
        <p:txBody>
          <a:bodyPr lIns="0" tIns="0" rIns="0" bIns="0" anchor="t">
            <a:normAutofit/>
          </a:bodyPr>
          <a:lstStyle/>
          <a:p>
            <a:pPr algn="l">
              <a:lnSpc>
                <a:spcPct val="98000"/>
              </a:lnSpc>
              <a:buNone/>
              <a:defRPr sz="1575" b="1" i="0">
                <a:solidFill>
                  <a:srgbClr val="B8502A"/>
                </a:solidFill>
                <a:latin typeface="Segoe UI Semibold"/>
                <a:ea typeface="Segoe UI Semibold"/>
                <a:cs typeface="Segoe UI Semibold"/>
              </a:defRPr>
            </a:pPr>
            <a:r>
              <a:rPr sz="1575" b="1" i="0">
                <a:solidFill>
                  <a:srgbClr val="B8502A"/>
                </a:solidFill>
                <a:latin typeface="Segoe UI Semibold"/>
                <a:ea typeface="Segoe UI Semibold"/>
                <a:cs typeface="Segoe UI Semibold"/>
              </a:rPr>
              <a:t>Wheeled robots were untrainable</a:t>
            </a:r>
          </a:p>
        </p:txBody>
      </p:sp>
      <p:sp>
        <p:nvSpPr>
          <p:cNvPr id="513" name="Rectangle 514"/>
          <p:cNvSpPr>
            <a:spLocks noGrp="1"/>
          </p:cNvSpPr>
          <p:nvPr/>
        </p:nvSpPr>
        <p:spPr>
          <a:xfrm>
            <a:off x="4041648" y="3950208"/>
            <a:ext cx="3520440" cy="822960"/>
          </a:xfrm>
          <a:prstGeom prst="rect">
            <a:avLst/>
          </a:prstGeom>
          <a:noFill/>
          <a:ln w="0">
            <a:noFill/>
            <a:prstDash val="solid"/>
          </a:ln>
        </p:spPr>
        <p:txBody>
          <a:bodyPr lIns="0" tIns="0" rIns="0" bIns="0" anchor="t">
            <a:normAutofit/>
          </a:bodyPr>
          <a:lstStyle/>
          <a:p>
            <a:pPr algn="l">
              <a:lnSpc>
                <a:spcPct val="98000"/>
              </a:lnSpc>
              <a:buNone/>
              <a:defRPr sz="1200" b="0" i="0">
                <a:solidFill>
                  <a:srgbClr val="5B6670"/>
                </a:solidFill>
                <a:latin typeface="Segoe UI"/>
                <a:ea typeface="Segoe UI"/>
                <a:cs typeface="Segoe UI"/>
              </a:defRPr>
            </a:pPr>
            <a:r>
              <a:rPr sz="1200" b="0" i="0">
                <a:solidFill>
                  <a:srgbClr val="5B6670"/>
                </a:solidFill>
                <a:latin typeface="Segoe UI"/>
                <a:ea typeface="Segoe UI"/>
                <a:cs typeface="Segoe UI"/>
              </a:rPr>
              <a:t>The app decided which joints to drive by matching words in joint names. On the wheeled quadrupeds the wheels are called foot joints, so all four drive joints were switched off.</a:t>
            </a:r>
          </a:p>
        </p:txBody>
      </p:sp>
      <p:sp>
        <p:nvSpPr>
          <p:cNvPr id="515" name="Rectangle 516"/>
          <p:cNvSpPr>
            <a:spLocks noGrp="1"/>
          </p:cNvSpPr>
          <p:nvPr/>
        </p:nvSpPr>
        <p:spPr>
          <a:xfrm>
            <a:off x="7882128" y="3950208"/>
            <a:ext cx="3611880" cy="822960"/>
          </a:xfrm>
          <a:prstGeom prst="rect">
            <a:avLst/>
          </a:prstGeom>
          <a:noFill/>
          <a:ln w="0">
            <a:noFill/>
            <a:prstDash val="solid"/>
          </a:ln>
        </p:spPr>
        <p:txBody>
          <a:bodyPr lIns="0" tIns="0" rIns="0" bIns="0" anchor="t">
            <a:normAutofit/>
          </a:bodyPr>
          <a:lstStyle/>
          <a:p>
            <a:pPr algn="l">
              <a:lnSpc>
                <a:spcPct val="98000"/>
              </a:lnSpc>
              <a:buNone/>
              <a:defRPr sz="1200" b="0" i="0">
                <a:solidFill>
                  <a:srgbClr val="18232F"/>
                </a:solidFill>
                <a:latin typeface="Segoe UI"/>
                <a:ea typeface="Segoe UI"/>
                <a:cs typeface="Segoe UI"/>
              </a:defRPr>
            </a:pPr>
            <a:r>
              <a:rPr sz="1200" b="0" i="0">
                <a:solidFill>
                  <a:srgbClr val="18232F"/>
                </a:solidFill>
                <a:latin typeface="Segoe UI"/>
                <a:ea typeface="Segoe UI"/>
                <a:cs typeface="Segoe UI"/>
              </a:rPr>
              <a:t>The robot is now read from the structure of its own file: root, limbs, and which limbs reach the ground. Those robots went from 12 usable joints to 16.</a:t>
            </a:r>
          </a:p>
        </p:txBody>
      </p:sp>
      <p:sp>
        <p:nvSpPr>
          <p:cNvPr id="517" name="Shape 518"/>
          <p:cNvSpPr>
            <a:spLocks noGrp="1"/>
          </p:cNvSpPr>
          <p:nvPr/>
        </p:nvSpPr>
        <p:spPr>
          <a:xfrm>
            <a:off x="758952" y="4882896"/>
            <a:ext cx="10716768" cy="9510"/>
          </a:xfrm>
          <a:prstGeom prst="rect">
            <a:avLst/>
          </a:prstGeom>
          <a:solidFill>
            <a:srgbClr val="D5DAD6"/>
          </a:solidFill>
          <a:ln w="0">
            <a:noFill/>
            <a:prstDash val="solid"/>
          </a:ln>
        </p:spPr>
        <p:txBody>
          <a:bodyPr/>
          <a:lstStyle/>
          <a:p>
            <a:endParaRPr lang="en-IN"/>
          </a:p>
        </p:txBody>
      </p:sp>
      <p:sp>
        <p:nvSpPr>
          <p:cNvPr id="519" name="Rectangle 520"/>
          <p:cNvSpPr>
            <a:spLocks noGrp="1"/>
          </p:cNvSpPr>
          <p:nvPr/>
        </p:nvSpPr>
        <p:spPr>
          <a:xfrm>
            <a:off x="758952" y="5029200"/>
            <a:ext cx="3063240" cy="548640"/>
          </a:xfrm>
          <a:prstGeom prst="rect">
            <a:avLst/>
          </a:prstGeom>
          <a:noFill/>
          <a:ln w="0">
            <a:noFill/>
            <a:prstDash val="solid"/>
          </a:ln>
        </p:spPr>
        <p:txBody>
          <a:bodyPr lIns="0" tIns="0" rIns="0" bIns="0" anchor="t">
            <a:normAutofit/>
          </a:bodyPr>
          <a:lstStyle/>
          <a:p>
            <a:pPr algn="l">
              <a:lnSpc>
                <a:spcPct val="98000"/>
              </a:lnSpc>
              <a:buNone/>
              <a:defRPr sz="1575" b="1" i="0">
                <a:solidFill>
                  <a:srgbClr val="B8502A"/>
                </a:solidFill>
                <a:latin typeface="Segoe UI Semibold"/>
                <a:ea typeface="Segoe UI Semibold"/>
                <a:cs typeface="Segoe UI Semibold"/>
              </a:defRPr>
            </a:pPr>
            <a:r>
              <a:rPr sz="1575" b="1" i="0">
                <a:solidFill>
                  <a:srgbClr val="B8502A"/>
                </a:solidFill>
                <a:latin typeface="Segoe UI Semibold"/>
                <a:ea typeface="Segoe UI Semibold"/>
                <a:cs typeface="Segoe UI Semibold"/>
              </a:rPr>
              <a:t>Rewards were a fixed menu</a:t>
            </a:r>
          </a:p>
        </p:txBody>
      </p:sp>
      <p:sp>
        <p:nvSpPr>
          <p:cNvPr id="521" name="Rectangle 522"/>
          <p:cNvSpPr>
            <a:spLocks noGrp="1"/>
          </p:cNvSpPr>
          <p:nvPr/>
        </p:nvSpPr>
        <p:spPr>
          <a:xfrm>
            <a:off x="4041648" y="5010912"/>
            <a:ext cx="3520440" cy="822960"/>
          </a:xfrm>
          <a:prstGeom prst="rect">
            <a:avLst/>
          </a:prstGeom>
          <a:noFill/>
          <a:ln w="0">
            <a:noFill/>
            <a:prstDash val="solid"/>
          </a:ln>
        </p:spPr>
        <p:txBody>
          <a:bodyPr lIns="0" tIns="0" rIns="0" bIns="0" anchor="t">
            <a:normAutofit/>
          </a:bodyPr>
          <a:lstStyle/>
          <a:p>
            <a:pPr algn="l">
              <a:lnSpc>
                <a:spcPct val="98000"/>
              </a:lnSpc>
              <a:buNone/>
              <a:defRPr sz="1200" b="0" i="0">
                <a:solidFill>
                  <a:srgbClr val="5B6670"/>
                </a:solidFill>
                <a:latin typeface="Segoe UI"/>
                <a:ea typeface="Segoe UI"/>
                <a:cs typeface="Segoe UI"/>
              </a:defRPr>
            </a:pPr>
            <a:r>
              <a:rPr sz="1200" b="0" i="0">
                <a:solidFill>
                  <a:srgbClr val="5B6670"/>
                </a:solidFill>
                <a:latin typeface="Segoe UI"/>
                <a:ea typeface="Segoe UI"/>
                <a:cs typeface="Segoe UI"/>
              </a:rPr>
              <a:t>The user could only combine components we had written in advance, so any new behaviour meant new code from us.</a:t>
            </a:r>
          </a:p>
        </p:txBody>
      </p:sp>
      <p:sp>
        <p:nvSpPr>
          <p:cNvPr id="523" name="Rectangle 524"/>
          <p:cNvSpPr>
            <a:spLocks noGrp="1"/>
          </p:cNvSpPr>
          <p:nvPr/>
        </p:nvSpPr>
        <p:spPr>
          <a:xfrm>
            <a:off x="7882128" y="5010912"/>
            <a:ext cx="3611880" cy="822960"/>
          </a:xfrm>
          <a:prstGeom prst="rect">
            <a:avLst/>
          </a:prstGeom>
          <a:noFill/>
          <a:ln w="0">
            <a:noFill/>
            <a:prstDash val="solid"/>
          </a:ln>
        </p:spPr>
        <p:txBody>
          <a:bodyPr lIns="0" tIns="0" rIns="0" bIns="0" anchor="t">
            <a:normAutofit/>
          </a:bodyPr>
          <a:lstStyle/>
          <a:p>
            <a:pPr algn="l">
              <a:lnSpc>
                <a:spcPct val="98000"/>
              </a:lnSpc>
              <a:buNone/>
              <a:defRPr sz="1200" b="0" i="0">
                <a:solidFill>
                  <a:srgbClr val="18232F"/>
                </a:solidFill>
                <a:latin typeface="Segoe UI"/>
                <a:ea typeface="Segoe UI"/>
                <a:cs typeface="Segoe UI"/>
              </a:defRPr>
            </a:pPr>
            <a:r>
              <a:rPr sz="1200" b="0" i="0">
                <a:solidFill>
                  <a:srgbClr val="18232F"/>
                </a:solidFill>
                <a:latin typeface="Segoe UI"/>
                <a:ea typeface="Segoe UI"/>
                <a:cs typeface="Segoe UI"/>
              </a:rPr>
              <a:t>The reward is now a short expression the assistant writes and the app checks before saving. A broken reward is caught in seconds instead of after 20 million steps.</a:t>
            </a:r>
          </a:p>
        </p:txBody>
      </p:sp>
      <p:sp>
        <p:nvSpPr>
          <p:cNvPr id="525" name="Rectangle 526"/>
          <p:cNvSpPr>
            <a:spLocks noGrp="1"/>
          </p:cNvSpPr>
          <p:nvPr/>
        </p:nvSpPr>
        <p:spPr>
          <a:xfrm>
            <a:off x="4041648" y="1572768"/>
            <a:ext cx="3520440" cy="237744"/>
          </a:xfrm>
          <a:prstGeom prst="rect">
            <a:avLst/>
          </a:prstGeom>
          <a:noFill/>
          <a:ln w="0">
            <a:noFill/>
            <a:prstDash val="solid"/>
          </a:ln>
        </p:spPr>
        <p:txBody>
          <a:bodyPr lIns="0" tIns="0" rIns="0" bIns="0" anchor="t">
            <a:normAutofit/>
          </a:bodyPr>
          <a:lstStyle/>
          <a:p>
            <a:pPr algn="l">
              <a:lnSpc>
                <a:spcPct val="98000"/>
              </a:lnSpc>
              <a:buNone/>
              <a:defRPr sz="1125" b="1" i="0">
                <a:solidFill>
                  <a:srgbClr val="5B6670"/>
                </a:solidFill>
                <a:latin typeface="Segoe UI Semibold"/>
                <a:ea typeface="Segoe UI Semibold"/>
                <a:cs typeface="Segoe UI Semibold"/>
              </a:defRPr>
            </a:pPr>
            <a:r>
              <a:rPr sz="1125" b="1" i="0">
                <a:solidFill>
                  <a:srgbClr val="5B6670"/>
                </a:solidFill>
                <a:latin typeface="Segoe UI Semibold"/>
                <a:ea typeface="Segoe UI Semibold"/>
                <a:cs typeface="Segoe UI Semibold"/>
              </a:rPr>
              <a:t>What was wrong</a:t>
            </a:r>
          </a:p>
        </p:txBody>
      </p:sp>
      <p:sp>
        <p:nvSpPr>
          <p:cNvPr id="527" name="Rectangle 528"/>
          <p:cNvSpPr>
            <a:spLocks noGrp="1"/>
          </p:cNvSpPr>
          <p:nvPr/>
        </p:nvSpPr>
        <p:spPr>
          <a:xfrm>
            <a:off x="7882128" y="1572768"/>
            <a:ext cx="3611880" cy="237744"/>
          </a:xfrm>
          <a:prstGeom prst="rect">
            <a:avLst/>
          </a:prstGeom>
          <a:noFill/>
          <a:ln w="0">
            <a:noFill/>
            <a:prstDash val="solid"/>
          </a:ln>
        </p:spPr>
        <p:txBody>
          <a:bodyPr lIns="0" tIns="0" rIns="0" bIns="0" anchor="t">
            <a:normAutofit/>
          </a:bodyPr>
          <a:lstStyle/>
          <a:p>
            <a:pPr algn="l">
              <a:lnSpc>
                <a:spcPct val="98000"/>
              </a:lnSpc>
              <a:buNone/>
              <a:defRPr sz="1125" b="1" i="0">
                <a:solidFill>
                  <a:srgbClr val="5B6670"/>
                </a:solidFill>
                <a:latin typeface="Segoe UI Semibold"/>
                <a:ea typeface="Segoe UI Semibold"/>
                <a:cs typeface="Segoe UI Semibold"/>
              </a:defRPr>
            </a:pPr>
            <a:r>
              <a:rPr sz="1125" b="1" i="0">
                <a:solidFill>
                  <a:srgbClr val="5B6670"/>
                </a:solidFill>
                <a:latin typeface="Segoe UI Semibold"/>
                <a:ea typeface="Segoe UI Semibold"/>
                <a:cs typeface="Segoe UI Semibold"/>
              </a:rPr>
              <a:t>What we changed</a:t>
            </a:r>
          </a:p>
        </p:txBody>
      </p:sp>
      <p:sp>
        <p:nvSpPr>
          <p:cNvPr id="529" name="Rectangle 530"/>
          <p:cNvSpPr>
            <a:spLocks noGrp="1"/>
          </p:cNvSpPr>
          <p:nvPr/>
        </p:nvSpPr>
        <p:spPr>
          <a:xfrm>
            <a:off x="758952" y="6035040"/>
            <a:ext cx="10716768" cy="365760"/>
          </a:xfrm>
          <a:prstGeom prst="rect">
            <a:avLst/>
          </a:prstGeom>
          <a:noFill/>
          <a:ln w="0">
            <a:noFill/>
            <a:prstDash val="solid"/>
          </a:ln>
        </p:spPr>
        <p:txBody>
          <a:bodyPr lIns="0" tIns="0" rIns="0" bIns="0" anchor="t">
            <a:normAutofit/>
          </a:bodyPr>
          <a:lstStyle/>
          <a:p>
            <a:pPr algn="l">
              <a:lnSpc>
                <a:spcPct val="98000"/>
              </a:lnSpc>
              <a:buNone/>
              <a:defRPr sz="1425" b="1" i="0">
                <a:solidFill>
                  <a:srgbClr val="18232F"/>
                </a:solidFill>
                <a:latin typeface="Segoe UI Semibold"/>
                <a:ea typeface="Segoe UI Semibold"/>
                <a:cs typeface="Segoe UI Semibold"/>
              </a:defRPr>
            </a:pPr>
            <a:r>
              <a:rPr sz="1425" b="1" i="0">
                <a:solidFill>
                  <a:srgbClr val="18232F"/>
                </a:solidFill>
                <a:latin typeface="Segoe UI Semibold"/>
                <a:ea typeface="Segoe UI Semibold"/>
                <a:cs typeface="Segoe UI Semibold"/>
              </a:rPr>
              <a:t>None of these were settings. Each one needed a change in the code before any robot could learn the task.</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557" name="Rectangle 558"/>
          <p:cNvSpPr>
            <a:spLocks noGrp="1"/>
          </p:cNvSpPr>
          <p:nvPr/>
        </p:nvSpPr>
        <p:spPr>
          <a:xfrm>
            <a:off x="11109960" y="265176"/>
            <a:ext cx="402336" cy="228600"/>
          </a:xfrm>
          <a:prstGeom prst="rect">
            <a:avLst/>
          </a:prstGeom>
          <a:noFill/>
          <a:ln w="0">
            <a:noFill/>
            <a:prstDash val="solid"/>
          </a:ln>
        </p:spPr>
        <p:txBody>
          <a:bodyPr lIns="0" tIns="0" rIns="0" bIns="0" anchor="t">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02</a:t>
            </a:r>
          </a:p>
        </p:txBody>
      </p:sp>
      <p:sp>
        <p:nvSpPr>
          <p:cNvPr id="559" name="Rectangle 560"/>
          <p:cNvSpPr>
            <a:spLocks noGrp="1"/>
          </p:cNvSpPr>
          <p:nvPr/>
        </p:nvSpPr>
        <p:spPr>
          <a:xfrm>
            <a:off x="685800" y="713232"/>
            <a:ext cx="10817352" cy="804672"/>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Why I built this</a:t>
            </a:r>
          </a:p>
        </p:txBody>
      </p:sp>
      <p:sp>
        <p:nvSpPr>
          <p:cNvPr id="561" name="Shape 562"/>
          <p:cNvSpPr>
            <a:spLocks noGrp="1"/>
          </p:cNvSpPr>
          <p:nvPr/>
        </p:nvSpPr>
        <p:spPr>
          <a:xfrm>
            <a:off x="685800" y="6455664"/>
            <a:ext cx="10817352" cy="9510"/>
          </a:xfrm>
          <a:prstGeom prst="rect">
            <a:avLst/>
          </a:prstGeom>
          <a:solidFill>
            <a:srgbClr val="D5DAD6"/>
          </a:solidFill>
          <a:ln w="0">
            <a:noFill/>
            <a:prstDash val="solid"/>
          </a:ln>
        </p:spPr>
        <p:txBody>
          <a:bodyPr/>
          <a:lstStyle/>
          <a:p>
            <a:endParaRPr lang="en-IN"/>
          </a:p>
        </p:txBody>
      </p:sp>
      <p:sp>
        <p:nvSpPr>
          <p:cNvPr id="563" name="Shape 564"/>
          <p:cNvSpPr>
            <a:spLocks noGrp="1"/>
          </p:cNvSpPr>
          <p:nvPr/>
        </p:nvSpPr>
        <p:spPr>
          <a:xfrm>
            <a:off x="722376" y="1920240"/>
            <a:ext cx="100584" cy="100584"/>
          </a:xfrm>
          <a:prstGeom prst="roundRect">
            <a:avLst>
              <a:gd name="adj" fmla="val 50000"/>
            </a:avLst>
          </a:prstGeom>
          <a:solidFill>
            <a:srgbClr val="18232F"/>
          </a:solidFill>
          <a:ln w="0">
            <a:noFill/>
            <a:prstDash val="solid"/>
          </a:ln>
        </p:spPr>
        <p:txBody>
          <a:bodyPr/>
          <a:lstStyle/>
          <a:p>
            <a:endParaRPr lang="en-IN"/>
          </a:p>
        </p:txBody>
      </p:sp>
      <p:sp>
        <p:nvSpPr>
          <p:cNvPr id="565" name="Rectangle 566"/>
          <p:cNvSpPr>
            <a:spLocks noGrp="1"/>
          </p:cNvSpPr>
          <p:nvPr/>
        </p:nvSpPr>
        <p:spPr>
          <a:xfrm>
            <a:off x="1051560" y="1828800"/>
            <a:ext cx="3703320" cy="365760"/>
          </a:xfrm>
          <a:prstGeom prst="rect">
            <a:avLst/>
          </a:prstGeom>
          <a:noFill/>
          <a:ln w="0">
            <a:noFill/>
            <a:prstDash val="solid"/>
          </a:ln>
        </p:spPr>
        <p:txBody>
          <a:bodyPr lIns="0" tIns="0" rIns="0" bIns="0" anchor="t">
            <a:normAutofit/>
          </a:bodyPr>
          <a:lstStyle/>
          <a:p>
            <a:pPr algn="l">
              <a:lnSpc>
                <a:spcPct val="98000"/>
              </a:lnSpc>
              <a:buNone/>
              <a:defRPr sz="1725" b="1" i="0">
                <a:solidFill>
                  <a:srgbClr val="18232F"/>
                </a:solidFill>
                <a:latin typeface="Segoe UI Semibold"/>
                <a:ea typeface="Segoe UI Semibold"/>
                <a:cs typeface="Segoe UI Semibold"/>
              </a:defRPr>
            </a:pPr>
            <a:r>
              <a:rPr sz="1725" b="1" i="0">
                <a:solidFill>
                  <a:srgbClr val="18232F"/>
                </a:solidFill>
                <a:latin typeface="Segoe UI Semibold"/>
                <a:ea typeface="Segoe UI Semibold"/>
                <a:cs typeface="Segoe UI Semibold"/>
              </a:rPr>
              <a:t>In my final year of engineering</a:t>
            </a:r>
          </a:p>
        </p:txBody>
      </p:sp>
      <p:sp>
        <p:nvSpPr>
          <p:cNvPr id="567" name="Rectangle 568"/>
          <p:cNvSpPr>
            <a:spLocks noGrp="1"/>
          </p:cNvSpPr>
          <p:nvPr/>
        </p:nvSpPr>
        <p:spPr>
          <a:xfrm>
            <a:off x="4983480" y="1810512"/>
            <a:ext cx="6492240" cy="822960"/>
          </a:xfrm>
          <a:prstGeom prst="rect">
            <a:avLst/>
          </a:prstGeom>
          <a:noFill/>
          <a:ln w="0">
            <a:noFill/>
            <a:prstDash val="solid"/>
          </a:ln>
        </p:spPr>
        <p:txBody>
          <a:bodyPr lIns="0" tIns="0" rIns="0" bIns="0" anchor="t">
            <a:normAutofit/>
          </a:bodyPr>
          <a:lstStyle/>
          <a:p>
            <a:pPr algn="l">
              <a:lnSpc>
                <a:spcPct val="98000"/>
              </a:lnSpc>
              <a:buNone/>
              <a:defRPr sz="1425" b="0" i="0">
                <a:solidFill>
                  <a:srgbClr val="5B6670"/>
                </a:solidFill>
                <a:latin typeface="Segoe UI"/>
                <a:ea typeface="Segoe UI"/>
                <a:cs typeface="Segoe UI"/>
              </a:defRPr>
            </a:pPr>
            <a:r>
              <a:rPr sz="1425" b="0" i="0">
                <a:solidFill>
                  <a:srgbClr val="5B6670"/>
                </a:solidFill>
                <a:latin typeface="Segoe UI"/>
                <a:ea typeface="Segoe UI"/>
                <a:cs typeface="Segoe UI"/>
              </a:rPr>
              <a:t>I set myself a harder project than I needed to: build a physical robot, then train the simulated version of it with reinforcement learning.</a:t>
            </a:r>
          </a:p>
        </p:txBody>
      </p:sp>
      <p:sp>
        <p:nvSpPr>
          <p:cNvPr id="569" name="Shape 570"/>
          <p:cNvSpPr>
            <a:spLocks noGrp="1"/>
          </p:cNvSpPr>
          <p:nvPr/>
        </p:nvSpPr>
        <p:spPr>
          <a:xfrm>
            <a:off x="722376" y="2926080"/>
            <a:ext cx="100584" cy="100584"/>
          </a:xfrm>
          <a:prstGeom prst="roundRect">
            <a:avLst>
              <a:gd name="adj" fmla="val 50000"/>
            </a:avLst>
          </a:prstGeom>
          <a:solidFill>
            <a:srgbClr val="18232F"/>
          </a:solidFill>
          <a:ln w="0">
            <a:noFill/>
            <a:prstDash val="solid"/>
          </a:ln>
        </p:spPr>
        <p:txBody>
          <a:bodyPr/>
          <a:lstStyle/>
          <a:p>
            <a:endParaRPr lang="en-IN"/>
          </a:p>
        </p:txBody>
      </p:sp>
      <p:sp>
        <p:nvSpPr>
          <p:cNvPr id="571" name="Rectangle 572"/>
          <p:cNvSpPr>
            <a:spLocks noGrp="1"/>
          </p:cNvSpPr>
          <p:nvPr/>
        </p:nvSpPr>
        <p:spPr>
          <a:xfrm>
            <a:off x="1051560" y="2834640"/>
            <a:ext cx="3703320" cy="365760"/>
          </a:xfrm>
          <a:prstGeom prst="rect">
            <a:avLst/>
          </a:prstGeom>
          <a:noFill/>
          <a:ln w="0">
            <a:noFill/>
            <a:prstDash val="solid"/>
          </a:ln>
        </p:spPr>
        <p:txBody>
          <a:bodyPr lIns="0" tIns="0" rIns="0" bIns="0" anchor="t">
            <a:normAutofit/>
          </a:bodyPr>
          <a:lstStyle/>
          <a:p>
            <a:pPr algn="l">
              <a:lnSpc>
                <a:spcPct val="98000"/>
              </a:lnSpc>
              <a:buNone/>
              <a:defRPr sz="1725" b="1" i="0">
                <a:solidFill>
                  <a:srgbClr val="18232F"/>
                </a:solidFill>
                <a:latin typeface="Segoe UI Semibold"/>
                <a:ea typeface="Segoe UI Semibold"/>
                <a:cs typeface="Segoe UI Semibold"/>
              </a:defRPr>
            </a:pPr>
            <a:r>
              <a:rPr sz="1725" b="1" i="0">
                <a:solidFill>
                  <a:srgbClr val="18232F"/>
                </a:solidFill>
                <a:latin typeface="Segoe UI Semibold"/>
                <a:ea typeface="Segoe UI Semibold"/>
                <a:cs typeface="Segoe UI Semibold"/>
              </a:rPr>
              <a:t>It took three months</a:t>
            </a:r>
          </a:p>
        </p:txBody>
      </p:sp>
      <p:sp>
        <p:nvSpPr>
          <p:cNvPr id="573" name="Rectangle 574"/>
          <p:cNvSpPr>
            <a:spLocks noGrp="1"/>
          </p:cNvSpPr>
          <p:nvPr/>
        </p:nvSpPr>
        <p:spPr>
          <a:xfrm>
            <a:off x="4983480" y="2816352"/>
            <a:ext cx="6492240" cy="822960"/>
          </a:xfrm>
          <a:prstGeom prst="rect">
            <a:avLst/>
          </a:prstGeom>
          <a:noFill/>
          <a:ln w="0">
            <a:noFill/>
            <a:prstDash val="solid"/>
          </a:ln>
        </p:spPr>
        <p:txBody>
          <a:bodyPr lIns="0" tIns="0" rIns="0" bIns="0" anchor="t">
            <a:normAutofit/>
          </a:bodyPr>
          <a:lstStyle/>
          <a:p>
            <a:pPr algn="l">
              <a:lnSpc>
                <a:spcPct val="98000"/>
              </a:lnSpc>
              <a:buNone/>
              <a:defRPr sz="1425" b="0" i="0">
                <a:solidFill>
                  <a:srgbClr val="5B6670"/>
                </a:solidFill>
                <a:latin typeface="Segoe UI"/>
                <a:ea typeface="Segoe UI"/>
                <a:cs typeface="Segoe UI"/>
              </a:defRPr>
            </a:pPr>
            <a:r>
              <a:rPr sz="1425" b="0" i="0">
                <a:solidFill>
                  <a:srgbClr val="5B6670"/>
                </a:solidFill>
                <a:latin typeface="Segoe UI"/>
                <a:ea typeface="Segoe UI"/>
                <a:cs typeface="Segoe UI"/>
              </a:rPr>
              <a:t>Three months of work before I had something I could show anyone. Almost none of that time went into the robot or the behaviour. It went into wiring the tools together.</a:t>
            </a:r>
          </a:p>
        </p:txBody>
      </p:sp>
      <p:sp>
        <p:nvSpPr>
          <p:cNvPr id="575" name="Shape 576"/>
          <p:cNvSpPr>
            <a:spLocks noGrp="1"/>
          </p:cNvSpPr>
          <p:nvPr/>
        </p:nvSpPr>
        <p:spPr>
          <a:xfrm>
            <a:off x="722376" y="3931920"/>
            <a:ext cx="100584" cy="100584"/>
          </a:xfrm>
          <a:prstGeom prst="roundRect">
            <a:avLst>
              <a:gd name="adj" fmla="val 50000"/>
            </a:avLst>
          </a:prstGeom>
          <a:solidFill>
            <a:srgbClr val="18232F"/>
          </a:solidFill>
          <a:ln w="0">
            <a:noFill/>
            <a:prstDash val="solid"/>
          </a:ln>
        </p:spPr>
        <p:txBody>
          <a:bodyPr/>
          <a:lstStyle/>
          <a:p>
            <a:endParaRPr lang="en-IN"/>
          </a:p>
        </p:txBody>
      </p:sp>
      <p:sp>
        <p:nvSpPr>
          <p:cNvPr id="577" name="Rectangle 578"/>
          <p:cNvSpPr>
            <a:spLocks noGrp="1"/>
          </p:cNvSpPr>
          <p:nvPr/>
        </p:nvSpPr>
        <p:spPr>
          <a:xfrm>
            <a:off x="1051560" y="3840480"/>
            <a:ext cx="3703320" cy="365760"/>
          </a:xfrm>
          <a:prstGeom prst="rect">
            <a:avLst/>
          </a:prstGeom>
          <a:noFill/>
          <a:ln w="0">
            <a:noFill/>
            <a:prstDash val="solid"/>
          </a:ln>
        </p:spPr>
        <p:txBody>
          <a:bodyPr lIns="0" tIns="0" rIns="0" bIns="0" anchor="t">
            <a:normAutofit/>
          </a:bodyPr>
          <a:lstStyle/>
          <a:p>
            <a:pPr algn="l">
              <a:lnSpc>
                <a:spcPct val="98000"/>
              </a:lnSpc>
              <a:buNone/>
              <a:defRPr sz="1725" b="1" i="0">
                <a:solidFill>
                  <a:srgbClr val="18232F"/>
                </a:solidFill>
                <a:latin typeface="Segoe UI Semibold"/>
                <a:ea typeface="Segoe UI Semibold"/>
                <a:cs typeface="Segoe UI Semibold"/>
              </a:defRPr>
            </a:pPr>
            <a:r>
              <a:rPr sz="1725" b="1" i="0">
                <a:solidFill>
                  <a:srgbClr val="18232F"/>
                </a:solidFill>
                <a:latin typeface="Segoe UI Semibold"/>
                <a:ea typeface="Segoe UI Semibold"/>
                <a:cs typeface="Segoe UI Semibold"/>
              </a:rPr>
              <a:t>The project worked</a:t>
            </a:r>
          </a:p>
        </p:txBody>
      </p:sp>
      <p:sp>
        <p:nvSpPr>
          <p:cNvPr id="579" name="Rectangle 580"/>
          <p:cNvSpPr>
            <a:spLocks noGrp="1"/>
          </p:cNvSpPr>
          <p:nvPr/>
        </p:nvSpPr>
        <p:spPr>
          <a:xfrm>
            <a:off x="4983480" y="3822192"/>
            <a:ext cx="6492240" cy="822960"/>
          </a:xfrm>
          <a:prstGeom prst="rect">
            <a:avLst/>
          </a:prstGeom>
          <a:noFill/>
          <a:ln w="0">
            <a:noFill/>
            <a:prstDash val="solid"/>
          </a:ln>
        </p:spPr>
        <p:txBody>
          <a:bodyPr lIns="0" tIns="0" rIns="0" bIns="0" anchor="t">
            <a:normAutofit/>
          </a:bodyPr>
          <a:lstStyle/>
          <a:p>
            <a:pPr algn="l">
              <a:lnSpc>
                <a:spcPct val="98000"/>
              </a:lnSpc>
              <a:buNone/>
              <a:defRPr sz="1425" b="0" i="0">
                <a:solidFill>
                  <a:srgbClr val="5B6670"/>
                </a:solidFill>
                <a:latin typeface="Segoe UI"/>
                <a:ea typeface="Segoe UI"/>
                <a:cs typeface="Segoe UI"/>
              </a:defRPr>
            </a:pPr>
            <a:r>
              <a:rPr sz="1425" b="0" i="0">
                <a:solidFill>
                  <a:srgbClr val="5B6670"/>
                </a:solidFill>
                <a:latin typeface="Segoe UI"/>
                <a:ea typeface="Segoe UI"/>
                <a:cs typeface="Segoe UI"/>
              </a:rPr>
              <a:t>I finished it, and the robot learned what I wanted. But I could see what the three months had really been spent on.</a:t>
            </a:r>
          </a:p>
        </p:txBody>
      </p:sp>
      <p:sp>
        <p:nvSpPr>
          <p:cNvPr id="581" name="Shape 582"/>
          <p:cNvSpPr>
            <a:spLocks noGrp="1"/>
          </p:cNvSpPr>
          <p:nvPr/>
        </p:nvSpPr>
        <p:spPr>
          <a:xfrm>
            <a:off x="722376" y="4937760"/>
            <a:ext cx="100584" cy="100584"/>
          </a:xfrm>
          <a:prstGeom prst="roundRect">
            <a:avLst>
              <a:gd name="adj" fmla="val 50000"/>
            </a:avLst>
          </a:prstGeom>
          <a:solidFill>
            <a:srgbClr val="0B6B64"/>
          </a:solidFill>
          <a:ln w="0">
            <a:noFill/>
            <a:prstDash val="solid"/>
          </a:ln>
        </p:spPr>
        <p:txBody>
          <a:bodyPr/>
          <a:lstStyle/>
          <a:p>
            <a:endParaRPr lang="en-IN"/>
          </a:p>
        </p:txBody>
      </p:sp>
      <p:sp>
        <p:nvSpPr>
          <p:cNvPr id="583" name="Rectangle 584"/>
          <p:cNvSpPr>
            <a:spLocks noGrp="1"/>
          </p:cNvSpPr>
          <p:nvPr/>
        </p:nvSpPr>
        <p:spPr>
          <a:xfrm>
            <a:off x="1051560" y="4846320"/>
            <a:ext cx="3703320" cy="365760"/>
          </a:xfrm>
          <a:prstGeom prst="rect">
            <a:avLst/>
          </a:prstGeom>
          <a:noFill/>
          <a:ln w="0">
            <a:noFill/>
            <a:prstDash val="solid"/>
          </a:ln>
        </p:spPr>
        <p:txBody>
          <a:bodyPr lIns="0" tIns="0" rIns="0" bIns="0" anchor="t">
            <a:normAutofit/>
          </a:bodyPr>
          <a:lstStyle/>
          <a:p>
            <a:pPr algn="l">
              <a:lnSpc>
                <a:spcPct val="98000"/>
              </a:lnSpc>
              <a:buNone/>
              <a:defRPr sz="1725" b="1" i="0">
                <a:solidFill>
                  <a:srgbClr val="0B6B64"/>
                </a:solidFill>
                <a:latin typeface="Segoe UI Semibold"/>
                <a:ea typeface="Segoe UI Semibold"/>
                <a:cs typeface="Segoe UI Semibold"/>
              </a:defRPr>
            </a:pPr>
            <a:r>
              <a:rPr sz="1725" b="1" i="0">
                <a:solidFill>
                  <a:srgbClr val="0B6B64"/>
                </a:solidFill>
                <a:latin typeface="Segoe UI Semibold"/>
                <a:ea typeface="Segoe UI Semibold"/>
                <a:cs typeface="Segoe UI Semibold"/>
              </a:rPr>
              <a:t>That is the gap</a:t>
            </a:r>
          </a:p>
        </p:txBody>
      </p:sp>
      <p:sp>
        <p:nvSpPr>
          <p:cNvPr id="585" name="Rectangle 586"/>
          <p:cNvSpPr>
            <a:spLocks noGrp="1"/>
          </p:cNvSpPr>
          <p:nvPr/>
        </p:nvSpPr>
        <p:spPr>
          <a:xfrm>
            <a:off x="4983480" y="4828032"/>
            <a:ext cx="6492240" cy="822960"/>
          </a:xfrm>
          <a:prstGeom prst="rect">
            <a:avLst/>
          </a:prstGeom>
          <a:noFill/>
          <a:ln w="0">
            <a:noFill/>
            <a:prstDash val="solid"/>
          </a:ln>
        </p:spPr>
        <p:txBody>
          <a:bodyPr lIns="0" tIns="0" rIns="0" bIns="0" anchor="t">
            <a:normAutofit/>
          </a:bodyPr>
          <a:lstStyle/>
          <a:p>
            <a:pPr algn="l">
              <a:lnSpc>
                <a:spcPct val="98000"/>
              </a:lnSpc>
              <a:buNone/>
              <a:defRPr sz="1425" b="0" i="0">
                <a:solidFill>
                  <a:srgbClr val="5B6670"/>
                </a:solidFill>
                <a:latin typeface="Segoe UI"/>
                <a:ea typeface="Segoe UI"/>
                <a:cs typeface="Segoe UI"/>
              </a:defRPr>
            </a:pPr>
            <a:r>
              <a:rPr sz="1425" b="0" i="0">
                <a:solidFill>
                  <a:srgbClr val="5B6670"/>
                </a:solidFill>
                <a:latin typeface="Segoe UI"/>
                <a:ea typeface="Segoe UI"/>
                <a:cs typeface="Segoe UI"/>
              </a:rPr>
              <a:t>Anyone new to this cannot get started at all unless they already understand the algorithms and can write the code. The knowledge needed to begin is the barrier, not the robot.</a:t>
            </a:r>
          </a:p>
        </p:txBody>
      </p:sp>
      <p:sp>
        <p:nvSpPr>
          <p:cNvPr id="587" name="Shape 588"/>
          <p:cNvSpPr>
            <a:spLocks noGrp="1"/>
          </p:cNvSpPr>
          <p:nvPr/>
        </p:nvSpPr>
        <p:spPr>
          <a:xfrm>
            <a:off x="722376" y="5742432"/>
            <a:ext cx="10780776" cy="640080"/>
          </a:xfrm>
          <a:prstGeom prst="roundRect">
            <a:avLst>
              <a:gd name="adj" fmla="val 10000"/>
            </a:avLst>
          </a:prstGeom>
          <a:solidFill>
            <a:srgbClr val="DDEBE7"/>
          </a:solidFill>
          <a:ln w="0">
            <a:noFill/>
            <a:prstDash val="solid"/>
          </a:ln>
        </p:spPr>
        <p:txBody>
          <a:bodyPr/>
          <a:lstStyle/>
          <a:p>
            <a:endParaRPr lang="en-IN"/>
          </a:p>
        </p:txBody>
      </p:sp>
      <p:sp>
        <p:nvSpPr>
          <p:cNvPr id="589" name="Rectangle 590"/>
          <p:cNvSpPr>
            <a:spLocks noGrp="1"/>
          </p:cNvSpPr>
          <p:nvPr/>
        </p:nvSpPr>
        <p:spPr>
          <a:xfrm>
            <a:off x="1051560" y="5907024"/>
            <a:ext cx="10149840" cy="365760"/>
          </a:xfrm>
          <a:prstGeom prst="rect">
            <a:avLst/>
          </a:prstGeom>
          <a:noFill/>
          <a:ln w="0">
            <a:noFill/>
            <a:prstDash val="solid"/>
          </a:ln>
        </p:spPr>
        <p:txBody>
          <a:bodyPr lIns="0" tIns="0" rIns="0" bIns="0" anchor="t">
            <a:normAutofit/>
          </a:bodyPr>
          <a:lstStyle/>
          <a:p>
            <a:pPr algn="l">
              <a:lnSpc>
                <a:spcPct val="98000"/>
              </a:lnSpc>
              <a:buNone/>
              <a:defRPr sz="1575" b="1" i="0">
                <a:solidFill>
                  <a:srgbClr val="18232F"/>
                </a:solidFill>
                <a:latin typeface="Segoe UI Semibold"/>
                <a:ea typeface="Segoe UI Semibold"/>
                <a:cs typeface="Segoe UI Semibold"/>
              </a:defRPr>
            </a:pPr>
            <a:r>
              <a:rPr sz="1575" b="1" i="0">
                <a:solidFill>
                  <a:srgbClr val="18232F"/>
                </a:solidFill>
                <a:latin typeface="Segoe UI Semibold"/>
                <a:ea typeface="Segoe UI Semibold"/>
                <a:cs typeface="Segoe UI Semibold"/>
              </a:rPr>
              <a:t>So I built the application I wanted when I started: the same workflow, without the three months.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591" name="Rectangle 592"/>
          <p:cNvSpPr>
            <a:spLocks noGrp="1"/>
          </p:cNvSpPr>
          <p:nvPr/>
        </p:nvSpPr>
        <p:spPr>
          <a:xfrm>
            <a:off x="11109960" y="265176"/>
            <a:ext cx="402336" cy="228600"/>
          </a:xfrm>
          <a:prstGeom prst="rect">
            <a:avLst/>
          </a:prstGeom>
          <a:noFill/>
          <a:ln w="0">
            <a:noFill/>
            <a:prstDash val="solid"/>
          </a:ln>
        </p:spPr>
        <p:txBody>
          <a:bodyPr lIns="0" tIns="0" rIns="0" bIns="0" anchor="t">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05</a:t>
            </a:r>
          </a:p>
        </p:txBody>
      </p:sp>
      <p:sp>
        <p:nvSpPr>
          <p:cNvPr id="593" name="Rectangle 594"/>
          <p:cNvSpPr>
            <a:spLocks noGrp="1"/>
          </p:cNvSpPr>
          <p:nvPr/>
        </p:nvSpPr>
        <p:spPr>
          <a:xfrm>
            <a:off x="685800" y="713232"/>
            <a:ext cx="10817352" cy="1161288"/>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What the research already gives us,</a:t>
            </a:r>
          </a:p>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and what it leaves out</a:t>
            </a:r>
          </a:p>
        </p:txBody>
      </p:sp>
      <p:sp>
        <p:nvSpPr>
          <p:cNvPr id="595" name="Shape 596"/>
          <p:cNvSpPr>
            <a:spLocks noGrp="1"/>
          </p:cNvSpPr>
          <p:nvPr/>
        </p:nvSpPr>
        <p:spPr>
          <a:xfrm>
            <a:off x="685800" y="6455664"/>
            <a:ext cx="10817352" cy="9510"/>
          </a:xfrm>
          <a:prstGeom prst="rect">
            <a:avLst/>
          </a:prstGeom>
          <a:solidFill>
            <a:srgbClr val="D5DAD6"/>
          </a:solidFill>
          <a:ln w="0">
            <a:noFill/>
            <a:prstDash val="solid"/>
          </a:ln>
        </p:spPr>
        <p:txBody>
          <a:bodyPr/>
          <a:lstStyle/>
          <a:p>
            <a:endParaRPr lang="en-IN"/>
          </a:p>
        </p:txBody>
      </p:sp>
      <p:sp>
        <p:nvSpPr>
          <p:cNvPr id="597" name="Rectangle 598"/>
          <p:cNvSpPr>
            <a:spLocks noGrp="1"/>
          </p:cNvSpPr>
          <p:nvPr/>
        </p:nvSpPr>
        <p:spPr>
          <a:xfrm>
            <a:off x="758952" y="1920240"/>
            <a:ext cx="2103120" cy="301752"/>
          </a:xfrm>
          <a:prstGeom prst="rect">
            <a:avLst/>
          </a:prstGeom>
          <a:noFill/>
          <a:ln w="0">
            <a:noFill/>
            <a:prstDash val="solid"/>
          </a:ln>
        </p:spPr>
        <p:txBody>
          <a:bodyPr lIns="0" tIns="0" rIns="0" bIns="0" anchor="t">
            <a:normAutofit/>
          </a:bodyPr>
          <a:lstStyle/>
          <a:p>
            <a:pPr algn="l">
              <a:lnSpc>
                <a:spcPct val="98000"/>
              </a:lnSpc>
              <a:buNone/>
              <a:defRPr sz="1500" b="1" i="0">
                <a:solidFill>
                  <a:srgbClr val="5B6670"/>
                </a:solidFill>
                <a:latin typeface="Segoe UI Semibold"/>
                <a:ea typeface="Segoe UI Semibold"/>
                <a:cs typeface="Segoe UI Semibold"/>
              </a:defRPr>
            </a:pPr>
            <a:r>
              <a:rPr sz="1500" b="1" i="0">
                <a:solidFill>
                  <a:srgbClr val="5B6670"/>
                </a:solidFill>
                <a:latin typeface="Segoe UI Semibold"/>
                <a:ea typeface="Segoe UI Semibold"/>
                <a:cs typeface="Segoe UI Semibold"/>
              </a:rPr>
              <a:t>Area</a:t>
            </a:r>
          </a:p>
        </p:txBody>
      </p:sp>
      <p:sp>
        <p:nvSpPr>
          <p:cNvPr id="599" name="Rectangle 600"/>
          <p:cNvSpPr>
            <a:spLocks noGrp="1"/>
          </p:cNvSpPr>
          <p:nvPr/>
        </p:nvSpPr>
        <p:spPr>
          <a:xfrm>
            <a:off x="3063240" y="1920240"/>
            <a:ext cx="4160520" cy="301752"/>
          </a:xfrm>
          <a:prstGeom prst="rect">
            <a:avLst/>
          </a:prstGeom>
          <a:noFill/>
          <a:ln w="0">
            <a:noFill/>
            <a:prstDash val="solid"/>
          </a:ln>
        </p:spPr>
        <p:txBody>
          <a:bodyPr lIns="0" tIns="0" rIns="0" bIns="0" anchor="t">
            <a:normAutofit/>
          </a:bodyPr>
          <a:lstStyle/>
          <a:p>
            <a:pPr algn="l">
              <a:lnSpc>
                <a:spcPct val="98000"/>
              </a:lnSpc>
              <a:buNone/>
              <a:defRPr sz="1500" b="1" i="0">
                <a:solidFill>
                  <a:srgbClr val="5B6670"/>
                </a:solidFill>
                <a:latin typeface="Segoe UI Semibold"/>
                <a:ea typeface="Segoe UI Semibold"/>
                <a:cs typeface="Segoe UI Semibold"/>
              </a:defRPr>
            </a:pPr>
            <a:r>
              <a:rPr sz="1500" b="1" i="0">
                <a:solidFill>
                  <a:srgbClr val="5B6670"/>
                </a:solidFill>
                <a:latin typeface="Segoe UI Semibold"/>
                <a:ea typeface="Segoe UI Semibold"/>
                <a:cs typeface="Segoe UI Semibold"/>
              </a:rPr>
              <a:t>Where it comes from</a:t>
            </a:r>
          </a:p>
        </p:txBody>
      </p:sp>
      <p:sp>
        <p:nvSpPr>
          <p:cNvPr id="601" name="Rectangle 602"/>
          <p:cNvSpPr>
            <a:spLocks noGrp="1"/>
          </p:cNvSpPr>
          <p:nvPr/>
        </p:nvSpPr>
        <p:spPr>
          <a:xfrm>
            <a:off x="7452360" y="1920240"/>
            <a:ext cx="4023360" cy="301752"/>
          </a:xfrm>
          <a:prstGeom prst="rect">
            <a:avLst/>
          </a:prstGeom>
          <a:noFill/>
          <a:ln w="0">
            <a:noFill/>
            <a:prstDash val="solid"/>
          </a:ln>
        </p:spPr>
        <p:txBody>
          <a:bodyPr lIns="0" tIns="0" rIns="0" bIns="0" anchor="t">
            <a:normAutofit/>
          </a:bodyPr>
          <a:lstStyle/>
          <a:p>
            <a:pPr algn="l">
              <a:lnSpc>
                <a:spcPct val="98000"/>
              </a:lnSpc>
              <a:buNone/>
              <a:defRPr sz="1500" b="1" i="0">
                <a:solidFill>
                  <a:srgbClr val="5B6670"/>
                </a:solidFill>
                <a:latin typeface="Segoe UI Semibold"/>
                <a:ea typeface="Segoe UI Semibold"/>
                <a:cs typeface="Segoe UI Semibold"/>
              </a:defRPr>
            </a:pPr>
            <a:r>
              <a:rPr sz="1500" b="1" i="0">
                <a:solidFill>
                  <a:srgbClr val="5B6670"/>
                </a:solidFill>
                <a:latin typeface="Segoe UI Semibold"/>
                <a:ea typeface="Segoe UI Semibold"/>
                <a:cs typeface="Segoe UI Semibold"/>
              </a:rPr>
              <a:t>What it gives this project</a:t>
            </a:r>
          </a:p>
        </p:txBody>
      </p:sp>
      <p:sp>
        <p:nvSpPr>
          <p:cNvPr id="603" name="Rectangle 604"/>
          <p:cNvSpPr>
            <a:spLocks noGrp="1"/>
          </p:cNvSpPr>
          <p:nvPr/>
        </p:nvSpPr>
        <p:spPr>
          <a:xfrm>
            <a:off x="758952" y="2359152"/>
            <a:ext cx="2103120" cy="548640"/>
          </a:xfrm>
          <a:prstGeom prst="rect">
            <a:avLst/>
          </a:prstGeom>
          <a:noFill/>
          <a:ln w="0">
            <a:noFill/>
            <a:prstDash val="solid"/>
          </a:ln>
        </p:spPr>
        <p:txBody>
          <a:bodyPr lIns="0" tIns="0" rIns="0" bIns="0" anchor="t">
            <a:normAutofit/>
          </a:bodyPr>
          <a:lstStyle/>
          <a:p>
            <a:pPr algn="l">
              <a:lnSpc>
                <a:spcPct val="98000"/>
              </a:lnSpc>
              <a:buNone/>
              <a:defRPr sz="1425" b="1" i="0">
                <a:solidFill>
                  <a:srgbClr val="18232F"/>
                </a:solidFill>
                <a:latin typeface="Segoe UI Semibold"/>
                <a:ea typeface="Segoe UI Semibold"/>
                <a:cs typeface="Segoe UI Semibold"/>
              </a:defRPr>
            </a:pPr>
            <a:r>
              <a:rPr sz="1425" b="1" i="0">
                <a:solidFill>
                  <a:srgbClr val="18232F"/>
                </a:solidFill>
                <a:latin typeface="Segoe UI Semibold"/>
                <a:ea typeface="Segoe UI Semibold"/>
                <a:cs typeface="Segoe UI Semibold"/>
              </a:rPr>
              <a:t>Algorithms</a:t>
            </a:r>
          </a:p>
        </p:txBody>
      </p:sp>
      <p:sp>
        <p:nvSpPr>
          <p:cNvPr id="605" name="Rectangle 606"/>
          <p:cNvSpPr>
            <a:spLocks noGrp="1"/>
          </p:cNvSpPr>
          <p:nvPr/>
        </p:nvSpPr>
        <p:spPr>
          <a:xfrm>
            <a:off x="3063240" y="2340864"/>
            <a:ext cx="4160520" cy="685800"/>
          </a:xfrm>
          <a:prstGeom prst="rect">
            <a:avLst/>
          </a:prstGeom>
          <a:noFill/>
          <a:ln w="0">
            <a:noFill/>
            <a:prstDash val="solid"/>
          </a:ln>
        </p:spPr>
        <p:txBody>
          <a:bodyPr lIns="0" tIns="0" rIns="0" bIns="0" anchor="t">
            <a:normAutofit/>
          </a:bodyPr>
          <a:lstStyle/>
          <a:p>
            <a:pPr algn="l">
              <a:lnSpc>
                <a:spcPct val="98000"/>
              </a:lnSpc>
              <a:buNone/>
              <a:defRPr sz="1275" b="0" i="0">
                <a:solidFill>
                  <a:srgbClr val="5B6670"/>
                </a:solidFill>
                <a:latin typeface="Segoe UI"/>
                <a:ea typeface="Segoe UI"/>
                <a:cs typeface="Segoe UI"/>
              </a:defRPr>
            </a:pPr>
            <a:r>
              <a:rPr sz="1275" b="0" i="0">
                <a:solidFill>
                  <a:srgbClr val="5B6670"/>
                </a:solidFill>
                <a:latin typeface="Segoe UI"/>
                <a:ea typeface="Segoe UI"/>
                <a:cs typeface="Segoe UI"/>
              </a:rPr>
              <a:t>PPO (Schulman et al., 2017), SAC (Haarnoja et al., ICML 2018), TD3 (Fujimoto et al., ICML 2018)</a:t>
            </a:r>
          </a:p>
        </p:txBody>
      </p:sp>
      <p:sp>
        <p:nvSpPr>
          <p:cNvPr id="607" name="Rectangle 608"/>
          <p:cNvSpPr>
            <a:spLocks noGrp="1"/>
          </p:cNvSpPr>
          <p:nvPr/>
        </p:nvSpPr>
        <p:spPr>
          <a:xfrm>
            <a:off x="7452360" y="2340864"/>
            <a:ext cx="4023360" cy="685800"/>
          </a:xfrm>
          <a:prstGeom prst="rect">
            <a:avLst/>
          </a:prstGeom>
          <a:noFill/>
          <a:ln w="0">
            <a:noFill/>
            <a:prstDash val="solid"/>
          </a:ln>
        </p:spPr>
        <p:txBody>
          <a:bodyPr lIns="0" tIns="0" rIns="0" bIns="0" anchor="t">
            <a:normAutofit/>
          </a:bodyPr>
          <a:lstStyle/>
          <a:p>
            <a:pPr algn="l">
              <a:lnSpc>
                <a:spcPct val="98000"/>
              </a:lnSpc>
              <a:buNone/>
              <a:defRPr sz="1275" b="0" i="0">
                <a:solidFill>
                  <a:srgbClr val="18232F"/>
                </a:solidFill>
                <a:latin typeface="Segoe UI"/>
                <a:ea typeface="Segoe UI"/>
                <a:cs typeface="Segoe UI"/>
              </a:defRPr>
            </a:pPr>
            <a:r>
              <a:rPr sz="1275" b="0" i="0">
                <a:solidFill>
                  <a:srgbClr val="18232F"/>
                </a:solidFill>
                <a:latin typeface="Segoe UI"/>
                <a:ea typeface="Segoe UI"/>
                <a:cs typeface="Segoe UI"/>
              </a:rPr>
              <a:t>Reliable published methods. All three are in this project.</a:t>
            </a:r>
          </a:p>
        </p:txBody>
      </p:sp>
      <p:sp>
        <p:nvSpPr>
          <p:cNvPr id="609" name="Shape 610"/>
          <p:cNvSpPr>
            <a:spLocks noGrp="1"/>
          </p:cNvSpPr>
          <p:nvPr/>
        </p:nvSpPr>
        <p:spPr>
          <a:xfrm>
            <a:off x="758952" y="2962656"/>
            <a:ext cx="10716768" cy="9510"/>
          </a:xfrm>
          <a:prstGeom prst="rect">
            <a:avLst/>
          </a:prstGeom>
          <a:solidFill>
            <a:srgbClr val="D5DAD6"/>
          </a:solidFill>
          <a:ln w="0">
            <a:noFill/>
            <a:prstDash val="solid"/>
          </a:ln>
        </p:spPr>
        <p:txBody>
          <a:bodyPr/>
          <a:lstStyle/>
          <a:p>
            <a:endParaRPr lang="en-IN"/>
          </a:p>
        </p:txBody>
      </p:sp>
      <p:sp>
        <p:nvSpPr>
          <p:cNvPr id="611" name="Rectangle 612"/>
          <p:cNvSpPr>
            <a:spLocks noGrp="1"/>
          </p:cNvSpPr>
          <p:nvPr/>
        </p:nvSpPr>
        <p:spPr>
          <a:xfrm>
            <a:off x="758952" y="3108960"/>
            <a:ext cx="2103120" cy="548640"/>
          </a:xfrm>
          <a:prstGeom prst="rect">
            <a:avLst/>
          </a:prstGeom>
          <a:noFill/>
          <a:ln w="0">
            <a:noFill/>
            <a:prstDash val="solid"/>
          </a:ln>
        </p:spPr>
        <p:txBody>
          <a:bodyPr lIns="0" tIns="0" rIns="0" bIns="0" anchor="t">
            <a:normAutofit/>
          </a:bodyPr>
          <a:lstStyle/>
          <a:p>
            <a:pPr algn="l">
              <a:lnSpc>
                <a:spcPct val="98000"/>
              </a:lnSpc>
              <a:buNone/>
              <a:defRPr sz="1425" b="1" i="0">
                <a:solidFill>
                  <a:srgbClr val="18232F"/>
                </a:solidFill>
                <a:latin typeface="Segoe UI Semibold"/>
                <a:ea typeface="Segoe UI Semibold"/>
                <a:cs typeface="Segoe UI Semibold"/>
              </a:defRPr>
            </a:pPr>
            <a:r>
              <a:rPr sz="1425" b="1" i="0">
                <a:solidFill>
                  <a:srgbClr val="18232F"/>
                </a:solidFill>
                <a:latin typeface="Segoe UI Semibold"/>
                <a:ea typeface="Segoe UI Semibold"/>
                <a:cs typeface="Segoe UI Semibold"/>
              </a:rPr>
              <a:t>GPU simulation</a:t>
            </a:r>
          </a:p>
        </p:txBody>
      </p:sp>
      <p:sp>
        <p:nvSpPr>
          <p:cNvPr id="613" name="Rectangle 614"/>
          <p:cNvSpPr>
            <a:spLocks noGrp="1"/>
          </p:cNvSpPr>
          <p:nvPr/>
        </p:nvSpPr>
        <p:spPr>
          <a:xfrm>
            <a:off x="3063240" y="3090672"/>
            <a:ext cx="4160520" cy="685800"/>
          </a:xfrm>
          <a:prstGeom prst="rect">
            <a:avLst/>
          </a:prstGeom>
          <a:noFill/>
          <a:ln w="0">
            <a:noFill/>
            <a:prstDash val="solid"/>
          </a:ln>
        </p:spPr>
        <p:txBody>
          <a:bodyPr lIns="0" tIns="0" rIns="0" bIns="0" anchor="t">
            <a:normAutofit/>
          </a:bodyPr>
          <a:lstStyle/>
          <a:p>
            <a:pPr algn="l">
              <a:lnSpc>
                <a:spcPct val="98000"/>
              </a:lnSpc>
              <a:buNone/>
              <a:defRPr sz="1275" b="0" i="0">
                <a:solidFill>
                  <a:srgbClr val="5B6670"/>
                </a:solidFill>
                <a:latin typeface="Segoe UI"/>
                <a:ea typeface="Segoe UI"/>
                <a:cs typeface="Segoe UI"/>
              </a:defRPr>
            </a:pPr>
            <a:r>
              <a:rPr sz="1275" b="0" i="0">
                <a:solidFill>
                  <a:srgbClr val="5B6670"/>
                </a:solidFill>
                <a:latin typeface="Segoe UI"/>
                <a:ea typeface="Segoe UI"/>
                <a:cs typeface="Segoe UI"/>
              </a:rPr>
              <a:t>Isaac Gym (Makoviychuk et al., NeurIPS Datasets 2021), Isaac Lab / Orbit (Mittal et al., RA-L 2023)</a:t>
            </a:r>
          </a:p>
        </p:txBody>
      </p:sp>
      <p:sp>
        <p:nvSpPr>
          <p:cNvPr id="615" name="Rectangle 616"/>
          <p:cNvSpPr>
            <a:spLocks noGrp="1"/>
          </p:cNvSpPr>
          <p:nvPr/>
        </p:nvSpPr>
        <p:spPr>
          <a:xfrm>
            <a:off x="7452360" y="3090672"/>
            <a:ext cx="4023360" cy="685800"/>
          </a:xfrm>
          <a:prstGeom prst="rect">
            <a:avLst/>
          </a:prstGeom>
          <a:noFill/>
          <a:ln w="0">
            <a:noFill/>
            <a:prstDash val="solid"/>
          </a:ln>
        </p:spPr>
        <p:txBody>
          <a:bodyPr lIns="0" tIns="0" rIns="0" bIns="0" anchor="t">
            <a:normAutofit/>
          </a:bodyPr>
          <a:lstStyle/>
          <a:p>
            <a:pPr algn="l">
              <a:lnSpc>
                <a:spcPct val="98000"/>
              </a:lnSpc>
              <a:buNone/>
              <a:defRPr sz="1275" b="0" i="0">
                <a:solidFill>
                  <a:srgbClr val="18232F"/>
                </a:solidFill>
                <a:latin typeface="Segoe UI"/>
                <a:ea typeface="Segoe UI"/>
                <a:cs typeface="Segoe UI"/>
              </a:defRPr>
            </a:pPr>
            <a:r>
              <a:rPr sz="1275" b="0" i="0">
                <a:solidFill>
                  <a:srgbClr val="18232F"/>
                </a:solidFill>
                <a:latin typeface="Segoe UI"/>
                <a:ea typeface="Segoe UI"/>
                <a:cs typeface="Segoe UI"/>
              </a:rPr>
              <a:t>Thousands of robots on one GPU. This is the engine we train on.</a:t>
            </a:r>
          </a:p>
        </p:txBody>
      </p:sp>
      <p:sp>
        <p:nvSpPr>
          <p:cNvPr id="617" name="Shape 618"/>
          <p:cNvSpPr>
            <a:spLocks noGrp="1"/>
          </p:cNvSpPr>
          <p:nvPr/>
        </p:nvSpPr>
        <p:spPr>
          <a:xfrm>
            <a:off x="758952" y="3712464"/>
            <a:ext cx="10716768" cy="9510"/>
          </a:xfrm>
          <a:prstGeom prst="rect">
            <a:avLst/>
          </a:prstGeom>
          <a:solidFill>
            <a:srgbClr val="D5DAD6"/>
          </a:solidFill>
          <a:ln w="0">
            <a:noFill/>
            <a:prstDash val="solid"/>
          </a:ln>
        </p:spPr>
        <p:txBody>
          <a:bodyPr/>
          <a:lstStyle/>
          <a:p>
            <a:endParaRPr lang="en-IN"/>
          </a:p>
        </p:txBody>
      </p:sp>
      <p:sp>
        <p:nvSpPr>
          <p:cNvPr id="619" name="Rectangle 620"/>
          <p:cNvSpPr>
            <a:spLocks noGrp="1"/>
          </p:cNvSpPr>
          <p:nvPr/>
        </p:nvSpPr>
        <p:spPr>
          <a:xfrm>
            <a:off x="758952" y="3858768"/>
            <a:ext cx="2103120" cy="548640"/>
          </a:xfrm>
          <a:prstGeom prst="rect">
            <a:avLst/>
          </a:prstGeom>
          <a:noFill/>
          <a:ln w="0">
            <a:noFill/>
            <a:prstDash val="solid"/>
          </a:ln>
        </p:spPr>
        <p:txBody>
          <a:bodyPr lIns="0" tIns="0" rIns="0" bIns="0" anchor="t">
            <a:normAutofit/>
          </a:bodyPr>
          <a:lstStyle/>
          <a:p>
            <a:pPr algn="l">
              <a:lnSpc>
                <a:spcPct val="98000"/>
              </a:lnSpc>
              <a:buNone/>
              <a:defRPr sz="1425" b="1" i="0">
                <a:solidFill>
                  <a:srgbClr val="18232F"/>
                </a:solidFill>
                <a:latin typeface="Segoe UI Semibold"/>
                <a:ea typeface="Segoe UI Semibold"/>
                <a:cs typeface="Segoe UI Semibold"/>
              </a:defRPr>
            </a:pPr>
            <a:r>
              <a:rPr sz="1425" b="1" i="0">
                <a:solidFill>
                  <a:srgbClr val="18232F"/>
                </a:solidFill>
                <a:latin typeface="Segoe UI Semibold"/>
                <a:ea typeface="Segoe UI Semibold"/>
                <a:cs typeface="Segoe UI Semibold"/>
              </a:rPr>
              <a:t>Legged locomotion</a:t>
            </a:r>
          </a:p>
        </p:txBody>
      </p:sp>
      <p:sp>
        <p:nvSpPr>
          <p:cNvPr id="621" name="Rectangle 622"/>
          <p:cNvSpPr>
            <a:spLocks noGrp="1"/>
          </p:cNvSpPr>
          <p:nvPr/>
        </p:nvSpPr>
        <p:spPr>
          <a:xfrm>
            <a:off x="3063240" y="3840480"/>
            <a:ext cx="4160520" cy="685800"/>
          </a:xfrm>
          <a:prstGeom prst="rect">
            <a:avLst/>
          </a:prstGeom>
          <a:noFill/>
          <a:ln w="0">
            <a:noFill/>
            <a:prstDash val="solid"/>
          </a:ln>
        </p:spPr>
        <p:txBody>
          <a:bodyPr lIns="0" tIns="0" rIns="0" bIns="0" anchor="t">
            <a:normAutofit/>
          </a:bodyPr>
          <a:lstStyle/>
          <a:p>
            <a:pPr algn="l">
              <a:lnSpc>
                <a:spcPct val="98000"/>
              </a:lnSpc>
              <a:buNone/>
              <a:defRPr sz="1275" b="0" i="0">
                <a:solidFill>
                  <a:srgbClr val="5B6670"/>
                </a:solidFill>
                <a:latin typeface="Segoe UI"/>
                <a:ea typeface="Segoe UI"/>
                <a:cs typeface="Segoe UI"/>
              </a:defRPr>
            </a:pPr>
            <a:r>
              <a:rPr sz="1275" b="0" i="0">
                <a:solidFill>
                  <a:srgbClr val="5B6670"/>
                </a:solidFill>
                <a:latin typeface="Segoe UI"/>
                <a:ea typeface="Segoe UI"/>
                <a:cs typeface="Segoe UI"/>
              </a:rPr>
              <a:t>Rudin, Hoeller, Reist &amp; Hutter (CoRL 2022)</a:t>
            </a:r>
          </a:p>
        </p:txBody>
      </p:sp>
      <p:sp>
        <p:nvSpPr>
          <p:cNvPr id="623" name="Rectangle 624"/>
          <p:cNvSpPr>
            <a:spLocks noGrp="1"/>
          </p:cNvSpPr>
          <p:nvPr/>
        </p:nvSpPr>
        <p:spPr>
          <a:xfrm>
            <a:off x="7452360" y="3840480"/>
            <a:ext cx="4023360" cy="685800"/>
          </a:xfrm>
          <a:prstGeom prst="rect">
            <a:avLst/>
          </a:prstGeom>
          <a:noFill/>
          <a:ln w="0">
            <a:noFill/>
            <a:prstDash val="solid"/>
          </a:ln>
        </p:spPr>
        <p:txBody>
          <a:bodyPr lIns="0" tIns="0" rIns="0" bIns="0" anchor="t">
            <a:normAutofit/>
          </a:bodyPr>
          <a:lstStyle/>
          <a:p>
            <a:pPr algn="l">
              <a:lnSpc>
                <a:spcPct val="98000"/>
              </a:lnSpc>
              <a:buNone/>
              <a:defRPr sz="1275" b="0" i="0">
                <a:solidFill>
                  <a:srgbClr val="18232F"/>
                </a:solidFill>
                <a:latin typeface="Segoe UI"/>
                <a:ea typeface="Segoe UI"/>
                <a:cs typeface="Segoe UI"/>
              </a:defRPr>
            </a:pPr>
            <a:r>
              <a:rPr sz="1275" b="0" i="0">
                <a:solidFill>
                  <a:srgbClr val="18232F"/>
                </a:solidFill>
                <a:latin typeface="Segoe UI"/>
                <a:ea typeface="Segoe UI"/>
                <a:cs typeface="Segoe UI"/>
              </a:rPr>
              <a:t>Showed a quadruped can be trained in minutes with massively parallel simulation.</a:t>
            </a:r>
          </a:p>
        </p:txBody>
      </p:sp>
      <p:sp>
        <p:nvSpPr>
          <p:cNvPr id="625" name="Shape 626"/>
          <p:cNvSpPr>
            <a:spLocks noGrp="1"/>
          </p:cNvSpPr>
          <p:nvPr/>
        </p:nvSpPr>
        <p:spPr>
          <a:xfrm>
            <a:off x="758952" y="4462272"/>
            <a:ext cx="10716768" cy="9510"/>
          </a:xfrm>
          <a:prstGeom prst="rect">
            <a:avLst/>
          </a:prstGeom>
          <a:solidFill>
            <a:srgbClr val="D5DAD6"/>
          </a:solidFill>
          <a:ln w="0">
            <a:noFill/>
            <a:prstDash val="solid"/>
          </a:ln>
        </p:spPr>
        <p:txBody>
          <a:bodyPr/>
          <a:lstStyle/>
          <a:p>
            <a:endParaRPr lang="en-IN"/>
          </a:p>
        </p:txBody>
      </p:sp>
      <p:sp>
        <p:nvSpPr>
          <p:cNvPr id="627" name="Rectangle 628"/>
          <p:cNvSpPr>
            <a:spLocks noGrp="1"/>
          </p:cNvSpPr>
          <p:nvPr/>
        </p:nvSpPr>
        <p:spPr>
          <a:xfrm>
            <a:off x="758952" y="4608576"/>
            <a:ext cx="2103120" cy="548640"/>
          </a:xfrm>
          <a:prstGeom prst="rect">
            <a:avLst/>
          </a:prstGeom>
          <a:noFill/>
          <a:ln w="0">
            <a:noFill/>
            <a:prstDash val="solid"/>
          </a:ln>
        </p:spPr>
        <p:txBody>
          <a:bodyPr lIns="0" tIns="0" rIns="0" bIns="0" anchor="t">
            <a:normAutofit/>
          </a:bodyPr>
          <a:lstStyle/>
          <a:p>
            <a:pPr algn="l">
              <a:lnSpc>
                <a:spcPct val="98000"/>
              </a:lnSpc>
              <a:buNone/>
              <a:defRPr sz="1425" b="1" i="0">
                <a:solidFill>
                  <a:srgbClr val="18232F"/>
                </a:solidFill>
                <a:latin typeface="Segoe UI Semibold"/>
                <a:ea typeface="Segoe UI Semibold"/>
                <a:cs typeface="Segoe UI Semibold"/>
              </a:defRPr>
            </a:pPr>
            <a:r>
              <a:rPr sz="1425" b="1" i="0">
                <a:solidFill>
                  <a:srgbClr val="18232F"/>
                </a:solidFill>
                <a:latin typeface="Segoe UI Semibold"/>
                <a:ea typeface="Segoe UI Semibold"/>
                <a:cs typeface="Segoe UI Semibold"/>
              </a:rPr>
              <a:t>Differentiable physics</a:t>
            </a:r>
          </a:p>
        </p:txBody>
      </p:sp>
      <p:sp>
        <p:nvSpPr>
          <p:cNvPr id="629" name="Rectangle 630"/>
          <p:cNvSpPr>
            <a:spLocks noGrp="1"/>
          </p:cNvSpPr>
          <p:nvPr/>
        </p:nvSpPr>
        <p:spPr>
          <a:xfrm>
            <a:off x="3063240" y="4590288"/>
            <a:ext cx="4160520" cy="685800"/>
          </a:xfrm>
          <a:prstGeom prst="rect">
            <a:avLst/>
          </a:prstGeom>
          <a:noFill/>
          <a:ln w="0">
            <a:noFill/>
            <a:prstDash val="solid"/>
          </a:ln>
        </p:spPr>
        <p:txBody>
          <a:bodyPr lIns="0" tIns="0" rIns="0" bIns="0" anchor="t">
            <a:normAutofit/>
          </a:bodyPr>
          <a:lstStyle/>
          <a:p>
            <a:pPr algn="l">
              <a:lnSpc>
                <a:spcPct val="98000"/>
              </a:lnSpc>
              <a:buNone/>
              <a:defRPr sz="1275" b="0" i="0">
                <a:solidFill>
                  <a:srgbClr val="5B6670"/>
                </a:solidFill>
                <a:latin typeface="Segoe UI"/>
                <a:ea typeface="Segoe UI"/>
                <a:cs typeface="Segoe UI"/>
              </a:defRPr>
            </a:pPr>
            <a:r>
              <a:rPr sz="1275" b="0" i="0">
                <a:solidFill>
                  <a:srgbClr val="5B6670"/>
                </a:solidFill>
                <a:latin typeface="Segoe UI"/>
                <a:ea typeface="Segoe UI"/>
                <a:cs typeface="Segoe UI"/>
              </a:rPr>
              <a:t>Brax (Freeman et al., 2021)</a:t>
            </a:r>
          </a:p>
        </p:txBody>
      </p:sp>
      <p:sp>
        <p:nvSpPr>
          <p:cNvPr id="631" name="Rectangle 632"/>
          <p:cNvSpPr>
            <a:spLocks noGrp="1"/>
          </p:cNvSpPr>
          <p:nvPr/>
        </p:nvSpPr>
        <p:spPr>
          <a:xfrm>
            <a:off x="7452360" y="4590288"/>
            <a:ext cx="4023360" cy="685800"/>
          </a:xfrm>
          <a:prstGeom prst="rect">
            <a:avLst/>
          </a:prstGeom>
          <a:noFill/>
          <a:ln w="0">
            <a:noFill/>
            <a:prstDash val="solid"/>
          </a:ln>
        </p:spPr>
        <p:txBody>
          <a:bodyPr lIns="0" tIns="0" rIns="0" bIns="0" anchor="t">
            <a:normAutofit/>
          </a:bodyPr>
          <a:lstStyle/>
          <a:p>
            <a:pPr algn="l">
              <a:lnSpc>
                <a:spcPct val="98000"/>
              </a:lnSpc>
              <a:buNone/>
              <a:defRPr sz="1275" b="0" i="0">
                <a:solidFill>
                  <a:srgbClr val="18232F"/>
                </a:solidFill>
                <a:latin typeface="Segoe UI"/>
                <a:ea typeface="Segoe UI"/>
                <a:cs typeface="Segoe UI"/>
              </a:defRPr>
            </a:pPr>
            <a:r>
              <a:rPr sz="1275" b="0" i="0">
                <a:solidFill>
                  <a:srgbClr val="18232F"/>
                </a:solidFill>
                <a:latin typeface="Segoe UI"/>
                <a:ea typeface="Segoe UI"/>
                <a:cs typeface="Segoe UI"/>
              </a:rPr>
              <a:t>Fast and elegant, but our own attempt with it did not produce a usable robot.</a:t>
            </a:r>
          </a:p>
        </p:txBody>
      </p:sp>
      <p:sp>
        <p:nvSpPr>
          <p:cNvPr id="633" name="Shape 634"/>
          <p:cNvSpPr>
            <a:spLocks noGrp="1"/>
          </p:cNvSpPr>
          <p:nvPr/>
        </p:nvSpPr>
        <p:spPr>
          <a:xfrm>
            <a:off x="758952" y="5212080"/>
            <a:ext cx="10716768" cy="9510"/>
          </a:xfrm>
          <a:prstGeom prst="rect">
            <a:avLst/>
          </a:prstGeom>
          <a:solidFill>
            <a:srgbClr val="D5DAD6"/>
          </a:solidFill>
          <a:ln w="0">
            <a:noFill/>
            <a:prstDash val="solid"/>
          </a:ln>
        </p:spPr>
        <p:txBody>
          <a:bodyPr/>
          <a:lstStyle/>
          <a:p>
            <a:endParaRPr lang="en-IN"/>
          </a:p>
        </p:txBody>
      </p:sp>
      <p:sp>
        <p:nvSpPr>
          <p:cNvPr id="635" name="Rectangle 636"/>
          <p:cNvSpPr>
            <a:spLocks noGrp="1"/>
          </p:cNvSpPr>
          <p:nvPr/>
        </p:nvSpPr>
        <p:spPr>
          <a:xfrm>
            <a:off x="758952" y="5358384"/>
            <a:ext cx="2103120" cy="548640"/>
          </a:xfrm>
          <a:prstGeom prst="rect">
            <a:avLst/>
          </a:prstGeom>
          <a:noFill/>
          <a:ln w="0">
            <a:noFill/>
            <a:prstDash val="solid"/>
          </a:ln>
        </p:spPr>
        <p:txBody>
          <a:bodyPr lIns="0" tIns="0" rIns="0" bIns="0" anchor="t">
            <a:normAutofit/>
          </a:bodyPr>
          <a:lstStyle/>
          <a:p>
            <a:pPr algn="l">
              <a:lnSpc>
                <a:spcPct val="98000"/>
              </a:lnSpc>
              <a:buNone/>
              <a:defRPr sz="1425" b="1" i="0">
                <a:solidFill>
                  <a:srgbClr val="18232F"/>
                </a:solidFill>
                <a:latin typeface="Segoe UI Semibold"/>
                <a:ea typeface="Segoe UI Semibold"/>
                <a:cs typeface="Segoe UI Semibold"/>
              </a:defRPr>
            </a:pPr>
            <a:r>
              <a:rPr sz="1425" b="1" i="0">
                <a:solidFill>
                  <a:srgbClr val="18232F"/>
                </a:solidFill>
                <a:latin typeface="Segoe UI Semibold"/>
                <a:ea typeface="Segoe UI Semibold"/>
                <a:cs typeface="Segoe UI Semibold"/>
              </a:rPr>
              <a:t>Libraries</a:t>
            </a:r>
          </a:p>
        </p:txBody>
      </p:sp>
      <p:sp>
        <p:nvSpPr>
          <p:cNvPr id="637" name="Rectangle 638"/>
          <p:cNvSpPr>
            <a:spLocks noGrp="1"/>
          </p:cNvSpPr>
          <p:nvPr/>
        </p:nvSpPr>
        <p:spPr>
          <a:xfrm>
            <a:off x="3063240" y="5340096"/>
            <a:ext cx="4160520" cy="685800"/>
          </a:xfrm>
          <a:prstGeom prst="rect">
            <a:avLst/>
          </a:prstGeom>
          <a:noFill/>
          <a:ln w="0">
            <a:noFill/>
            <a:prstDash val="solid"/>
          </a:ln>
        </p:spPr>
        <p:txBody>
          <a:bodyPr lIns="0" tIns="0" rIns="0" bIns="0" anchor="t">
            <a:normAutofit/>
          </a:bodyPr>
          <a:lstStyle/>
          <a:p>
            <a:pPr algn="l">
              <a:lnSpc>
                <a:spcPct val="98000"/>
              </a:lnSpc>
              <a:buNone/>
              <a:defRPr sz="1275" b="0" i="0">
                <a:solidFill>
                  <a:srgbClr val="5B6670"/>
                </a:solidFill>
                <a:latin typeface="Segoe UI"/>
                <a:ea typeface="Segoe UI"/>
                <a:cs typeface="Segoe UI"/>
              </a:defRPr>
            </a:pPr>
            <a:r>
              <a:rPr sz="1275" b="0" i="0">
                <a:solidFill>
                  <a:srgbClr val="5B6670"/>
                </a:solidFill>
                <a:latin typeface="Segoe UI"/>
                <a:ea typeface="Segoe UI"/>
                <a:cs typeface="Segoe UI"/>
              </a:rPr>
              <a:t>Stable-Baselines3 (Raffin et al., JMLR 2021), PyBullet (Coumans &amp; Bai)</a:t>
            </a:r>
          </a:p>
        </p:txBody>
      </p:sp>
      <p:sp>
        <p:nvSpPr>
          <p:cNvPr id="639" name="Rectangle 640"/>
          <p:cNvSpPr>
            <a:spLocks noGrp="1"/>
          </p:cNvSpPr>
          <p:nvPr/>
        </p:nvSpPr>
        <p:spPr>
          <a:xfrm>
            <a:off x="7452360" y="5340096"/>
            <a:ext cx="4023360" cy="685800"/>
          </a:xfrm>
          <a:prstGeom prst="rect">
            <a:avLst/>
          </a:prstGeom>
          <a:noFill/>
          <a:ln w="0">
            <a:noFill/>
            <a:prstDash val="solid"/>
          </a:ln>
        </p:spPr>
        <p:txBody>
          <a:bodyPr lIns="0" tIns="0" rIns="0" bIns="0" anchor="t">
            <a:normAutofit/>
          </a:bodyPr>
          <a:lstStyle/>
          <a:p>
            <a:pPr algn="l">
              <a:lnSpc>
                <a:spcPct val="98000"/>
              </a:lnSpc>
              <a:buNone/>
              <a:defRPr sz="1275" b="0" i="0">
                <a:solidFill>
                  <a:srgbClr val="18232F"/>
                </a:solidFill>
                <a:latin typeface="Segoe UI"/>
                <a:ea typeface="Segoe UI"/>
                <a:cs typeface="Segoe UI"/>
              </a:defRPr>
            </a:pPr>
            <a:r>
              <a:rPr sz="1275" b="0" i="0">
                <a:solidFill>
                  <a:srgbClr val="18232F"/>
                </a:solidFill>
                <a:latin typeface="Segoe UI"/>
                <a:ea typeface="Segoe UI"/>
                <a:cs typeface="Segoe UI"/>
              </a:rPr>
              <a:t>Well-tested implementations, all written for people who already code.</a:t>
            </a:r>
          </a:p>
        </p:txBody>
      </p:sp>
      <p:sp>
        <p:nvSpPr>
          <p:cNvPr id="641" name="Shape 642"/>
          <p:cNvSpPr>
            <a:spLocks noGrp="1"/>
          </p:cNvSpPr>
          <p:nvPr/>
        </p:nvSpPr>
        <p:spPr>
          <a:xfrm>
            <a:off x="722376" y="5815584"/>
            <a:ext cx="10780776" cy="603504"/>
          </a:xfrm>
          <a:prstGeom prst="roundRect">
            <a:avLst>
              <a:gd name="adj" fmla="val 10000"/>
            </a:avLst>
          </a:prstGeom>
          <a:solidFill>
            <a:srgbClr val="F2E2D9"/>
          </a:solidFill>
          <a:ln w="0">
            <a:noFill/>
            <a:prstDash val="solid"/>
          </a:ln>
        </p:spPr>
        <p:txBody>
          <a:bodyPr/>
          <a:lstStyle/>
          <a:p>
            <a:endParaRPr lang="en-IN"/>
          </a:p>
        </p:txBody>
      </p:sp>
      <p:sp>
        <p:nvSpPr>
          <p:cNvPr id="643" name="Rectangle 644"/>
          <p:cNvSpPr>
            <a:spLocks noGrp="1"/>
          </p:cNvSpPr>
          <p:nvPr/>
        </p:nvSpPr>
        <p:spPr>
          <a:xfrm>
            <a:off x="1051560" y="5961888"/>
            <a:ext cx="10149840" cy="329184"/>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The gap is not in the algorithms or the simulators. It is that using them still requires an expert.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645" name="Rectangle 646"/>
          <p:cNvSpPr>
            <a:spLocks noGrp="1"/>
          </p:cNvSpPr>
          <p:nvPr/>
        </p:nvSpPr>
        <p:spPr>
          <a:xfrm>
            <a:off x="11109960" y="265176"/>
            <a:ext cx="402336" cy="228600"/>
          </a:xfrm>
          <a:prstGeom prst="rect">
            <a:avLst/>
          </a:prstGeom>
          <a:noFill/>
          <a:ln w="0">
            <a:noFill/>
            <a:prstDash val="solid"/>
          </a:ln>
        </p:spPr>
        <p:txBody>
          <a:bodyPr lIns="0" tIns="0" rIns="0" bIns="0" anchor="t">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22</a:t>
            </a:r>
          </a:p>
        </p:txBody>
      </p:sp>
      <p:sp>
        <p:nvSpPr>
          <p:cNvPr id="647" name="Rectangle 648"/>
          <p:cNvSpPr>
            <a:spLocks noGrp="1"/>
          </p:cNvSpPr>
          <p:nvPr/>
        </p:nvSpPr>
        <p:spPr>
          <a:xfrm>
            <a:off x="685800" y="713232"/>
            <a:ext cx="10817352" cy="804672"/>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All three algorithms on all three tasks</a:t>
            </a:r>
          </a:p>
        </p:txBody>
      </p:sp>
      <p:sp>
        <p:nvSpPr>
          <p:cNvPr id="649" name="Shape 650"/>
          <p:cNvSpPr>
            <a:spLocks noGrp="1"/>
          </p:cNvSpPr>
          <p:nvPr/>
        </p:nvSpPr>
        <p:spPr>
          <a:xfrm>
            <a:off x="685800" y="6455664"/>
            <a:ext cx="10817352" cy="9510"/>
          </a:xfrm>
          <a:prstGeom prst="rect">
            <a:avLst/>
          </a:prstGeom>
          <a:solidFill>
            <a:srgbClr val="D5DAD6"/>
          </a:solidFill>
          <a:ln w="0">
            <a:noFill/>
            <a:prstDash val="solid"/>
          </a:ln>
        </p:spPr>
        <p:txBody>
          <a:bodyPr/>
          <a:lstStyle/>
          <a:p>
            <a:endParaRPr lang="en-IN"/>
          </a:p>
        </p:txBody>
      </p:sp>
      <p:pic>
        <p:nvPicPr>
          <p:cNvPr id="651" name="Chart 652"/>
          <p:cNvPicPr>
            <a:picLocks noChangeAspect="1"/>
          </p:cNvPicPr>
          <p:nvPr/>
        </p:nvPicPr>
        <p:blipFill>
          <a:blip r:embed="rId2"/>
          <a:stretch>
            <a:fillRect/>
          </a:stretch>
        </p:blipFill>
        <p:spPr>
          <a:xfrm>
            <a:off x="566928" y="1737360"/>
            <a:ext cx="11064240" cy="2980944"/>
          </a:xfrm>
          <a:prstGeom prst="rect">
            <a:avLst/>
          </a:prstGeom>
        </p:spPr>
      </p:pic>
      <p:sp>
        <p:nvSpPr>
          <p:cNvPr id="653" name="Shape 654"/>
          <p:cNvSpPr>
            <a:spLocks noGrp="1"/>
          </p:cNvSpPr>
          <p:nvPr/>
        </p:nvSpPr>
        <p:spPr>
          <a:xfrm>
            <a:off x="722376" y="4956048"/>
            <a:ext cx="10780776" cy="841248"/>
          </a:xfrm>
          <a:prstGeom prst="roundRect">
            <a:avLst>
              <a:gd name="adj" fmla="val 9000"/>
            </a:avLst>
          </a:prstGeom>
          <a:solidFill>
            <a:srgbClr val="DDEBE7"/>
          </a:solidFill>
          <a:ln w="0">
            <a:noFill/>
            <a:prstDash val="solid"/>
          </a:ln>
        </p:spPr>
        <p:txBody>
          <a:bodyPr/>
          <a:lstStyle/>
          <a:p>
            <a:endParaRPr lang="en-IN"/>
          </a:p>
        </p:txBody>
      </p:sp>
      <p:sp>
        <p:nvSpPr>
          <p:cNvPr id="655" name="Rectangle 656"/>
          <p:cNvSpPr>
            <a:spLocks noGrp="1"/>
          </p:cNvSpPr>
          <p:nvPr/>
        </p:nvSpPr>
        <p:spPr>
          <a:xfrm>
            <a:off x="1051560" y="5120640"/>
            <a:ext cx="10149840" cy="548640"/>
          </a:xfrm>
          <a:prstGeom prst="rect">
            <a:avLst/>
          </a:prstGeom>
          <a:noFill/>
          <a:ln w="0">
            <a:noFill/>
            <a:prstDash val="solid"/>
          </a:ln>
        </p:spPr>
        <p:txBody>
          <a:bodyPr lIns="0" tIns="0" rIns="0" bIns="0" anchor="t">
            <a:normAutofit/>
          </a:bodyPr>
          <a:lstStyle/>
          <a:p>
            <a:pPr algn="l">
              <a:lnSpc>
                <a:spcPct val="98000"/>
              </a:lnSpc>
              <a:buNone/>
              <a:defRPr sz="1425" b="0" i="0">
                <a:solidFill>
                  <a:srgbClr val="18232F"/>
                </a:solidFill>
                <a:latin typeface="Segoe UI"/>
                <a:ea typeface="Segoe UI"/>
                <a:cs typeface="Segoe UI"/>
              </a:defRPr>
            </a:pPr>
            <a:r>
              <a:rPr sz="1425" b="0" i="0">
                <a:solidFill>
                  <a:srgbClr val="18232F"/>
                </a:solidFill>
                <a:latin typeface="Segoe UI"/>
                <a:ea typeface="Segoe UI"/>
                <a:cs typeface="Segoe UI"/>
              </a:rPr>
              <a:t>Every task has its own reward, so the three heights are not comparable across the panels.</a:t>
            </a:r>
          </a:p>
          <a:p>
            <a:pPr algn="l">
              <a:lnSpc>
                <a:spcPct val="98000"/>
              </a:lnSpc>
              <a:buNone/>
              <a:defRPr sz="1425" b="0" i="0">
                <a:solidFill>
                  <a:srgbClr val="18232F"/>
                </a:solidFill>
                <a:latin typeface="Segoe UI"/>
                <a:ea typeface="Segoe UI"/>
                <a:cs typeface="Segoe UI"/>
              </a:defRPr>
            </a:pPr>
            <a:r>
              <a:rPr sz="1425" b="0" i="0">
                <a:solidFill>
                  <a:srgbClr val="18232F"/>
                </a:solidFill>
                <a:latin typeface="Segoe UI"/>
                <a:ea typeface="Segoe UI"/>
                <a:cs typeface="Segoe UI"/>
              </a:rPr>
              <a:t>Within a panel the comparison is fair: same robot, same reward, same 40 million steps.</a:t>
            </a:r>
          </a:p>
        </p:txBody>
      </p:sp>
      <p:sp>
        <p:nvSpPr>
          <p:cNvPr id="657" name="Rectangle 658"/>
          <p:cNvSpPr>
            <a:spLocks noGrp="1"/>
          </p:cNvSpPr>
          <p:nvPr/>
        </p:nvSpPr>
        <p:spPr>
          <a:xfrm>
            <a:off x="722376" y="5961888"/>
            <a:ext cx="10780776" cy="41148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On the two Go1 tasks all three algorithms learn. On the humanoid only SAC does.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659" name="Rectangle 660"/>
          <p:cNvSpPr>
            <a:spLocks noGrp="1"/>
          </p:cNvSpPr>
          <p:nvPr/>
        </p:nvSpPr>
        <p:spPr>
          <a:xfrm>
            <a:off x="11109960" y="265176"/>
            <a:ext cx="402336" cy="228600"/>
          </a:xfrm>
          <a:prstGeom prst="rect">
            <a:avLst/>
          </a:prstGeom>
          <a:noFill/>
          <a:ln w="0">
            <a:noFill/>
            <a:prstDash val="solid"/>
          </a:ln>
        </p:spPr>
        <p:txBody>
          <a:bodyPr lIns="0" tIns="0" rIns="0" bIns="0" anchor="t">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23</a:t>
            </a:r>
          </a:p>
        </p:txBody>
      </p:sp>
      <p:sp>
        <p:nvSpPr>
          <p:cNvPr id="661" name="Rectangle 662"/>
          <p:cNvSpPr>
            <a:spLocks noGrp="1"/>
          </p:cNvSpPr>
          <p:nvPr/>
        </p:nvSpPr>
        <p:spPr>
          <a:xfrm>
            <a:off x="685800" y="713232"/>
            <a:ext cx="10817352" cy="804672"/>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The numbers behind that comparison</a:t>
            </a:r>
          </a:p>
        </p:txBody>
      </p:sp>
      <p:sp>
        <p:nvSpPr>
          <p:cNvPr id="663" name="Shape 664"/>
          <p:cNvSpPr>
            <a:spLocks noGrp="1"/>
          </p:cNvSpPr>
          <p:nvPr/>
        </p:nvSpPr>
        <p:spPr>
          <a:xfrm>
            <a:off x="685800" y="6455664"/>
            <a:ext cx="10817352" cy="9510"/>
          </a:xfrm>
          <a:prstGeom prst="rect">
            <a:avLst/>
          </a:prstGeom>
          <a:solidFill>
            <a:srgbClr val="D5DAD6"/>
          </a:solidFill>
          <a:ln w="0">
            <a:noFill/>
            <a:prstDash val="solid"/>
          </a:ln>
        </p:spPr>
        <p:txBody>
          <a:bodyPr/>
          <a:lstStyle/>
          <a:p>
            <a:endParaRPr lang="en-IN"/>
          </a:p>
        </p:txBody>
      </p:sp>
      <p:sp>
        <p:nvSpPr>
          <p:cNvPr id="665" name="Rectangle 666"/>
          <p:cNvSpPr>
            <a:spLocks noGrp="1"/>
          </p:cNvSpPr>
          <p:nvPr/>
        </p:nvSpPr>
        <p:spPr>
          <a:xfrm>
            <a:off x="758952" y="1847088"/>
            <a:ext cx="2377440" cy="301752"/>
          </a:xfrm>
          <a:prstGeom prst="rect">
            <a:avLst/>
          </a:prstGeom>
          <a:noFill/>
          <a:ln w="0">
            <a:noFill/>
            <a:prstDash val="solid"/>
          </a:ln>
        </p:spPr>
        <p:txBody>
          <a:bodyPr lIns="0" tIns="0" rIns="0" bIns="0" anchor="t">
            <a:normAutofit/>
          </a:bodyPr>
          <a:lstStyle/>
          <a:p>
            <a:pPr algn="l">
              <a:lnSpc>
                <a:spcPct val="98000"/>
              </a:lnSpc>
              <a:buNone/>
              <a:defRPr sz="1500" b="1" i="0">
                <a:solidFill>
                  <a:srgbClr val="5B6670"/>
                </a:solidFill>
                <a:latin typeface="Segoe UI Semibold"/>
                <a:ea typeface="Segoe UI Semibold"/>
                <a:cs typeface="Segoe UI Semibold"/>
              </a:defRPr>
            </a:pPr>
            <a:r>
              <a:rPr sz="1500" b="1" i="0">
                <a:solidFill>
                  <a:srgbClr val="5B6670"/>
                </a:solidFill>
                <a:latin typeface="Segoe UI Semibold"/>
                <a:ea typeface="Segoe UI Semibold"/>
                <a:cs typeface="Segoe UI Semibold"/>
              </a:rPr>
              <a:t>Task</a:t>
            </a:r>
          </a:p>
        </p:txBody>
      </p:sp>
      <p:sp>
        <p:nvSpPr>
          <p:cNvPr id="667" name="Rectangle 668"/>
          <p:cNvSpPr>
            <a:spLocks noGrp="1"/>
          </p:cNvSpPr>
          <p:nvPr/>
        </p:nvSpPr>
        <p:spPr>
          <a:xfrm>
            <a:off x="3749040" y="1847088"/>
            <a:ext cx="2377440" cy="301752"/>
          </a:xfrm>
          <a:prstGeom prst="rect">
            <a:avLst/>
          </a:prstGeom>
          <a:noFill/>
          <a:ln w="0">
            <a:noFill/>
            <a:prstDash val="solid"/>
          </a:ln>
        </p:spPr>
        <p:txBody>
          <a:bodyPr lIns="0" tIns="0" rIns="0" bIns="0" anchor="t">
            <a:normAutofit/>
          </a:bodyPr>
          <a:lstStyle/>
          <a:p>
            <a:pPr algn="l">
              <a:lnSpc>
                <a:spcPct val="98000"/>
              </a:lnSpc>
              <a:buNone/>
              <a:defRPr sz="1500" b="1" i="0">
                <a:solidFill>
                  <a:srgbClr val="5B6670"/>
                </a:solidFill>
                <a:latin typeface="Segoe UI Semibold"/>
                <a:ea typeface="Segoe UI Semibold"/>
                <a:cs typeface="Segoe UI Semibold"/>
              </a:defRPr>
            </a:pPr>
            <a:r>
              <a:rPr sz="1500" b="1" i="0">
                <a:solidFill>
                  <a:srgbClr val="5B6670"/>
                </a:solidFill>
                <a:latin typeface="Segoe UI Semibold"/>
                <a:ea typeface="Segoe UI Semibold"/>
                <a:cs typeface="Segoe UI Semibold"/>
              </a:rPr>
              <a:t>PPO</a:t>
            </a:r>
          </a:p>
        </p:txBody>
      </p:sp>
      <p:sp>
        <p:nvSpPr>
          <p:cNvPr id="669" name="Rectangle 670"/>
          <p:cNvSpPr>
            <a:spLocks noGrp="1"/>
          </p:cNvSpPr>
          <p:nvPr/>
        </p:nvSpPr>
        <p:spPr>
          <a:xfrm>
            <a:off x="6309360" y="1847088"/>
            <a:ext cx="2377440" cy="301752"/>
          </a:xfrm>
          <a:prstGeom prst="rect">
            <a:avLst/>
          </a:prstGeom>
          <a:noFill/>
          <a:ln w="0">
            <a:noFill/>
            <a:prstDash val="solid"/>
          </a:ln>
        </p:spPr>
        <p:txBody>
          <a:bodyPr lIns="0" tIns="0" rIns="0" bIns="0" anchor="t">
            <a:normAutofit/>
          </a:bodyPr>
          <a:lstStyle/>
          <a:p>
            <a:pPr algn="l">
              <a:lnSpc>
                <a:spcPct val="98000"/>
              </a:lnSpc>
              <a:buNone/>
              <a:defRPr sz="1500" b="1" i="0">
                <a:solidFill>
                  <a:srgbClr val="0B6B64"/>
                </a:solidFill>
                <a:latin typeface="Segoe UI Semibold"/>
                <a:ea typeface="Segoe UI Semibold"/>
                <a:cs typeface="Segoe UI Semibold"/>
              </a:defRPr>
            </a:pPr>
            <a:r>
              <a:rPr sz="1500" b="1" i="0">
                <a:solidFill>
                  <a:srgbClr val="0B6B64"/>
                </a:solidFill>
                <a:latin typeface="Segoe UI Semibold"/>
                <a:ea typeface="Segoe UI Semibold"/>
                <a:cs typeface="Segoe UI Semibold"/>
              </a:rPr>
              <a:t>SAC</a:t>
            </a:r>
          </a:p>
        </p:txBody>
      </p:sp>
      <p:sp>
        <p:nvSpPr>
          <p:cNvPr id="671" name="Rectangle 672"/>
          <p:cNvSpPr>
            <a:spLocks noGrp="1"/>
          </p:cNvSpPr>
          <p:nvPr/>
        </p:nvSpPr>
        <p:spPr>
          <a:xfrm>
            <a:off x="8869680" y="1847088"/>
            <a:ext cx="2377440" cy="301752"/>
          </a:xfrm>
          <a:prstGeom prst="rect">
            <a:avLst/>
          </a:prstGeom>
          <a:noFill/>
          <a:ln w="0">
            <a:noFill/>
            <a:prstDash val="solid"/>
          </a:ln>
        </p:spPr>
        <p:txBody>
          <a:bodyPr lIns="0" tIns="0" rIns="0" bIns="0" anchor="t">
            <a:normAutofit/>
          </a:bodyPr>
          <a:lstStyle/>
          <a:p>
            <a:pPr algn="l">
              <a:lnSpc>
                <a:spcPct val="98000"/>
              </a:lnSpc>
              <a:buNone/>
              <a:defRPr sz="1500" b="1" i="0">
                <a:solidFill>
                  <a:srgbClr val="B8502A"/>
                </a:solidFill>
                <a:latin typeface="Segoe UI Semibold"/>
                <a:ea typeface="Segoe UI Semibold"/>
                <a:cs typeface="Segoe UI Semibold"/>
              </a:defRPr>
            </a:pPr>
            <a:r>
              <a:rPr sz="1500" b="1" i="0">
                <a:solidFill>
                  <a:srgbClr val="B8502A"/>
                </a:solidFill>
                <a:latin typeface="Segoe UI Semibold"/>
                <a:ea typeface="Segoe UI Semibold"/>
                <a:cs typeface="Segoe UI Semibold"/>
              </a:rPr>
              <a:t>TD3</a:t>
            </a:r>
          </a:p>
        </p:txBody>
      </p:sp>
      <p:sp>
        <p:nvSpPr>
          <p:cNvPr id="673" name="Rectangle 674"/>
          <p:cNvSpPr>
            <a:spLocks noGrp="1"/>
          </p:cNvSpPr>
          <p:nvPr/>
        </p:nvSpPr>
        <p:spPr>
          <a:xfrm>
            <a:off x="758952" y="2304288"/>
            <a:ext cx="2788920" cy="274320"/>
          </a:xfrm>
          <a:prstGeom prst="rect">
            <a:avLst/>
          </a:prstGeom>
          <a:noFill/>
          <a:ln w="0">
            <a:noFill/>
            <a:prstDash val="solid"/>
          </a:ln>
        </p:spPr>
        <p:txBody>
          <a:bodyPr lIns="0" tIns="0" rIns="0" bIns="0" anchor="t">
            <a:normAutofit/>
          </a:bodyPr>
          <a:lstStyle/>
          <a:p>
            <a:pPr algn="l">
              <a:lnSpc>
                <a:spcPct val="98000"/>
              </a:lnSpc>
              <a:buNone/>
              <a:defRPr sz="1425" b="1" i="0">
                <a:solidFill>
                  <a:srgbClr val="18232F"/>
                </a:solidFill>
                <a:latin typeface="Segoe UI Semibold"/>
                <a:ea typeface="Segoe UI Semibold"/>
                <a:cs typeface="Segoe UI Semibold"/>
              </a:defRPr>
            </a:pPr>
            <a:r>
              <a:rPr sz="1425" b="1" i="0">
                <a:solidFill>
                  <a:srgbClr val="18232F"/>
                </a:solidFill>
                <a:latin typeface="Segoe UI Semibold"/>
                <a:ea typeface="Segoe UI Semibold"/>
                <a:cs typeface="Segoe UI Semibold"/>
              </a:rPr>
              <a:t>Go1 walking</a:t>
            </a:r>
          </a:p>
        </p:txBody>
      </p:sp>
      <p:sp>
        <p:nvSpPr>
          <p:cNvPr id="675" name="Rectangle 676"/>
          <p:cNvSpPr>
            <a:spLocks noGrp="1"/>
          </p:cNvSpPr>
          <p:nvPr/>
        </p:nvSpPr>
        <p:spPr>
          <a:xfrm>
            <a:off x="758952" y="2578608"/>
            <a:ext cx="2788920" cy="256032"/>
          </a:xfrm>
          <a:prstGeom prst="rect">
            <a:avLst/>
          </a:prstGeom>
          <a:noFill/>
          <a:ln w="0">
            <a:noFill/>
            <a:prstDash val="solid"/>
          </a:ln>
        </p:spPr>
        <p:txBody>
          <a:bodyPr lIns="0" tIns="0" rIns="0" bIns="0" anchor="t">
            <a:normAutofit/>
          </a:bodyPr>
          <a:lstStyle/>
          <a:p>
            <a:pPr algn="l">
              <a:lnSpc>
                <a:spcPct val="98000"/>
              </a:lnSpc>
              <a:buNone/>
              <a:defRPr sz="1200" b="0" i="0">
                <a:solidFill>
                  <a:srgbClr val="5B6670"/>
                </a:solidFill>
                <a:latin typeface="Segoe UI"/>
                <a:ea typeface="Segoe UI"/>
                <a:cs typeface="Segoe UI"/>
              </a:defRPr>
            </a:pPr>
            <a:r>
              <a:rPr sz="1200" b="0" i="0">
                <a:solidFill>
                  <a:srgbClr val="5B6670"/>
                </a:solidFill>
                <a:latin typeface="Segoe UI"/>
                <a:ea typeface="Segoe UI"/>
                <a:cs typeface="Segoe UI"/>
              </a:rPr>
              <a:t>best score</a:t>
            </a:r>
          </a:p>
        </p:txBody>
      </p:sp>
      <p:sp>
        <p:nvSpPr>
          <p:cNvPr id="677" name="Rectangle 678"/>
          <p:cNvSpPr>
            <a:spLocks noGrp="1"/>
          </p:cNvSpPr>
          <p:nvPr/>
        </p:nvSpPr>
        <p:spPr>
          <a:xfrm>
            <a:off x="3749040" y="2304288"/>
            <a:ext cx="2194560" cy="36576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2,074</a:t>
            </a:r>
          </a:p>
        </p:txBody>
      </p:sp>
      <p:sp>
        <p:nvSpPr>
          <p:cNvPr id="679" name="Rectangle 680"/>
          <p:cNvSpPr>
            <a:spLocks noGrp="1"/>
          </p:cNvSpPr>
          <p:nvPr/>
        </p:nvSpPr>
        <p:spPr>
          <a:xfrm>
            <a:off x="6309360" y="2304288"/>
            <a:ext cx="2194560" cy="365760"/>
          </a:xfrm>
          <a:prstGeom prst="rect">
            <a:avLst/>
          </a:prstGeom>
          <a:noFill/>
          <a:ln w="0">
            <a:noFill/>
            <a:prstDash val="solid"/>
          </a:ln>
        </p:spPr>
        <p:txBody>
          <a:bodyPr lIns="0" tIns="0" rIns="0" bIns="0" anchor="t">
            <a:normAutofit/>
          </a:bodyPr>
          <a:lstStyle/>
          <a:p>
            <a:pPr algn="l">
              <a:lnSpc>
                <a:spcPct val="98000"/>
              </a:lnSpc>
              <a:buNone/>
              <a:defRPr sz="1725" b="1" i="0">
                <a:solidFill>
                  <a:srgbClr val="0B6B64"/>
                </a:solidFill>
                <a:latin typeface="Segoe UI Semibold"/>
                <a:ea typeface="Segoe UI Semibold"/>
                <a:cs typeface="Segoe UI Semibold"/>
              </a:defRPr>
            </a:pPr>
            <a:r>
              <a:rPr sz="1725" b="1" i="0">
                <a:solidFill>
                  <a:srgbClr val="0B6B64"/>
                </a:solidFill>
                <a:latin typeface="Segoe UI Semibold"/>
                <a:ea typeface="Segoe UI Semibold"/>
                <a:cs typeface="Segoe UI Semibold"/>
              </a:rPr>
              <a:t>2,250</a:t>
            </a:r>
          </a:p>
        </p:txBody>
      </p:sp>
      <p:sp>
        <p:nvSpPr>
          <p:cNvPr id="681" name="Rectangle 682"/>
          <p:cNvSpPr>
            <a:spLocks noGrp="1"/>
          </p:cNvSpPr>
          <p:nvPr/>
        </p:nvSpPr>
        <p:spPr>
          <a:xfrm>
            <a:off x="8869680" y="2304288"/>
            <a:ext cx="2194560" cy="36576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2,113</a:t>
            </a:r>
          </a:p>
        </p:txBody>
      </p:sp>
      <p:sp>
        <p:nvSpPr>
          <p:cNvPr id="683" name="Shape 684"/>
          <p:cNvSpPr>
            <a:spLocks noGrp="1"/>
          </p:cNvSpPr>
          <p:nvPr/>
        </p:nvSpPr>
        <p:spPr>
          <a:xfrm>
            <a:off x="758952" y="2816352"/>
            <a:ext cx="10716768" cy="9510"/>
          </a:xfrm>
          <a:prstGeom prst="rect">
            <a:avLst/>
          </a:prstGeom>
          <a:solidFill>
            <a:srgbClr val="D5DAD6"/>
          </a:solidFill>
          <a:ln w="0">
            <a:noFill/>
            <a:prstDash val="solid"/>
          </a:ln>
        </p:spPr>
        <p:txBody>
          <a:bodyPr/>
          <a:lstStyle/>
          <a:p>
            <a:endParaRPr lang="en-IN"/>
          </a:p>
        </p:txBody>
      </p:sp>
      <p:sp>
        <p:nvSpPr>
          <p:cNvPr id="685" name="Rectangle 686"/>
          <p:cNvSpPr>
            <a:spLocks noGrp="1"/>
          </p:cNvSpPr>
          <p:nvPr/>
        </p:nvSpPr>
        <p:spPr>
          <a:xfrm>
            <a:off x="758952" y="2889504"/>
            <a:ext cx="2788920" cy="256032"/>
          </a:xfrm>
          <a:prstGeom prst="rect">
            <a:avLst/>
          </a:prstGeom>
          <a:noFill/>
          <a:ln w="0">
            <a:noFill/>
            <a:prstDash val="solid"/>
          </a:ln>
        </p:spPr>
        <p:txBody>
          <a:bodyPr lIns="0" tIns="0" rIns="0" bIns="0" anchor="t">
            <a:normAutofit/>
          </a:bodyPr>
          <a:lstStyle/>
          <a:p>
            <a:pPr algn="l">
              <a:lnSpc>
                <a:spcPct val="98000"/>
              </a:lnSpc>
              <a:buNone/>
              <a:defRPr sz="1200" b="0" i="0">
                <a:solidFill>
                  <a:srgbClr val="5B6670"/>
                </a:solidFill>
                <a:latin typeface="Segoe UI"/>
                <a:ea typeface="Segoe UI"/>
                <a:cs typeface="Segoe UI"/>
              </a:defRPr>
            </a:pPr>
            <a:r>
              <a:rPr sz="1200" b="0" i="0">
                <a:solidFill>
                  <a:srgbClr val="5B6670"/>
                </a:solidFill>
                <a:latin typeface="Segoe UI"/>
                <a:ea typeface="Segoe UI"/>
                <a:cs typeface="Segoe UI"/>
              </a:rPr>
              <a:t>steps per attempt at the end</a:t>
            </a:r>
          </a:p>
        </p:txBody>
      </p:sp>
      <p:sp>
        <p:nvSpPr>
          <p:cNvPr id="687" name="Rectangle 688"/>
          <p:cNvSpPr>
            <a:spLocks noGrp="1"/>
          </p:cNvSpPr>
          <p:nvPr/>
        </p:nvSpPr>
        <p:spPr>
          <a:xfrm>
            <a:off x="3749040" y="2889504"/>
            <a:ext cx="2194560" cy="36576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818</a:t>
            </a:r>
          </a:p>
        </p:txBody>
      </p:sp>
      <p:sp>
        <p:nvSpPr>
          <p:cNvPr id="689" name="Rectangle 690"/>
          <p:cNvSpPr>
            <a:spLocks noGrp="1"/>
          </p:cNvSpPr>
          <p:nvPr/>
        </p:nvSpPr>
        <p:spPr>
          <a:xfrm>
            <a:off x="6309360" y="2889504"/>
            <a:ext cx="2194560" cy="365760"/>
          </a:xfrm>
          <a:prstGeom prst="rect">
            <a:avLst/>
          </a:prstGeom>
          <a:noFill/>
          <a:ln w="0">
            <a:noFill/>
            <a:prstDash val="solid"/>
          </a:ln>
        </p:spPr>
        <p:txBody>
          <a:bodyPr lIns="0" tIns="0" rIns="0" bIns="0" anchor="t">
            <a:normAutofit/>
          </a:bodyPr>
          <a:lstStyle/>
          <a:p>
            <a:pPr algn="l">
              <a:lnSpc>
                <a:spcPct val="98000"/>
              </a:lnSpc>
              <a:buNone/>
              <a:defRPr sz="1725" b="1" i="0">
                <a:solidFill>
                  <a:srgbClr val="0B6B64"/>
                </a:solidFill>
                <a:latin typeface="Segoe UI Semibold"/>
                <a:ea typeface="Segoe UI Semibold"/>
                <a:cs typeface="Segoe UI Semibold"/>
              </a:defRPr>
            </a:pPr>
            <a:r>
              <a:rPr sz="1725" b="1" i="0">
                <a:solidFill>
                  <a:srgbClr val="0B6B64"/>
                </a:solidFill>
                <a:latin typeface="Segoe UI Semibold"/>
                <a:ea typeface="Segoe UI Semibold"/>
                <a:cs typeface="Segoe UI Semibold"/>
              </a:rPr>
              <a:t>995</a:t>
            </a:r>
          </a:p>
        </p:txBody>
      </p:sp>
      <p:sp>
        <p:nvSpPr>
          <p:cNvPr id="691" name="Rectangle 692"/>
          <p:cNvSpPr>
            <a:spLocks noGrp="1"/>
          </p:cNvSpPr>
          <p:nvPr/>
        </p:nvSpPr>
        <p:spPr>
          <a:xfrm>
            <a:off x="8869680" y="2889504"/>
            <a:ext cx="2194560" cy="36576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809</a:t>
            </a:r>
          </a:p>
        </p:txBody>
      </p:sp>
      <p:sp>
        <p:nvSpPr>
          <p:cNvPr id="693" name="Shape 694"/>
          <p:cNvSpPr>
            <a:spLocks noGrp="1"/>
          </p:cNvSpPr>
          <p:nvPr/>
        </p:nvSpPr>
        <p:spPr>
          <a:xfrm>
            <a:off x="758952" y="3401568"/>
            <a:ext cx="10716768" cy="9510"/>
          </a:xfrm>
          <a:prstGeom prst="rect">
            <a:avLst/>
          </a:prstGeom>
          <a:solidFill>
            <a:srgbClr val="D5DAD6"/>
          </a:solidFill>
          <a:ln w="0">
            <a:noFill/>
            <a:prstDash val="solid"/>
          </a:ln>
        </p:spPr>
        <p:txBody>
          <a:bodyPr/>
          <a:lstStyle/>
          <a:p>
            <a:endParaRPr lang="en-IN"/>
          </a:p>
        </p:txBody>
      </p:sp>
      <p:sp>
        <p:nvSpPr>
          <p:cNvPr id="695" name="Rectangle 696"/>
          <p:cNvSpPr>
            <a:spLocks noGrp="1"/>
          </p:cNvSpPr>
          <p:nvPr/>
        </p:nvSpPr>
        <p:spPr>
          <a:xfrm>
            <a:off x="758952" y="3474720"/>
            <a:ext cx="2788920" cy="274320"/>
          </a:xfrm>
          <a:prstGeom prst="rect">
            <a:avLst/>
          </a:prstGeom>
          <a:noFill/>
          <a:ln w="0">
            <a:noFill/>
            <a:prstDash val="solid"/>
          </a:ln>
        </p:spPr>
        <p:txBody>
          <a:bodyPr lIns="0" tIns="0" rIns="0" bIns="0" anchor="t">
            <a:normAutofit/>
          </a:bodyPr>
          <a:lstStyle/>
          <a:p>
            <a:pPr algn="l">
              <a:lnSpc>
                <a:spcPct val="98000"/>
              </a:lnSpc>
              <a:buNone/>
              <a:defRPr sz="1425" b="1" i="0">
                <a:solidFill>
                  <a:srgbClr val="18232F"/>
                </a:solidFill>
                <a:latin typeface="Segoe UI Semibold"/>
                <a:ea typeface="Segoe UI Semibold"/>
                <a:cs typeface="Segoe UI Semibold"/>
              </a:defRPr>
            </a:pPr>
            <a:r>
              <a:rPr sz="1425" b="1" i="0">
                <a:solidFill>
                  <a:srgbClr val="18232F"/>
                </a:solidFill>
                <a:latin typeface="Segoe UI Semibold"/>
                <a:ea typeface="Segoe UI Semibold"/>
                <a:cs typeface="Segoe UI Semibold"/>
              </a:rPr>
              <a:t>Go1 galloping</a:t>
            </a:r>
          </a:p>
        </p:txBody>
      </p:sp>
      <p:sp>
        <p:nvSpPr>
          <p:cNvPr id="697" name="Rectangle 698"/>
          <p:cNvSpPr>
            <a:spLocks noGrp="1"/>
          </p:cNvSpPr>
          <p:nvPr/>
        </p:nvSpPr>
        <p:spPr>
          <a:xfrm>
            <a:off x="758952" y="3749040"/>
            <a:ext cx="2788920" cy="256032"/>
          </a:xfrm>
          <a:prstGeom prst="rect">
            <a:avLst/>
          </a:prstGeom>
          <a:noFill/>
          <a:ln w="0">
            <a:noFill/>
            <a:prstDash val="solid"/>
          </a:ln>
        </p:spPr>
        <p:txBody>
          <a:bodyPr lIns="0" tIns="0" rIns="0" bIns="0" anchor="t">
            <a:normAutofit/>
          </a:bodyPr>
          <a:lstStyle/>
          <a:p>
            <a:pPr algn="l">
              <a:lnSpc>
                <a:spcPct val="98000"/>
              </a:lnSpc>
              <a:buNone/>
              <a:defRPr sz="1200" b="0" i="0">
                <a:solidFill>
                  <a:srgbClr val="5B6670"/>
                </a:solidFill>
                <a:latin typeface="Segoe UI"/>
                <a:ea typeface="Segoe UI"/>
                <a:cs typeface="Segoe UI"/>
              </a:defRPr>
            </a:pPr>
            <a:r>
              <a:rPr sz="1200" b="0" i="0">
                <a:solidFill>
                  <a:srgbClr val="5B6670"/>
                </a:solidFill>
                <a:latin typeface="Segoe UI"/>
                <a:ea typeface="Segoe UI"/>
                <a:cs typeface="Segoe UI"/>
              </a:rPr>
              <a:t>best score</a:t>
            </a:r>
          </a:p>
        </p:txBody>
      </p:sp>
      <p:sp>
        <p:nvSpPr>
          <p:cNvPr id="699" name="Rectangle 700"/>
          <p:cNvSpPr>
            <a:spLocks noGrp="1"/>
          </p:cNvSpPr>
          <p:nvPr/>
        </p:nvSpPr>
        <p:spPr>
          <a:xfrm>
            <a:off x="3749040" y="3474720"/>
            <a:ext cx="2194560" cy="36576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1,601</a:t>
            </a:r>
          </a:p>
        </p:txBody>
      </p:sp>
      <p:sp>
        <p:nvSpPr>
          <p:cNvPr id="701" name="Rectangle 702"/>
          <p:cNvSpPr>
            <a:spLocks noGrp="1"/>
          </p:cNvSpPr>
          <p:nvPr/>
        </p:nvSpPr>
        <p:spPr>
          <a:xfrm>
            <a:off x="6309360" y="3474720"/>
            <a:ext cx="2194560" cy="365760"/>
          </a:xfrm>
          <a:prstGeom prst="rect">
            <a:avLst/>
          </a:prstGeom>
          <a:noFill/>
          <a:ln w="0">
            <a:noFill/>
            <a:prstDash val="solid"/>
          </a:ln>
        </p:spPr>
        <p:txBody>
          <a:bodyPr lIns="0" tIns="0" rIns="0" bIns="0" anchor="t">
            <a:normAutofit/>
          </a:bodyPr>
          <a:lstStyle/>
          <a:p>
            <a:pPr algn="l">
              <a:lnSpc>
                <a:spcPct val="98000"/>
              </a:lnSpc>
              <a:buNone/>
              <a:defRPr sz="1725" b="1" i="0">
                <a:solidFill>
                  <a:srgbClr val="0B6B64"/>
                </a:solidFill>
                <a:latin typeface="Segoe UI Semibold"/>
                <a:ea typeface="Segoe UI Semibold"/>
                <a:cs typeface="Segoe UI Semibold"/>
              </a:defRPr>
            </a:pPr>
            <a:r>
              <a:rPr sz="1725" b="1" i="0">
                <a:solidFill>
                  <a:srgbClr val="0B6B64"/>
                </a:solidFill>
                <a:latin typeface="Segoe UI Semibold"/>
                <a:ea typeface="Segoe UI Semibold"/>
                <a:cs typeface="Segoe UI Semibold"/>
              </a:rPr>
              <a:t>1,953</a:t>
            </a:r>
          </a:p>
        </p:txBody>
      </p:sp>
      <p:sp>
        <p:nvSpPr>
          <p:cNvPr id="703" name="Rectangle 704"/>
          <p:cNvSpPr>
            <a:spLocks noGrp="1"/>
          </p:cNvSpPr>
          <p:nvPr/>
        </p:nvSpPr>
        <p:spPr>
          <a:xfrm>
            <a:off x="8869680" y="3474720"/>
            <a:ext cx="2194560" cy="36576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1,905</a:t>
            </a:r>
          </a:p>
        </p:txBody>
      </p:sp>
      <p:sp>
        <p:nvSpPr>
          <p:cNvPr id="705" name="Shape 706"/>
          <p:cNvSpPr>
            <a:spLocks noGrp="1"/>
          </p:cNvSpPr>
          <p:nvPr/>
        </p:nvSpPr>
        <p:spPr>
          <a:xfrm>
            <a:off x="758952" y="3986784"/>
            <a:ext cx="10716768" cy="9510"/>
          </a:xfrm>
          <a:prstGeom prst="rect">
            <a:avLst/>
          </a:prstGeom>
          <a:solidFill>
            <a:srgbClr val="D5DAD6"/>
          </a:solidFill>
          <a:ln w="0">
            <a:noFill/>
            <a:prstDash val="solid"/>
          </a:ln>
        </p:spPr>
        <p:txBody>
          <a:bodyPr/>
          <a:lstStyle/>
          <a:p>
            <a:endParaRPr lang="en-IN"/>
          </a:p>
        </p:txBody>
      </p:sp>
      <p:sp>
        <p:nvSpPr>
          <p:cNvPr id="707" name="Rectangle 708"/>
          <p:cNvSpPr>
            <a:spLocks noGrp="1"/>
          </p:cNvSpPr>
          <p:nvPr/>
        </p:nvSpPr>
        <p:spPr>
          <a:xfrm>
            <a:off x="758952" y="4059936"/>
            <a:ext cx="2788920" cy="256032"/>
          </a:xfrm>
          <a:prstGeom prst="rect">
            <a:avLst/>
          </a:prstGeom>
          <a:noFill/>
          <a:ln w="0">
            <a:noFill/>
            <a:prstDash val="solid"/>
          </a:ln>
        </p:spPr>
        <p:txBody>
          <a:bodyPr lIns="0" tIns="0" rIns="0" bIns="0" anchor="t">
            <a:normAutofit/>
          </a:bodyPr>
          <a:lstStyle/>
          <a:p>
            <a:pPr algn="l">
              <a:lnSpc>
                <a:spcPct val="98000"/>
              </a:lnSpc>
              <a:buNone/>
              <a:defRPr sz="1200" b="0" i="0">
                <a:solidFill>
                  <a:srgbClr val="5B6670"/>
                </a:solidFill>
                <a:latin typeface="Segoe UI"/>
                <a:ea typeface="Segoe UI"/>
                <a:cs typeface="Segoe UI"/>
              </a:defRPr>
            </a:pPr>
            <a:r>
              <a:rPr sz="1200" b="0" i="0">
                <a:solidFill>
                  <a:srgbClr val="5B6670"/>
                </a:solidFill>
                <a:latin typeface="Segoe UI"/>
                <a:ea typeface="Segoe UI"/>
                <a:cs typeface="Segoe UI"/>
              </a:rPr>
              <a:t>time in the air</a:t>
            </a:r>
          </a:p>
        </p:txBody>
      </p:sp>
      <p:sp>
        <p:nvSpPr>
          <p:cNvPr id="709" name="Rectangle 710"/>
          <p:cNvSpPr>
            <a:spLocks noGrp="1"/>
          </p:cNvSpPr>
          <p:nvPr/>
        </p:nvSpPr>
        <p:spPr>
          <a:xfrm>
            <a:off x="3749040" y="4059936"/>
            <a:ext cx="2194560" cy="36576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43%</a:t>
            </a:r>
          </a:p>
        </p:txBody>
      </p:sp>
      <p:sp>
        <p:nvSpPr>
          <p:cNvPr id="711" name="Rectangle 712"/>
          <p:cNvSpPr>
            <a:spLocks noGrp="1"/>
          </p:cNvSpPr>
          <p:nvPr/>
        </p:nvSpPr>
        <p:spPr>
          <a:xfrm>
            <a:off x="6309360" y="4059936"/>
            <a:ext cx="2194560" cy="365760"/>
          </a:xfrm>
          <a:prstGeom prst="rect">
            <a:avLst/>
          </a:prstGeom>
          <a:noFill/>
          <a:ln w="0">
            <a:noFill/>
            <a:prstDash val="solid"/>
          </a:ln>
        </p:spPr>
        <p:txBody>
          <a:bodyPr lIns="0" tIns="0" rIns="0" bIns="0" anchor="t">
            <a:normAutofit/>
          </a:bodyPr>
          <a:lstStyle/>
          <a:p>
            <a:pPr algn="l">
              <a:lnSpc>
                <a:spcPct val="98000"/>
              </a:lnSpc>
              <a:buNone/>
              <a:defRPr sz="1725" b="1" i="0">
                <a:solidFill>
                  <a:srgbClr val="0B6B64"/>
                </a:solidFill>
                <a:latin typeface="Segoe UI Semibold"/>
                <a:ea typeface="Segoe UI Semibold"/>
                <a:cs typeface="Segoe UI Semibold"/>
              </a:defRPr>
            </a:pPr>
            <a:r>
              <a:rPr sz="1725" b="1" i="0">
                <a:solidFill>
                  <a:srgbClr val="0B6B64"/>
                </a:solidFill>
                <a:latin typeface="Segoe UI Semibold"/>
                <a:ea typeface="Segoe UI Semibold"/>
                <a:cs typeface="Segoe UI Semibold"/>
              </a:rPr>
              <a:t>52%</a:t>
            </a:r>
          </a:p>
        </p:txBody>
      </p:sp>
      <p:sp>
        <p:nvSpPr>
          <p:cNvPr id="713" name="Rectangle 714"/>
          <p:cNvSpPr>
            <a:spLocks noGrp="1"/>
          </p:cNvSpPr>
          <p:nvPr/>
        </p:nvSpPr>
        <p:spPr>
          <a:xfrm>
            <a:off x="8869680" y="4059936"/>
            <a:ext cx="2194560" cy="36576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29%</a:t>
            </a:r>
          </a:p>
        </p:txBody>
      </p:sp>
      <p:sp>
        <p:nvSpPr>
          <p:cNvPr id="715" name="Shape 716"/>
          <p:cNvSpPr>
            <a:spLocks noGrp="1"/>
          </p:cNvSpPr>
          <p:nvPr/>
        </p:nvSpPr>
        <p:spPr>
          <a:xfrm>
            <a:off x="758952" y="4572000"/>
            <a:ext cx="10716768" cy="9510"/>
          </a:xfrm>
          <a:prstGeom prst="rect">
            <a:avLst/>
          </a:prstGeom>
          <a:solidFill>
            <a:srgbClr val="D5DAD6"/>
          </a:solidFill>
          <a:ln w="0">
            <a:noFill/>
            <a:prstDash val="solid"/>
          </a:ln>
        </p:spPr>
        <p:txBody>
          <a:bodyPr/>
          <a:lstStyle/>
          <a:p>
            <a:endParaRPr lang="en-IN"/>
          </a:p>
        </p:txBody>
      </p:sp>
      <p:sp>
        <p:nvSpPr>
          <p:cNvPr id="717" name="Rectangle 718"/>
          <p:cNvSpPr>
            <a:spLocks noGrp="1"/>
          </p:cNvSpPr>
          <p:nvPr/>
        </p:nvSpPr>
        <p:spPr>
          <a:xfrm>
            <a:off x="758952" y="4645152"/>
            <a:ext cx="2788920" cy="274320"/>
          </a:xfrm>
          <a:prstGeom prst="rect">
            <a:avLst/>
          </a:prstGeom>
          <a:noFill/>
          <a:ln w="0">
            <a:noFill/>
            <a:prstDash val="solid"/>
          </a:ln>
        </p:spPr>
        <p:txBody>
          <a:bodyPr lIns="0" tIns="0" rIns="0" bIns="0" anchor="t">
            <a:normAutofit/>
          </a:bodyPr>
          <a:lstStyle/>
          <a:p>
            <a:pPr algn="l">
              <a:lnSpc>
                <a:spcPct val="98000"/>
              </a:lnSpc>
              <a:buNone/>
              <a:defRPr sz="1425" b="1" i="0">
                <a:solidFill>
                  <a:srgbClr val="18232F"/>
                </a:solidFill>
                <a:latin typeface="Segoe UI Semibold"/>
                <a:ea typeface="Segoe UI Semibold"/>
                <a:cs typeface="Segoe UI Semibold"/>
              </a:defRPr>
            </a:pPr>
            <a:r>
              <a:rPr sz="1425" b="1" i="0">
                <a:solidFill>
                  <a:srgbClr val="18232F"/>
                </a:solidFill>
                <a:latin typeface="Segoe UI Semibold"/>
                <a:ea typeface="Segoe UI Semibold"/>
                <a:cs typeface="Segoe UI Semibold"/>
              </a:rPr>
              <a:t>Valkyrie humanoid</a:t>
            </a:r>
          </a:p>
        </p:txBody>
      </p:sp>
      <p:sp>
        <p:nvSpPr>
          <p:cNvPr id="719" name="Rectangle 720"/>
          <p:cNvSpPr>
            <a:spLocks noGrp="1"/>
          </p:cNvSpPr>
          <p:nvPr/>
        </p:nvSpPr>
        <p:spPr>
          <a:xfrm>
            <a:off x="758952" y="4919472"/>
            <a:ext cx="2788920" cy="256032"/>
          </a:xfrm>
          <a:prstGeom prst="rect">
            <a:avLst/>
          </a:prstGeom>
          <a:noFill/>
          <a:ln w="0">
            <a:noFill/>
            <a:prstDash val="solid"/>
          </a:ln>
        </p:spPr>
        <p:txBody>
          <a:bodyPr lIns="0" tIns="0" rIns="0" bIns="0" anchor="t">
            <a:normAutofit/>
          </a:bodyPr>
          <a:lstStyle/>
          <a:p>
            <a:pPr algn="l">
              <a:lnSpc>
                <a:spcPct val="98000"/>
              </a:lnSpc>
              <a:buNone/>
              <a:defRPr sz="1200" b="0" i="0">
                <a:solidFill>
                  <a:srgbClr val="5B6670"/>
                </a:solidFill>
                <a:latin typeface="Segoe UI"/>
                <a:ea typeface="Segoe UI"/>
                <a:cs typeface="Segoe UI"/>
              </a:defRPr>
            </a:pPr>
            <a:r>
              <a:rPr sz="1200" b="0" i="0">
                <a:solidFill>
                  <a:srgbClr val="5B6670"/>
                </a:solidFill>
                <a:latin typeface="Segoe UI"/>
                <a:ea typeface="Segoe UI"/>
                <a:cs typeface="Segoe UI"/>
              </a:rPr>
              <a:t>best score</a:t>
            </a:r>
          </a:p>
        </p:txBody>
      </p:sp>
      <p:sp>
        <p:nvSpPr>
          <p:cNvPr id="721" name="Rectangle 722"/>
          <p:cNvSpPr>
            <a:spLocks noGrp="1"/>
          </p:cNvSpPr>
          <p:nvPr/>
        </p:nvSpPr>
        <p:spPr>
          <a:xfrm>
            <a:off x="3749040" y="4645152"/>
            <a:ext cx="2194560" cy="36576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276</a:t>
            </a:r>
          </a:p>
        </p:txBody>
      </p:sp>
      <p:sp>
        <p:nvSpPr>
          <p:cNvPr id="723" name="Rectangle 724"/>
          <p:cNvSpPr>
            <a:spLocks noGrp="1"/>
          </p:cNvSpPr>
          <p:nvPr/>
        </p:nvSpPr>
        <p:spPr>
          <a:xfrm>
            <a:off x="6309360" y="4645152"/>
            <a:ext cx="2194560" cy="365760"/>
          </a:xfrm>
          <a:prstGeom prst="rect">
            <a:avLst/>
          </a:prstGeom>
          <a:noFill/>
          <a:ln w="0">
            <a:noFill/>
            <a:prstDash val="solid"/>
          </a:ln>
        </p:spPr>
        <p:txBody>
          <a:bodyPr lIns="0" tIns="0" rIns="0" bIns="0" anchor="t">
            <a:normAutofit/>
          </a:bodyPr>
          <a:lstStyle/>
          <a:p>
            <a:pPr algn="l">
              <a:lnSpc>
                <a:spcPct val="98000"/>
              </a:lnSpc>
              <a:buNone/>
              <a:defRPr sz="1725" b="1" i="0">
                <a:solidFill>
                  <a:srgbClr val="0B6B64"/>
                </a:solidFill>
                <a:latin typeface="Segoe UI Semibold"/>
                <a:ea typeface="Segoe UI Semibold"/>
                <a:cs typeface="Segoe UI Semibold"/>
              </a:defRPr>
            </a:pPr>
            <a:r>
              <a:rPr sz="1725" b="1" i="0">
                <a:solidFill>
                  <a:srgbClr val="0B6B64"/>
                </a:solidFill>
                <a:latin typeface="Segoe UI Semibold"/>
                <a:ea typeface="Segoe UI Semibold"/>
                <a:cs typeface="Segoe UI Semibold"/>
              </a:rPr>
              <a:t>1,284</a:t>
            </a:r>
          </a:p>
        </p:txBody>
      </p:sp>
      <p:sp>
        <p:nvSpPr>
          <p:cNvPr id="725" name="Rectangle 726"/>
          <p:cNvSpPr>
            <a:spLocks noGrp="1"/>
          </p:cNvSpPr>
          <p:nvPr/>
        </p:nvSpPr>
        <p:spPr>
          <a:xfrm>
            <a:off x="8869680" y="4645152"/>
            <a:ext cx="2194560" cy="36576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287</a:t>
            </a:r>
          </a:p>
        </p:txBody>
      </p:sp>
      <p:sp>
        <p:nvSpPr>
          <p:cNvPr id="727" name="Shape 728"/>
          <p:cNvSpPr>
            <a:spLocks noGrp="1"/>
          </p:cNvSpPr>
          <p:nvPr/>
        </p:nvSpPr>
        <p:spPr>
          <a:xfrm>
            <a:off x="758952" y="5157216"/>
            <a:ext cx="10716768" cy="9510"/>
          </a:xfrm>
          <a:prstGeom prst="rect">
            <a:avLst/>
          </a:prstGeom>
          <a:solidFill>
            <a:srgbClr val="D5DAD6"/>
          </a:solidFill>
          <a:ln w="0">
            <a:noFill/>
            <a:prstDash val="solid"/>
          </a:ln>
        </p:spPr>
        <p:txBody>
          <a:bodyPr/>
          <a:lstStyle/>
          <a:p>
            <a:endParaRPr lang="en-IN"/>
          </a:p>
        </p:txBody>
      </p:sp>
      <p:sp>
        <p:nvSpPr>
          <p:cNvPr id="729" name="Rectangle 730"/>
          <p:cNvSpPr>
            <a:spLocks noGrp="1"/>
          </p:cNvSpPr>
          <p:nvPr/>
        </p:nvSpPr>
        <p:spPr>
          <a:xfrm>
            <a:off x="758952" y="5230368"/>
            <a:ext cx="2788920" cy="256032"/>
          </a:xfrm>
          <a:prstGeom prst="rect">
            <a:avLst/>
          </a:prstGeom>
          <a:noFill/>
          <a:ln w="0">
            <a:noFill/>
            <a:prstDash val="solid"/>
          </a:ln>
        </p:spPr>
        <p:txBody>
          <a:bodyPr lIns="0" tIns="0" rIns="0" bIns="0" anchor="t">
            <a:normAutofit/>
          </a:bodyPr>
          <a:lstStyle/>
          <a:p>
            <a:pPr algn="l">
              <a:lnSpc>
                <a:spcPct val="98000"/>
              </a:lnSpc>
              <a:buNone/>
              <a:defRPr sz="1200" b="0" i="0">
                <a:solidFill>
                  <a:srgbClr val="5B6670"/>
                </a:solidFill>
                <a:latin typeface="Segoe UI"/>
                <a:ea typeface="Segoe UI"/>
                <a:cs typeface="Segoe UI"/>
              </a:defRPr>
            </a:pPr>
            <a:r>
              <a:rPr sz="1200" b="0" i="0">
                <a:solidFill>
                  <a:srgbClr val="5B6670"/>
                </a:solidFill>
                <a:latin typeface="Segoe UI"/>
                <a:ea typeface="Segoe UI"/>
                <a:cs typeface="Segoe UI"/>
              </a:rPr>
              <a:t>steps per attempt</a:t>
            </a:r>
          </a:p>
        </p:txBody>
      </p:sp>
      <p:sp>
        <p:nvSpPr>
          <p:cNvPr id="731" name="Rectangle 732"/>
          <p:cNvSpPr>
            <a:spLocks noGrp="1"/>
          </p:cNvSpPr>
          <p:nvPr/>
        </p:nvSpPr>
        <p:spPr>
          <a:xfrm>
            <a:off x="3749040" y="5230368"/>
            <a:ext cx="2194560" cy="36576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204</a:t>
            </a:r>
          </a:p>
        </p:txBody>
      </p:sp>
      <p:sp>
        <p:nvSpPr>
          <p:cNvPr id="733" name="Rectangle 734"/>
          <p:cNvSpPr>
            <a:spLocks noGrp="1"/>
          </p:cNvSpPr>
          <p:nvPr/>
        </p:nvSpPr>
        <p:spPr>
          <a:xfrm>
            <a:off x="6309360" y="5230368"/>
            <a:ext cx="2194560" cy="365760"/>
          </a:xfrm>
          <a:prstGeom prst="rect">
            <a:avLst/>
          </a:prstGeom>
          <a:noFill/>
          <a:ln w="0">
            <a:noFill/>
            <a:prstDash val="solid"/>
          </a:ln>
        </p:spPr>
        <p:txBody>
          <a:bodyPr lIns="0" tIns="0" rIns="0" bIns="0" anchor="t">
            <a:normAutofit/>
          </a:bodyPr>
          <a:lstStyle/>
          <a:p>
            <a:pPr algn="l">
              <a:lnSpc>
                <a:spcPct val="98000"/>
              </a:lnSpc>
              <a:buNone/>
              <a:defRPr sz="1725" b="1" i="0">
                <a:solidFill>
                  <a:srgbClr val="0B6B64"/>
                </a:solidFill>
                <a:latin typeface="Segoe UI Semibold"/>
                <a:ea typeface="Segoe UI Semibold"/>
                <a:cs typeface="Segoe UI Semibold"/>
              </a:defRPr>
            </a:pPr>
            <a:r>
              <a:rPr sz="1725" b="1" i="0">
                <a:solidFill>
                  <a:srgbClr val="0B6B64"/>
                </a:solidFill>
                <a:latin typeface="Segoe UI Semibold"/>
                <a:ea typeface="Segoe UI Semibold"/>
                <a:cs typeface="Segoe UI Semibold"/>
              </a:rPr>
              <a:t>821</a:t>
            </a:r>
          </a:p>
        </p:txBody>
      </p:sp>
      <p:sp>
        <p:nvSpPr>
          <p:cNvPr id="735" name="Rectangle 736"/>
          <p:cNvSpPr>
            <a:spLocks noGrp="1"/>
          </p:cNvSpPr>
          <p:nvPr/>
        </p:nvSpPr>
        <p:spPr>
          <a:xfrm>
            <a:off x="8869680" y="5230368"/>
            <a:ext cx="2194560" cy="36576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206</a:t>
            </a:r>
          </a:p>
        </p:txBody>
      </p:sp>
      <p:sp>
        <p:nvSpPr>
          <p:cNvPr id="737" name="Shape 738"/>
          <p:cNvSpPr>
            <a:spLocks noGrp="1"/>
          </p:cNvSpPr>
          <p:nvPr/>
        </p:nvSpPr>
        <p:spPr>
          <a:xfrm>
            <a:off x="758952" y="5742432"/>
            <a:ext cx="10716768" cy="9510"/>
          </a:xfrm>
          <a:prstGeom prst="rect">
            <a:avLst/>
          </a:prstGeom>
          <a:solidFill>
            <a:srgbClr val="D5DAD6"/>
          </a:solidFill>
          <a:ln w="0">
            <a:noFill/>
            <a:prstDash val="solid"/>
          </a:ln>
        </p:spPr>
        <p:txBody>
          <a:bodyPr/>
          <a:lstStyle/>
          <a:p>
            <a:endParaRPr lang="en-IN"/>
          </a:p>
        </p:txBody>
      </p:sp>
      <p:sp>
        <p:nvSpPr>
          <p:cNvPr id="739" name="Rectangle 740"/>
          <p:cNvSpPr>
            <a:spLocks noGrp="1"/>
          </p:cNvSpPr>
          <p:nvPr/>
        </p:nvSpPr>
        <p:spPr>
          <a:xfrm>
            <a:off x="758952" y="5815584"/>
            <a:ext cx="2788920" cy="256032"/>
          </a:xfrm>
          <a:prstGeom prst="rect">
            <a:avLst/>
          </a:prstGeom>
          <a:noFill/>
          <a:ln w="0">
            <a:noFill/>
            <a:prstDash val="solid"/>
          </a:ln>
        </p:spPr>
        <p:txBody>
          <a:bodyPr lIns="0" tIns="0" rIns="0" bIns="0" anchor="t">
            <a:normAutofit/>
          </a:bodyPr>
          <a:lstStyle/>
          <a:p>
            <a:pPr algn="l">
              <a:lnSpc>
                <a:spcPct val="98000"/>
              </a:lnSpc>
              <a:buNone/>
              <a:defRPr sz="1200" b="0" i="0">
                <a:solidFill>
                  <a:srgbClr val="5B6670"/>
                </a:solidFill>
                <a:latin typeface="Segoe UI"/>
                <a:ea typeface="Segoe UI"/>
                <a:cs typeface="Segoe UI"/>
              </a:defRPr>
            </a:pPr>
            <a:r>
              <a:rPr sz="1200" b="0" i="0">
                <a:solidFill>
                  <a:srgbClr val="5B6670"/>
                </a:solidFill>
                <a:latin typeface="Segoe UI"/>
                <a:ea typeface="Segoe UI"/>
                <a:cs typeface="Segoe UI"/>
              </a:rPr>
              <a:t>minutes of training</a:t>
            </a:r>
          </a:p>
        </p:txBody>
      </p:sp>
      <p:sp>
        <p:nvSpPr>
          <p:cNvPr id="741" name="Rectangle 742"/>
          <p:cNvSpPr>
            <a:spLocks noGrp="1"/>
          </p:cNvSpPr>
          <p:nvPr/>
        </p:nvSpPr>
        <p:spPr>
          <a:xfrm>
            <a:off x="3749040" y="5815584"/>
            <a:ext cx="2194560" cy="36576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233</a:t>
            </a:r>
          </a:p>
        </p:txBody>
      </p:sp>
      <p:sp>
        <p:nvSpPr>
          <p:cNvPr id="743" name="Rectangle 744"/>
          <p:cNvSpPr>
            <a:spLocks noGrp="1"/>
          </p:cNvSpPr>
          <p:nvPr/>
        </p:nvSpPr>
        <p:spPr>
          <a:xfrm>
            <a:off x="6309360" y="5815584"/>
            <a:ext cx="2194560" cy="36576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67</a:t>
            </a:r>
          </a:p>
        </p:txBody>
      </p:sp>
      <p:sp>
        <p:nvSpPr>
          <p:cNvPr id="745" name="Rectangle 746"/>
          <p:cNvSpPr>
            <a:spLocks noGrp="1"/>
          </p:cNvSpPr>
          <p:nvPr/>
        </p:nvSpPr>
        <p:spPr>
          <a:xfrm>
            <a:off x="8869680" y="5815584"/>
            <a:ext cx="2194560" cy="365760"/>
          </a:xfrm>
          <a:prstGeom prst="rect">
            <a:avLst/>
          </a:prstGeom>
          <a:noFill/>
          <a:ln w="0">
            <a:noFill/>
            <a:prstDash val="solid"/>
          </a:ln>
        </p:spPr>
        <p:txBody>
          <a:bodyPr lIns="0" tIns="0" rIns="0" bIns="0" anchor="t">
            <a:normAutofit/>
          </a:bodyPr>
          <a:lstStyle/>
          <a:p>
            <a:pPr algn="l">
              <a:lnSpc>
                <a:spcPct val="98000"/>
              </a:lnSpc>
              <a:buNone/>
              <a:defRPr sz="1500" b="1" i="0">
                <a:solidFill>
                  <a:srgbClr val="18232F"/>
                </a:solidFill>
                <a:latin typeface="Segoe UI Semibold"/>
                <a:ea typeface="Segoe UI Semibold"/>
                <a:cs typeface="Segoe UI Semibold"/>
              </a:defRPr>
            </a:pPr>
            <a:r>
              <a:rPr sz="1500" b="1" i="0">
                <a:solidFill>
                  <a:srgbClr val="18232F"/>
                </a:solidFill>
                <a:latin typeface="Segoe UI Semibold"/>
                <a:ea typeface="Segoe UI Semibold"/>
                <a:cs typeface="Segoe UI Semibold"/>
              </a:rPr>
              <a:t>58</a:t>
            </a:r>
          </a:p>
        </p:txBody>
      </p:sp>
      <p:sp>
        <p:nvSpPr>
          <p:cNvPr id="747" name="Rectangle 748"/>
          <p:cNvSpPr>
            <a:spLocks noGrp="1"/>
          </p:cNvSpPr>
          <p:nvPr/>
        </p:nvSpPr>
        <p:spPr>
          <a:xfrm>
            <a:off x="758952" y="6035040"/>
            <a:ext cx="10716768" cy="365760"/>
          </a:xfrm>
          <a:prstGeom prst="rect">
            <a:avLst/>
          </a:prstGeom>
          <a:noFill/>
          <a:ln w="0">
            <a:noFill/>
            <a:prstDash val="solid"/>
          </a:ln>
        </p:spPr>
        <p:txBody>
          <a:bodyPr lIns="0" tIns="0" rIns="0" bIns="0" anchor="t">
            <a:normAutofit/>
          </a:bodyPr>
          <a:lstStyle/>
          <a:p>
            <a:pPr algn="l">
              <a:lnSpc>
                <a:spcPct val="98000"/>
              </a:lnSpc>
              <a:buNone/>
              <a:defRPr sz="1425" b="1" i="0">
                <a:solidFill>
                  <a:srgbClr val="18232F"/>
                </a:solidFill>
                <a:latin typeface="Segoe UI Semibold"/>
                <a:ea typeface="Segoe UI Semibold"/>
                <a:cs typeface="Segoe UI Semibold"/>
              </a:defRPr>
            </a:pPr>
            <a:r>
              <a:rPr sz="1425" b="1" i="0">
                <a:solidFill>
                  <a:srgbClr val="18232F"/>
                </a:solidFill>
                <a:latin typeface="Segoe UI Semibold"/>
                <a:ea typeface="Segoe UI Semibold"/>
                <a:cs typeface="Segoe UI Semibold"/>
              </a:rPr>
              <a:t>Bold marks the best of the three. SAC wins every task, and on the humanoid it is not close. TD3 finished the humanoid run fastest, but with a policy that had already broken down.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749" name="Rectangle 750"/>
          <p:cNvSpPr>
            <a:spLocks noGrp="1"/>
          </p:cNvSpPr>
          <p:nvPr/>
        </p:nvSpPr>
        <p:spPr>
          <a:xfrm>
            <a:off x="11109960" y="265176"/>
            <a:ext cx="402336" cy="228600"/>
          </a:xfrm>
          <a:prstGeom prst="rect">
            <a:avLst/>
          </a:prstGeom>
          <a:noFill/>
          <a:ln w="0">
            <a:noFill/>
            <a:prstDash val="solid"/>
          </a:ln>
        </p:spPr>
        <p:txBody>
          <a:bodyPr lIns="0" tIns="0" rIns="0" bIns="0" anchor="t">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24</a:t>
            </a:r>
          </a:p>
        </p:txBody>
      </p:sp>
      <p:sp>
        <p:nvSpPr>
          <p:cNvPr id="751" name="Rectangle 752"/>
          <p:cNvSpPr>
            <a:spLocks noGrp="1"/>
          </p:cNvSpPr>
          <p:nvPr/>
        </p:nvSpPr>
        <p:spPr>
          <a:xfrm>
            <a:off x="685800" y="713232"/>
            <a:ext cx="10817352" cy="1161288"/>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A similar score does not mean</a:t>
            </a:r>
          </a:p>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the robot did the same thing</a:t>
            </a:r>
          </a:p>
        </p:txBody>
      </p:sp>
      <p:sp>
        <p:nvSpPr>
          <p:cNvPr id="753" name="Shape 754"/>
          <p:cNvSpPr>
            <a:spLocks noGrp="1"/>
          </p:cNvSpPr>
          <p:nvPr/>
        </p:nvSpPr>
        <p:spPr>
          <a:xfrm>
            <a:off x="685800" y="6455664"/>
            <a:ext cx="10817352" cy="9510"/>
          </a:xfrm>
          <a:prstGeom prst="rect">
            <a:avLst/>
          </a:prstGeom>
          <a:solidFill>
            <a:srgbClr val="D5DAD6"/>
          </a:solidFill>
          <a:ln w="0">
            <a:noFill/>
            <a:prstDash val="solid"/>
          </a:ln>
        </p:spPr>
        <p:txBody>
          <a:bodyPr/>
          <a:lstStyle/>
          <a:p>
            <a:endParaRPr lang="en-IN"/>
          </a:p>
        </p:txBody>
      </p:sp>
      <p:pic>
        <p:nvPicPr>
          <p:cNvPr id="755" name="Chart 756"/>
          <p:cNvPicPr>
            <a:picLocks noChangeAspect="1"/>
          </p:cNvPicPr>
          <p:nvPr/>
        </p:nvPicPr>
        <p:blipFill>
          <a:blip r:embed="rId2"/>
          <a:stretch>
            <a:fillRect/>
          </a:stretch>
        </p:blipFill>
        <p:spPr>
          <a:xfrm>
            <a:off x="658368" y="1883664"/>
            <a:ext cx="10835640" cy="3364992"/>
          </a:xfrm>
          <a:prstGeom prst="rect">
            <a:avLst/>
          </a:prstGeom>
        </p:spPr>
      </p:pic>
      <p:sp>
        <p:nvSpPr>
          <p:cNvPr id="757" name="Rectangle 758"/>
          <p:cNvSpPr>
            <a:spLocks noGrp="1"/>
          </p:cNvSpPr>
          <p:nvPr/>
        </p:nvSpPr>
        <p:spPr>
          <a:xfrm>
            <a:off x="722376" y="5358384"/>
            <a:ext cx="10780776" cy="822960"/>
          </a:xfrm>
          <a:prstGeom prst="rect">
            <a:avLst/>
          </a:prstGeom>
          <a:noFill/>
          <a:ln w="0">
            <a:noFill/>
            <a:prstDash val="solid"/>
          </a:ln>
        </p:spPr>
        <p:txBody>
          <a:bodyPr lIns="0" tIns="0" rIns="0" bIns="0" anchor="t">
            <a:normAutofit/>
          </a:bodyPr>
          <a:lstStyle/>
          <a:p>
            <a:pPr algn="l">
              <a:lnSpc>
                <a:spcPct val="98000"/>
              </a:lnSpc>
              <a:buNone/>
              <a:defRPr sz="1425" b="0" i="0">
                <a:solidFill>
                  <a:srgbClr val="18232F"/>
                </a:solidFill>
                <a:latin typeface="Segoe UI"/>
                <a:ea typeface="Segoe UI"/>
                <a:cs typeface="Segoe UI"/>
              </a:defRPr>
            </a:pPr>
            <a:r>
              <a:rPr sz="1425" b="0" i="0">
                <a:solidFill>
                  <a:srgbClr val="18232F"/>
                </a:solidFill>
                <a:latin typeface="Segoe UI"/>
                <a:ea typeface="Segoe UI"/>
                <a:cs typeface="Segoe UI"/>
              </a:rPr>
              <a:t>On the galloping task TD3 scored within 3% of SAC, and it moves faster, yet it is airborne for 29% of the stride against SAC's 52%: it found a quick trot rather than a gallop.</a:t>
            </a:r>
          </a:p>
          <a:p>
            <a:pPr algn="l">
              <a:lnSpc>
                <a:spcPct val="98000"/>
              </a:lnSpc>
              <a:buNone/>
              <a:defRPr sz="1425" b="0" i="0">
                <a:solidFill>
                  <a:srgbClr val="18232F"/>
                </a:solidFill>
                <a:latin typeface="Segoe UI"/>
                <a:ea typeface="Segoe UI"/>
                <a:cs typeface="Segoe UI"/>
              </a:defRPr>
            </a:pPr>
            <a:r>
              <a:rPr sz="1425" b="0" i="0">
                <a:solidFill>
                  <a:srgbClr val="18232F"/>
                </a:solidFill>
                <a:latin typeface="Segoe UI"/>
                <a:ea typeface="Segoe UI"/>
                <a:cs typeface="Segoe UI"/>
              </a:rPr>
              <a:t>On the humanoid PPO drifts sideways almost as fast as it walks forward, so its score comes partly from movement that is not the task at all.</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759" name="Rectangle 760"/>
          <p:cNvSpPr>
            <a:spLocks noGrp="1"/>
          </p:cNvSpPr>
          <p:nvPr/>
        </p:nvSpPr>
        <p:spPr>
          <a:xfrm>
            <a:off x="11109960" y="265176"/>
            <a:ext cx="402336" cy="228600"/>
          </a:xfrm>
          <a:prstGeom prst="rect">
            <a:avLst/>
          </a:prstGeom>
          <a:noFill/>
          <a:ln w="0">
            <a:noFill/>
            <a:prstDash val="solid"/>
          </a:ln>
        </p:spPr>
        <p:txBody>
          <a:bodyPr lIns="0" tIns="0" rIns="0" bIns="0" anchor="t">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25</a:t>
            </a:r>
          </a:p>
        </p:txBody>
      </p:sp>
      <p:sp>
        <p:nvSpPr>
          <p:cNvPr id="761" name="Rectangle 762"/>
          <p:cNvSpPr>
            <a:spLocks noGrp="1"/>
          </p:cNvSpPr>
          <p:nvPr/>
        </p:nvSpPr>
        <p:spPr>
          <a:xfrm>
            <a:off x="685800" y="713232"/>
            <a:ext cx="10817352" cy="804672"/>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How long each algorithm took</a:t>
            </a:r>
          </a:p>
        </p:txBody>
      </p:sp>
      <p:sp>
        <p:nvSpPr>
          <p:cNvPr id="763" name="Shape 764"/>
          <p:cNvSpPr>
            <a:spLocks noGrp="1"/>
          </p:cNvSpPr>
          <p:nvPr/>
        </p:nvSpPr>
        <p:spPr>
          <a:xfrm>
            <a:off x="685800" y="6455664"/>
            <a:ext cx="10817352" cy="9510"/>
          </a:xfrm>
          <a:prstGeom prst="rect">
            <a:avLst/>
          </a:prstGeom>
          <a:solidFill>
            <a:srgbClr val="D5DAD6"/>
          </a:solidFill>
          <a:ln w="0">
            <a:noFill/>
            <a:prstDash val="solid"/>
          </a:ln>
        </p:spPr>
        <p:txBody>
          <a:bodyPr/>
          <a:lstStyle/>
          <a:p>
            <a:endParaRPr lang="en-IN"/>
          </a:p>
        </p:txBody>
      </p:sp>
      <p:pic>
        <p:nvPicPr>
          <p:cNvPr id="765" name="Chart 766"/>
          <p:cNvPicPr>
            <a:picLocks noChangeAspect="1"/>
          </p:cNvPicPr>
          <p:nvPr/>
        </p:nvPicPr>
        <p:blipFill>
          <a:blip r:embed="rId2"/>
          <a:stretch>
            <a:fillRect/>
          </a:stretch>
        </p:blipFill>
        <p:spPr>
          <a:xfrm>
            <a:off x="658368" y="1883664"/>
            <a:ext cx="10835640" cy="3182112"/>
          </a:xfrm>
          <a:prstGeom prst="rect">
            <a:avLst/>
          </a:prstGeom>
        </p:spPr>
      </p:pic>
      <p:sp>
        <p:nvSpPr>
          <p:cNvPr id="767" name="Shape 768"/>
          <p:cNvSpPr>
            <a:spLocks noGrp="1"/>
          </p:cNvSpPr>
          <p:nvPr/>
        </p:nvSpPr>
        <p:spPr>
          <a:xfrm>
            <a:off x="722376" y="5212080"/>
            <a:ext cx="5212080" cy="960120"/>
          </a:xfrm>
          <a:prstGeom prst="roundRect">
            <a:avLst>
              <a:gd name="adj" fmla="val 9000"/>
            </a:avLst>
          </a:prstGeom>
          <a:solidFill>
            <a:srgbClr val="DDEBE7"/>
          </a:solidFill>
          <a:ln w="0">
            <a:noFill/>
            <a:prstDash val="solid"/>
          </a:ln>
        </p:spPr>
        <p:txBody>
          <a:bodyPr/>
          <a:lstStyle/>
          <a:p>
            <a:endParaRPr lang="en-IN"/>
          </a:p>
        </p:txBody>
      </p:sp>
      <p:sp>
        <p:nvSpPr>
          <p:cNvPr id="769" name="Rectangle 770"/>
          <p:cNvSpPr>
            <a:spLocks noGrp="1"/>
          </p:cNvSpPr>
          <p:nvPr/>
        </p:nvSpPr>
        <p:spPr>
          <a:xfrm>
            <a:off x="1005840" y="5394960"/>
            <a:ext cx="4663440" cy="640080"/>
          </a:xfrm>
          <a:prstGeom prst="rect">
            <a:avLst/>
          </a:prstGeom>
          <a:noFill/>
          <a:ln w="0">
            <a:noFill/>
            <a:prstDash val="solid"/>
          </a:ln>
        </p:spPr>
        <p:txBody>
          <a:bodyPr lIns="0" tIns="0" rIns="0" bIns="0" anchor="t">
            <a:normAutofit/>
          </a:bodyPr>
          <a:lstStyle/>
          <a:p>
            <a:pPr algn="l">
              <a:lnSpc>
                <a:spcPct val="98000"/>
              </a:lnSpc>
              <a:buNone/>
              <a:defRPr sz="1350" b="0" i="0">
                <a:solidFill>
                  <a:srgbClr val="18232F"/>
                </a:solidFill>
                <a:latin typeface="Segoe UI"/>
                <a:ea typeface="Segoe UI"/>
                <a:cs typeface="Segoe UI"/>
              </a:defRPr>
            </a:pPr>
            <a:r>
              <a:rPr sz="1350" b="0" i="0">
                <a:solidFill>
                  <a:srgbClr val="18232F"/>
                </a:solidFill>
                <a:latin typeface="Segoe UI"/>
                <a:ea typeface="Segoe UI"/>
                <a:cs typeface="Segoe UI"/>
              </a:rPr>
              <a:t>On the two Go1 tasks the three are within ten minutes of each other,</a:t>
            </a:r>
          </a:p>
          <a:p>
            <a:pPr algn="l">
              <a:lnSpc>
                <a:spcPct val="98000"/>
              </a:lnSpc>
              <a:buNone/>
              <a:defRPr sz="1350" b="0" i="0">
                <a:solidFill>
                  <a:srgbClr val="18232F"/>
                </a:solidFill>
                <a:latin typeface="Segoe UI"/>
                <a:ea typeface="Segoe UI"/>
                <a:cs typeface="Segoe UI"/>
              </a:defRPr>
            </a:pPr>
            <a:r>
              <a:rPr sz="1350" b="0" i="0">
                <a:solidFill>
                  <a:srgbClr val="18232F"/>
                </a:solidFill>
                <a:latin typeface="Segoe UI"/>
                <a:ea typeface="Segoe UI"/>
                <a:cs typeface="Segoe UI"/>
              </a:rPr>
              <a:t>so the choice comes down to behaviour, not speed.</a:t>
            </a:r>
          </a:p>
        </p:txBody>
      </p:sp>
      <p:sp>
        <p:nvSpPr>
          <p:cNvPr id="771" name="Shape 772"/>
          <p:cNvSpPr>
            <a:spLocks noGrp="1"/>
          </p:cNvSpPr>
          <p:nvPr/>
        </p:nvSpPr>
        <p:spPr>
          <a:xfrm>
            <a:off x="6291072" y="5212080"/>
            <a:ext cx="5212080" cy="960120"/>
          </a:xfrm>
          <a:prstGeom prst="roundRect">
            <a:avLst>
              <a:gd name="adj" fmla="val 9000"/>
            </a:avLst>
          </a:prstGeom>
          <a:solidFill>
            <a:srgbClr val="F2E2D9"/>
          </a:solidFill>
          <a:ln w="0">
            <a:noFill/>
            <a:prstDash val="solid"/>
          </a:ln>
        </p:spPr>
        <p:txBody>
          <a:bodyPr/>
          <a:lstStyle/>
          <a:p>
            <a:endParaRPr lang="en-IN"/>
          </a:p>
        </p:txBody>
      </p:sp>
      <p:sp>
        <p:nvSpPr>
          <p:cNvPr id="773" name="Rectangle 774"/>
          <p:cNvSpPr>
            <a:spLocks noGrp="1"/>
          </p:cNvSpPr>
          <p:nvPr/>
        </p:nvSpPr>
        <p:spPr>
          <a:xfrm>
            <a:off x="6574536" y="5394960"/>
            <a:ext cx="4663440" cy="640080"/>
          </a:xfrm>
          <a:prstGeom prst="rect">
            <a:avLst/>
          </a:prstGeom>
          <a:noFill/>
          <a:ln w="0">
            <a:noFill/>
            <a:prstDash val="solid"/>
          </a:ln>
        </p:spPr>
        <p:txBody>
          <a:bodyPr lIns="0" tIns="0" rIns="0" bIns="0" anchor="t">
            <a:normAutofit/>
          </a:bodyPr>
          <a:lstStyle/>
          <a:p>
            <a:pPr algn="l">
              <a:lnSpc>
                <a:spcPct val="98000"/>
              </a:lnSpc>
              <a:buNone/>
              <a:defRPr sz="1350" b="0" i="0">
                <a:solidFill>
                  <a:srgbClr val="18232F"/>
                </a:solidFill>
                <a:latin typeface="Segoe UI"/>
                <a:ea typeface="Segoe UI"/>
                <a:cs typeface="Segoe UI"/>
              </a:defRPr>
            </a:pPr>
            <a:r>
              <a:rPr sz="1350" b="0" i="0">
                <a:solidFill>
                  <a:srgbClr val="18232F"/>
                </a:solidFill>
                <a:latin typeface="Segoe UI"/>
                <a:ea typeface="Segoe UI"/>
                <a:cs typeface="Segoe UI"/>
              </a:rPr>
              <a:t>On the humanoid, SAC reached four times PPO's score in 67 minutes.</a:t>
            </a:r>
          </a:p>
          <a:p>
            <a:pPr algn="l">
              <a:lnSpc>
                <a:spcPct val="98000"/>
              </a:lnSpc>
              <a:buNone/>
              <a:defRPr sz="1350" b="0" i="0">
                <a:solidFill>
                  <a:srgbClr val="18232F"/>
                </a:solidFill>
                <a:latin typeface="Segoe UI"/>
                <a:ea typeface="Segoe UI"/>
                <a:cs typeface="Segoe UI"/>
              </a:defRPr>
            </a:pPr>
            <a:r>
              <a:rPr sz="1350" b="0" i="0">
                <a:solidFill>
                  <a:srgbClr val="18232F"/>
                </a:solidFill>
                <a:latin typeface="Segoe UI"/>
                <a:ea typeface="Segoe UI"/>
                <a:cs typeface="Segoe UI"/>
              </a:rPr>
              <a:t>PPO spent 233 minutes and 200 million steps to do worse.</a:t>
            </a:r>
          </a:p>
        </p:txBody>
      </p:sp>
      <p:sp>
        <p:nvSpPr>
          <p:cNvPr id="775" name="Rectangle 776"/>
          <p:cNvSpPr>
            <a:spLocks noGrp="1"/>
          </p:cNvSpPr>
          <p:nvPr/>
        </p:nvSpPr>
        <p:spPr>
          <a:xfrm>
            <a:off x="722376" y="6309360"/>
            <a:ext cx="10780776" cy="274320"/>
          </a:xfrm>
          <a:prstGeom prst="rect">
            <a:avLst/>
          </a:prstGeom>
          <a:noFill/>
          <a:ln w="0">
            <a:noFill/>
            <a:prstDash val="solid"/>
          </a:ln>
        </p:spPr>
        <p:txBody>
          <a:bodyPr lIns="0" tIns="0" rIns="0" bIns="0" anchor="t">
            <a:normAutofit/>
          </a:bodyPr>
          <a:lstStyle/>
          <a:p>
            <a:pPr algn="l">
              <a:lnSpc>
                <a:spcPct val="98000"/>
              </a:lnSpc>
              <a:buNone/>
              <a:defRPr sz="1000" b="0" i="0">
                <a:solidFill>
                  <a:srgbClr val="5B6670"/>
                </a:solidFill>
                <a:latin typeface="Segoe UI"/>
                <a:ea typeface="Segoe UI"/>
                <a:cs typeface="Segoe UI"/>
              </a:defRPr>
            </a:pPr>
            <a:r>
              <a:rPr sz="1000" b="0" i="0">
                <a:solidFill>
                  <a:srgbClr val="5B6670"/>
                </a:solidFill>
                <a:latin typeface="Segoe UI"/>
                <a:ea typeface="Segoe UI"/>
                <a:cs typeface="Segoe UI"/>
              </a:rPr>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777" name="Rectangle 778"/>
          <p:cNvSpPr>
            <a:spLocks noGrp="1"/>
          </p:cNvSpPr>
          <p:nvPr/>
        </p:nvSpPr>
        <p:spPr>
          <a:xfrm>
            <a:off x="11109960" y="265176"/>
            <a:ext cx="402336" cy="228600"/>
          </a:xfrm>
          <a:prstGeom prst="rect">
            <a:avLst/>
          </a:prstGeom>
          <a:noFill/>
          <a:ln w="0">
            <a:noFill/>
            <a:prstDash val="solid"/>
          </a:ln>
        </p:spPr>
        <p:txBody>
          <a:bodyPr lIns="0" tIns="0" rIns="0" bIns="0" anchor="t">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28</a:t>
            </a:r>
          </a:p>
        </p:txBody>
      </p:sp>
      <p:sp>
        <p:nvSpPr>
          <p:cNvPr id="779" name="Rectangle 780"/>
          <p:cNvSpPr>
            <a:spLocks noGrp="1"/>
          </p:cNvSpPr>
          <p:nvPr/>
        </p:nvSpPr>
        <p:spPr>
          <a:xfrm>
            <a:off x="685800" y="713232"/>
            <a:ext cx="10817352" cy="804672"/>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Unitree Go1, walking reward</a:t>
            </a:r>
          </a:p>
        </p:txBody>
      </p:sp>
      <p:sp>
        <p:nvSpPr>
          <p:cNvPr id="781" name="Shape 782"/>
          <p:cNvSpPr>
            <a:spLocks noGrp="1"/>
          </p:cNvSpPr>
          <p:nvPr/>
        </p:nvSpPr>
        <p:spPr>
          <a:xfrm>
            <a:off x="685800" y="6455664"/>
            <a:ext cx="10817352" cy="9510"/>
          </a:xfrm>
          <a:prstGeom prst="rect">
            <a:avLst/>
          </a:prstGeom>
          <a:solidFill>
            <a:srgbClr val="D5DAD6"/>
          </a:solidFill>
          <a:ln w="0">
            <a:noFill/>
            <a:prstDash val="solid"/>
          </a:ln>
        </p:spPr>
        <p:txBody>
          <a:bodyPr/>
          <a:lstStyle/>
          <a:p>
            <a:endParaRPr lang="en-IN"/>
          </a:p>
        </p:txBody>
      </p:sp>
      <p:sp>
        <p:nvSpPr>
          <p:cNvPr id="783" name="Rectangle 784"/>
          <p:cNvSpPr>
            <a:spLocks noGrp="1"/>
          </p:cNvSpPr>
          <p:nvPr/>
        </p:nvSpPr>
        <p:spPr>
          <a:xfrm>
            <a:off x="722376" y="1700784"/>
            <a:ext cx="10780776" cy="274320"/>
          </a:xfrm>
          <a:prstGeom prst="rect">
            <a:avLst/>
          </a:prstGeom>
          <a:noFill/>
          <a:ln w="0">
            <a:noFill/>
            <a:prstDash val="solid"/>
          </a:ln>
        </p:spPr>
        <p:txBody>
          <a:bodyPr lIns="0" tIns="0" rIns="0" bIns="0" anchor="t">
            <a:normAutofit/>
          </a:bodyPr>
          <a:lstStyle/>
          <a:p>
            <a:pPr algn="l">
              <a:lnSpc>
                <a:spcPct val="98000"/>
              </a:lnSpc>
              <a:buNone/>
              <a:defRPr sz="1275" b="1" i="0">
                <a:solidFill>
                  <a:srgbClr val="5B6670"/>
                </a:solidFill>
                <a:latin typeface="Segoe UI Semibold"/>
                <a:ea typeface="Segoe UI Semibold"/>
                <a:cs typeface="Segoe UI Semibold"/>
              </a:defRPr>
            </a:pPr>
            <a:r>
              <a:rPr sz="1275" b="1" i="0">
                <a:solidFill>
                  <a:srgbClr val="5B6670"/>
                </a:solidFill>
                <a:latin typeface="Segoe UI Semibold"/>
                <a:ea typeface="Segoe UI Semibold"/>
                <a:cs typeface="Segoe UI Semibold"/>
              </a:rPr>
              <a:t>Same robot, same reward, three algorithms. 40 million steps each.</a:t>
            </a:r>
          </a:p>
        </p:txBody>
      </p:sp>
      <p:sp>
        <p:nvSpPr>
          <p:cNvPr id="785" name="Shape 786"/>
          <p:cNvSpPr>
            <a:spLocks noGrp="1"/>
          </p:cNvSpPr>
          <p:nvPr/>
        </p:nvSpPr>
        <p:spPr>
          <a:xfrm>
            <a:off x="685800" y="2048256"/>
            <a:ext cx="3474720" cy="2157984"/>
          </a:xfrm>
          <a:prstGeom prst="roundRect">
            <a:avLst>
              <a:gd name="adj" fmla="val 5000"/>
            </a:avLst>
          </a:prstGeom>
          <a:solidFill>
            <a:srgbClr val="FFFFFF"/>
          </a:solidFill>
          <a:ln w="9525">
            <a:solidFill>
              <a:srgbClr val="D5DAD6"/>
            </a:solidFill>
            <a:prstDash val="solid"/>
          </a:ln>
        </p:spPr>
        <p:txBody>
          <a:bodyPr/>
          <a:lstStyle/>
          <a:p>
            <a:endParaRPr lang="en-IN"/>
          </a:p>
        </p:txBody>
      </p:sp>
      <p:pic>
        <p:nvPicPr>
          <p:cNvPr id="787" name="Video 788">
            <a:hlinkClick xmlns:r="http://schemas.openxmlformats.org/officeDocument/2006/relationships"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2"/>
          <a:stretch>
            <a:fillRect/>
          </a:stretch>
        </p:blipFill>
        <p:spPr>
          <a:xfrm>
            <a:off x="740664" y="2103120"/>
            <a:ext cx="3364992" cy="1892808"/>
          </a:xfrm>
          <a:prstGeom prst="roundRect">
            <a:avLst>
              <a:gd name="adj" fmla="val 4000"/>
            </a:avLst>
          </a:prstGeom>
        </p:spPr>
      </p:pic>
      <p:sp>
        <p:nvSpPr>
          <p:cNvPr id="789" name="Shape 790"/>
          <p:cNvSpPr>
            <a:spLocks noGrp="1"/>
          </p:cNvSpPr>
          <p:nvPr/>
        </p:nvSpPr>
        <p:spPr>
          <a:xfrm>
            <a:off x="685800" y="4315968"/>
            <a:ext cx="1188720" cy="301752"/>
          </a:xfrm>
          <a:prstGeom prst="roundRect">
            <a:avLst>
              <a:gd name="adj" fmla="val 20000"/>
            </a:avLst>
          </a:prstGeom>
          <a:solidFill>
            <a:srgbClr val="5B6670"/>
          </a:solidFill>
          <a:ln w="0">
            <a:noFill/>
            <a:prstDash val="solid"/>
          </a:ln>
        </p:spPr>
        <p:txBody>
          <a:bodyPr/>
          <a:lstStyle/>
          <a:p>
            <a:endParaRPr lang="en-IN"/>
          </a:p>
        </p:txBody>
      </p:sp>
      <p:sp>
        <p:nvSpPr>
          <p:cNvPr id="791" name="Rectangle 792"/>
          <p:cNvSpPr>
            <a:spLocks noGrp="1"/>
          </p:cNvSpPr>
          <p:nvPr/>
        </p:nvSpPr>
        <p:spPr>
          <a:xfrm>
            <a:off x="685800" y="4352544"/>
            <a:ext cx="1188720" cy="256032"/>
          </a:xfrm>
          <a:prstGeom prst="rect">
            <a:avLst/>
          </a:prstGeom>
          <a:noFill/>
          <a:ln w="0">
            <a:noFill/>
            <a:prstDash val="solid"/>
          </a:ln>
        </p:spPr>
        <p:txBody>
          <a:bodyPr lIns="0" tIns="0" rIns="0" bIns="0" anchor="t">
            <a:normAutofit/>
          </a:bodyPr>
          <a:lstStyle/>
          <a:p>
            <a:pPr algn="ctr">
              <a:lnSpc>
                <a:spcPct val="98000"/>
              </a:lnSpc>
              <a:buNone/>
              <a:defRPr sz="1000" b="1" i="0">
                <a:solidFill>
                  <a:srgbClr val="FFFFFF"/>
                </a:solidFill>
                <a:latin typeface="Segoe UI Semibold"/>
                <a:ea typeface="Segoe UI Semibold"/>
                <a:cs typeface="Segoe UI Semibold"/>
              </a:defRPr>
            </a:pPr>
            <a:r>
              <a:rPr sz="1000" b="1" i="0">
                <a:solidFill>
                  <a:srgbClr val="FFFFFF"/>
                </a:solidFill>
                <a:latin typeface="Segoe UI Semibold"/>
                <a:ea typeface="Segoe UI Semibold"/>
                <a:cs typeface="Segoe UI Semibold"/>
              </a:rPr>
              <a:t>PPO</a:t>
            </a:r>
          </a:p>
        </p:txBody>
      </p:sp>
      <p:sp>
        <p:nvSpPr>
          <p:cNvPr id="793" name="Rectangle 794"/>
          <p:cNvSpPr>
            <a:spLocks noGrp="1"/>
          </p:cNvSpPr>
          <p:nvPr/>
        </p:nvSpPr>
        <p:spPr>
          <a:xfrm>
            <a:off x="685800" y="4773168"/>
            <a:ext cx="3474720" cy="1005840"/>
          </a:xfrm>
          <a:prstGeom prst="rect">
            <a:avLst/>
          </a:prstGeom>
          <a:noFill/>
          <a:ln w="0">
            <a:noFill/>
            <a:prstDash val="solid"/>
          </a:ln>
        </p:spPr>
        <p:txBody>
          <a:bodyPr lIns="0" tIns="0" rIns="0" bIns="0" anchor="t">
            <a:normAutofit/>
          </a:bodyPr>
          <a:lstStyle/>
          <a:p>
            <a:pPr algn="l">
              <a:lnSpc>
                <a:spcPct val="98000"/>
              </a:lnSpc>
              <a:buNone/>
              <a:defRPr sz="1350" b="0" i="0">
                <a:solidFill>
                  <a:srgbClr val="18232F"/>
                </a:solidFill>
                <a:latin typeface="Segoe UI"/>
                <a:ea typeface="Segoe UI"/>
                <a:cs typeface="Segoe UI"/>
              </a:defRPr>
            </a:pPr>
            <a:r>
              <a:rPr sz="1350" b="0" i="0">
                <a:solidFill>
                  <a:srgbClr val="18232F"/>
                </a:solidFill>
                <a:latin typeface="Segoe UI"/>
                <a:ea typeface="Segoe UI"/>
                <a:cs typeface="Segoe UI"/>
              </a:rPr>
              <a:t>Walks, then loses it: attempts fall back to 818 steps by the end.</a:t>
            </a:r>
          </a:p>
        </p:txBody>
      </p:sp>
      <p:sp>
        <p:nvSpPr>
          <p:cNvPr id="795" name="Shape 796"/>
          <p:cNvSpPr>
            <a:spLocks noGrp="1"/>
          </p:cNvSpPr>
          <p:nvPr/>
        </p:nvSpPr>
        <p:spPr>
          <a:xfrm>
            <a:off x="4315968" y="2048256"/>
            <a:ext cx="3474720" cy="2157984"/>
          </a:xfrm>
          <a:prstGeom prst="roundRect">
            <a:avLst>
              <a:gd name="adj" fmla="val 5000"/>
            </a:avLst>
          </a:prstGeom>
          <a:solidFill>
            <a:srgbClr val="FFFFFF"/>
          </a:solidFill>
          <a:ln w="9525">
            <a:solidFill>
              <a:srgbClr val="D5DAD6"/>
            </a:solidFill>
            <a:prstDash val="solid"/>
          </a:ln>
        </p:spPr>
        <p:txBody>
          <a:bodyPr/>
          <a:lstStyle/>
          <a:p>
            <a:endParaRPr lang="en-IN"/>
          </a:p>
        </p:txBody>
      </p:sp>
      <p:pic>
        <p:nvPicPr>
          <p:cNvPr id="797" name="Video 798">
            <a:hlinkClick xmlns:r="http://schemas.openxmlformats.org/officeDocument/2006/relationships" r:id="" action="ppaction://media"/>
          </p:cNvPr>
          <p:cNvPicPr>
            <a:picLocks noChangeAspect="1"/>
          </p:cNvPicPr>
          <p:nvPr>
            <a:videoFile r:link="rId6"/>
            <p:extLst>
              <p:ext uri="{DAA4B4D4-6D71-4841-9C94-3DE7FCFB9230}">
                <p14:media xmlns:p14="http://schemas.microsoft.com/office/powerpoint/2010/main" r:embed="rId7"/>
              </p:ext>
            </p:extLst>
          </p:nvPr>
        </p:nvPicPr>
        <p:blipFill>
          <a:blip r:embed="rId5"/>
          <a:stretch>
            <a:fillRect/>
          </a:stretch>
        </p:blipFill>
        <p:spPr>
          <a:xfrm>
            <a:off x="4370832" y="2103120"/>
            <a:ext cx="3364992" cy="1892808"/>
          </a:xfrm>
          <a:prstGeom prst="roundRect">
            <a:avLst>
              <a:gd name="adj" fmla="val 4000"/>
            </a:avLst>
          </a:prstGeom>
        </p:spPr>
      </p:pic>
      <p:sp>
        <p:nvSpPr>
          <p:cNvPr id="799" name="Shape 800"/>
          <p:cNvSpPr>
            <a:spLocks noGrp="1"/>
          </p:cNvSpPr>
          <p:nvPr/>
        </p:nvSpPr>
        <p:spPr>
          <a:xfrm>
            <a:off x="4315968" y="4315968"/>
            <a:ext cx="1188720" cy="301752"/>
          </a:xfrm>
          <a:prstGeom prst="roundRect">
            <a:avLst>
              <a:gd name="adj" fmla="val 20000"/>
            </a:avLst>
          </a:prstGeom>
          <a:solidFill>
            <a:srgbClr val="0B6B64"/>
          </a:solidFill>
          <a:ln w="0">
            <a:noFill/>
            <a:prstDash val="solid"/>
          </a:ln>
        </p:spPr>
        <p:txBody>
          <a:bodyPr/>
          <a:lstStyle/>
          <a:p>
            <a:endParaRPr lang="en-IN"/>
          </a:p>
        </p:txBody>
      </p:sp>
      <p:sp>
        <p:nvSpPr>
          <p:cNvPr id="801" name="Rectangle 802"/>
          <p:cNvSpPr>
            <a:spLocks noGrp="1"/>
          </p:cNvSpPr>
          <p:nvPr/>
        </p:nvSpPr>
        <p:spPr>
          <a:xfrm>
            <a:off x="4315968" y="4352544"/>
            <a:ext cx="1188720" cy="256032"/>
          </a:xfrm>
          <a:prstGeom prst="rect">
            <a:avLst/>
          </a:prstGeom>
          <a:noFill/>
          <a:ln w="0">
            <a:noFill/>
            <a:prstDash val="solid"/>
          </a:ln>
        </p:spPr>
        <p:txBody>
          <a:bodyPr lIns="0" tIns="0" rIns="0" bIns="0" anchor="t">
            <a:normAutofit/>
          </a:bodyPr>
          <a:lstStyle/>
          <a:p>
            <a:pPr algn="ctr">
              <a:lnSpc>
                <a:spcPct val="98000"/>
              </a:lnSpc>
              <a:buNone/>
              <a:defRPr sz="1000" b="1" i="0">
                <a:solidFill>
                  <a:srgbClr val="FFFFFF"/>
                </a:solidFill>
                <a:latin typeface="Segoe UI Semibold"/>
                <a:ea typeface="Segoe UI Semibold"/>
                <a:cs typeface="Segoe UI Semibold"/>
              </a:defRPr>
            </a:pPr>
            <a:r>
              <a:rPr sz="1000" b="1" i="0">
                <a:solidFill>
                  <a:srgbClr val="FFFFFF"/>
                </a:solidFill>
                <a:latin typeface="Segoe UI Semibold"/>
                <a:ea typeface="Segoe UI Semibold"/>
                <a:cs typeface="Segoe UI Semibold"/>
              </a:rPr>
              <a:t>SAC</a:t>
            </a:r>
          </a:p>
        </p:txBody>
      </p:sp>
      <p:sp>
        <p:nvSpPr>
          <p:cNvPr id="803" name="Rectangle 804"/>
          <p:cNvSpPr>
            <a:spLocks noGrp="1"/>
          </p:cNvSpPr>
          <p:nvPr/>
        </p:nvSpPr>
        <p:spPr>
          <a:xfrm>
            <a:off x="4315968" y="4773168"/>
            <a:ext cx="3474720" cy="1005840"/>
          </a:xfrm>
          <a:prstGeom prst="rect">
            <a:avLst/>
          </a:prstGeom>
          <a:noFill/>
          <a:ln w="0">
            <a:noFill/>
            <a:prstDash val="solid"/>
          </a:ln>
        </p:spPr>
        <p:txBody>
          <a:bodyPr lIns="0" tIns="0" rIns="0" bIns="0" anchor="t">
            <a:normAutofit/>
          </a:bodyPr>
          <a:lstStyle/>
          <a:p>
            <a:pPr algn="l">
              <a:lnSpc>
                <a:spcPct val="98000"/>
              </a:lnSpc>
              <a:buNone/>
              <a:defRPr sz="1350" b="0" i="0">
                <a:solidFill>
                  <a:srgbClr val="18232F"/>
                </a:solidFill>
                <a:latin typeface="Segoe UI"/>
                <a:ea typeface="Segoe UI"/>
                <a:cs typeface="Segoe UI"/>
              </a:defRPr>
            </a:pPr>
            <a:r>
              <a:rPr sz="1350" b="0" i="0">
                <a:solidFill>
                  <a:srgbClr val="18232F"/>
                </a:solidFill>
                <a:latin typeface="Segoe UI"/>
                <a:ea typeface="Segoe UI"/>
                <a:cs typeface="Segoe UI"/>
              </a:rPr>
              <a:t>Holds a steady walk to the last attempt, 995 steps and 0.99 m/s.</a:t>
            </a:r>
          </a:p>
        </p:txBody>
      </p:sp>
      <p:sp>
        <p:nvSpPr>
          <p:cNvPr id="805" name="Shape 806"/>
          <p:cNvSpPr>
            <a:spLocks noGrp="1"/>
          </p:cNvSpPr>
          <p:nvPr/>
        </p:nvSpPr>
        <p:spPr>
          <a:xfrm>
            <a:off x="7946136" y="2048256"/>
            <a:ext cx="3474720" cy="2157984"/>
          </a:xfrm>
          <a:prstGeom prst="roundRect">
            <a:avLst>
              <a:gd name="adj" fmla="val 5000"/>
            </a:avLst>
          </a:prstGeom>
          <a:solidFill>
            <a:srgbClr val="FFFFFF"/>
          </a:solidFill>
          <a:ln w="9525">
            <a:solidFill>
              <a:srgbClr val="D5DAD6"/>
            </a:solidFill>
            <a:prstDash val="solid"/>
          </a:ln>
        </p:spPr>
        <p:txBody>
          <a:bodyPr/>
          <a:lstStyle/>
          <a:p>
            <a:endParaRPr lang="en-IN"/>
          </a:p>
        </p:txBody>
      </p:sp>
      <p:pic>
        <p:nvPicPr>
          <p:cNvPr id="807" name="Video 808">
            <a:hlinkClick xmlns:r="http://schemas.openxmlformats.org/officeDocument/2006/relationships" r:id="" action="ppaction://media"/>
          </p:cNvPr>
          <p:cNvPicPr>
            <a:picLocks noChangeAspect="1"/>
          </p:cNvPicPr>
          <p:nvPr>
            <a:videoFile r:link="rId9"/>
            <p:extLst>
              <p:ext uri="{DAA4B4D4-6D71-4841-9C94-3DE7FCFB9230}">
                <p14:media xmlns:p14="http://schemas.microsoft.com/office/powerpoint/2010/main" r:embed="rId10"/>
              </p:ext>
            </p:extLst>
          </p:nvPr>
        </p:nvPicPr>
        <p:blipFill>
          <a:blip r:embed="rId8"/>
          <a:stretch>
            <a:fillRect/>
          </a:stretch>
        </p:blipFill>
        <p:spPr>
          <a:xfrm>
            <a:off x="8001000" y="2103120"/>
            <a:ext cx="3364992" cy="1892808"/>
          </a:xfrm>
          <a:prstGeom prst="roundRect">
            <a:avLst>
              <a:gd name="adj" fmla="val 4000"/>
            </a:avLst>
          </a:prstGeom>
        </p:spPr>
      </p:pic>
      <p:sp>
        <p:nvSpPr>
          <p:cNvPr id="809" name="Shape 810"/>
          <p:cNvSpPr>
            <a:spLocks noGrp="1"/>
          </p:cNvSpPr>
          <p:nvPr/>
        </p:nvSpPr>
        <p:spPr>
          <a:xfrm>
            <a:off x="7946136" y="4315968"/>
            <a:ext cx="1188720" cy="301752"/>
          </a:xfrm>
          <a:prstGeom prst="roundRect">
            <a:avLst>
              <a:gd name="adj" fmla="val 20000"/>
            </a:avLst>
          </a:prstGeom>
          <a:solidFill>
            <a:srgbClr val="B8502A"/>
          </a:solidFill>
          <a:ln w="0">
            <a:noFill/>
            <a:prstDash val="solid"/>
          </a:ln>
        </p:spPr>
        <p:txBody>
          <a:bodyPr/>
          <a:lstStyle/>
          <a:p>
            <a:endParaRPr lang="en-IN"/>
          </a:p>
        </p:txBody>
      </p:sp>
      <p:sp>
        <p:nvSpPr>
          <p:cNvPr id="811" name="Rectangle 812"/>
          <p:cNvSpPr>
            <a:spLocks noGrp="1"/>
          </p:cNvSpPr>
          <p:nvPr/>
        </p:nvSpPr>
        <p:spPr>
          <a:xfrm>
            <a:off x="7946136" y="4352544"/>
            <a:ext cx="1188720" cy="256032"/>
          </a:xfrm>
          <a:prstGeom prst="rect">
            <a:avLst/>
          </a:prstGeom>
          <a:noFill/>
          <a:ln w="0">
            <a:noFill/>
            <a:prstDash val="solid"/>
          </a:ln>
        </p:spPr>
        <p:txBody>
          <a:bodyPr lIns="0" tIns="0" rIns="0" bIns="0" anchor="t">
            <a:normAutofit/>
          </a:bodyPr>
          <a:lstStyle/>
          <a:p>
            <a:pPr algn="ctr">
              <a:lnSpc>
                <a:spcPct val="98000"/>
              </a:lnSpc>
              <a:buNone/>
              <a:defRPr sz="1000" b="1" i="0">
                <a:solidFill>
                  <a:srgbClr val="FFFFFF"/>
                </a:solidFill>
                <a:latin typeface="Segoe UI Semibold"/>
                <a:ea typeface="Segoe UI Semibold"/>
                <a:cs typeface="Segoe UI Semibold"/>
              </a:defRPr>
            </a:pPr>
            <a:r>
              <a:rPr sz="1000" b="1" i="0">
                <a:solidFill>
                  <a:srgbClr val="FFFFFF"/>
                </a:solidFill>
                <a:latin typeface="Segoe UI Semibold"/>
                <a:ea typeface="Segoe UI Semibold"/>
                <a:cs typeface="Segoe UI Semibold"/>
              </a:rPr>
              <a:t>TD3</a:t>
            </a:r>
          </a:p>
        </p:txBody>
      </p:sp>
      <p:sp>
        <p:nvSpPr>
          <p:cNvPr id="813" name="Rectangle 814"/>
          <p:cNvSpPr>
            <a:spLocks noGrp="1"/>
          </p:cNvSpPr>
          <p:nvPr/>
        </p:nvSpPr>
        <p:spPr>
          <a:xfrm>
            <a:off x="7946136" y="4773168"/>
            <a:ext cx="3474720" cy="1005840"/>
          </a:xfrm>
          <a:prstGeom prst="rect">
            <a:avLst/>
          </a:prstGeom>
          <a:noFill/>
          <a:ln w="0">
            <a:noFill/>
            <a:prstDash val="solid"/>
          </a:ln>
        </p:spPr>
        <p:txBody>
          <a:bodyPr lIns="0" tIns="0" rIns="0" bIns="0" anchor="t">
            <a:normAutofit/>
          </a:bodyPr>
          <a:lstStyle/>
          <a:p>
            <a:pPr algn="l">
              <a:lnSpc>
                <a:spcPct val="98000"/>
              </a:lnSpc>
              <a:buNone/>
              <a:defRPr sz="1350" b="0" i="0">
                <a:solidFill>
                  <a:srgbClr val="18232F"/>
                </a:solidFill>
                <a:latin typeface="Segoe UI"/>
                <a:ea typeface="Segoe UI"/>
                <a:cs typeface="Segoe UI"/>
              </a:defRPr>
            </a:pPr>
            <a:r>
              <a:rPr sz="1350" b="0" i="0">
                <a:solidFill>
                  <a:srgbClr val="18232F"/>
                </a:solidFill>
                <a:latin typeface="Segoe UI"/>
                <a:ea typeface="Segoe UI"/>
                <a:cs typeface="Segoe UI"/>
              </a:rPr>
              <a:t>Best walk of the three at 24M steps, then slides back to 809.</a:t>
            </a:r>
          </a:p>
        </p:txBody>
      </p:sp>
      <p:sp>
        <p:nvSpPr>
          <p:cNvPr id="815" name="Rectangle 816"/>
          <p:cNvSpPr>
            <a:spLocks noGrp="1"/>
          </p:cNvSpPr>
          <p:nvPr/>
        </p:nvSpPr>
        <p:spPr>
          <a:xfrm>
            <a:off x="722376" y="6053328"/>
            <a:ext cx="10780776" cy="365760"/>
          </a:xfrm>
          <a:prstGeom prst="rect">
            <a:avLst/>
          </a:prstGeom>
          <a:noFill/>
          <a:ln w="0">
            <a:noFill/>
            <a:prstDash val="solid"/>
          </a:ln>
        </p:spPr>
        <p:txBody>
          <a:bodyPr lIns="0" tIns="0" rIns="0" bIns="0" anchor="t">
            <a:normAutofit/>
          </a:bodyPr>
          <a:lstStyle/>
          <a:p>
            <a:pPr algn="l">
              <a:lnSpc>
                <a:spcPct val="98000"/>
              </a:lnSpc>
              <a:buNone/>
              <a:defRPr sz="1275" b="0" i="0">
                <a:solidFill>
                  <a:srgbClr val="5B6670"/>
                </a:solidFill>
                <a:latin typeface="Segoe UI"/>
                <a:ea typeface="Segoe UI"/>
                <a:cs typeface="Segoe UI"/>
              </a:defRPr>
            </a:pPr>
            <a:r>
              <a:rPr sz="1275" b="0" i="0">
                <a:solidFill>
                  <a:srgbClr val="5B6670"/>
                </a:solidFill>
                <a:latin typeface="Segoe UI"/>
                <a:ea typeface="Segoe UI"/>
                <a:cs typeface="Segoe UI"/>
              </a:rPr>
              <a:t>Click any frame during the talk to play the recording.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817" name="Rectangle 818"/>
          <p:cNvSpPr>
            <a:spLocks noGrp="1"/>
          </p:cNvSpPr>
          <p:nvPr/>
        </p:nvSpPr>
        <p:spPr>
          <a:xfrm>
            <a:off x="11109960" y="265176"/>
            <a:ext cx="402336" cy="228600"/>
          </a:xfrm>
          <a:prstGeom prst="rect">
            <a:avLst/>
          </a:prstGeom>
          <a:noFill/>
          <a:ln w="0">
            <a:noFill/>
            <a:prstDash val="solid"/>
          </a:ln>
        </p:spPr>
        <p:txBody>
          <a:bodyPr lIns="0" tIns="0" rIns="0" bIns="0" anchor="t">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29</a:t>
            </a:r>
          </a:p>
        </p:txBody>
      </p:sp>
      <p:sp>
        <p:nvSpPr>
          <p:cNvPr id="819" name="Rectangle 820"/>
          <p:cNvSpPr>
            <a:spLocks noGrp="1"/>
          </p:cNvSpPr>
          <p:nvPr/>
        </p:nvSpPr>
        <p:spPr>
          <a:xfrm>
            <a:off x="685800" y="713232"/>
            <a:ext cx="10817352" cy="804672"/>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Unitree Go1, galloping reward</a:t>
            </a:r>
          </a:p>
        </p:txBody>
      </p:sp>
      <p:sp>
        <p:nvSpPr>
          <p:cNvPr id="821" name="Shape 822"/>
          <p:cNvSpPr>
            <a:spLocks noGrp="1"/>
          </p:cNvSpPr>
          <p:nvPr/>
        </p:nvSpPr>
        <p:spPr>
          <a:xfrm>
            <a:off x="685800" y="6455664"/>
            <a:ext cx="10817352" cy="9510"/>
          </a:xfrm>
          <a:prstGeom prst="rect">
            <a:avLst/>
          </a:prstGeom>
          <a:solidFill>
            <a:srgbClr val="D5DAD6"/>
          </a:solidFill>
          <a:ln w="0">
            <a:noFill/>
            <a:prstDash val="solid"/>
          </a:ln>
        </p:spPr>
        <p:txBody>
          <a:bodyPr/>
          <a:lstStyle/>
          <a:p>
            <a:endParaRPr lang="en-IN"/>
          </a:p>
        </p:txBody>
      </p:sp>
      <p:sp>
        <p:nvSpPr>
          <p:cNvPr id="823" name="Rectangle 824"/>
          <p:cNvSpPr>
            <a:spLocks noGrp="1"/>
          </p:cNvSpPr>
          <p:nvPr/>
        </p:nvSpPr>
        <p:spPr>
          <a:xfrm>
            <a:off x="722376" y="1700784"/>
            <a:ext cx="10780776" cy="274320"/>
          </a:xfrm>
          <a:prstGeom prst="rect">
            <a:avLst/>
          </a:prstGeom>
          <a:noFill/>
          <a:ln w="0">
            <a:noFill/>
            <a:prstDash val="solid"/>
          </a:ln>
        </p:spPr>
        <p:txBody>
          <a:bodyPr lIns="0" tIns="0" rIns="0" bIns="0" anchor="t">
            <a:normAutofit/>
          </a:bodyPr>
          <a:lstStyle/>
          <a:p>
            <a:pPr algn="l">
              <a:lnSpc>
                <a:spcPct val="98000"/>
              </a:lnSpc>
              <a:buNone/>
              <a:defRPr sz="1275" b="1" i="0">
                <a:solidFill>
                  <a:srgbClr val="5B6670"/>
                </a:solidFill>
                <a:latin typeface="Segoe UI Semibold"/>
                <a:ea typeface="Segoe UI Semibold"/>
                <a:cs typeface="Segoe UI Semibold"/>
              </a:defRPr>
            </a:pPr>
            <a:r>
              <a:rPr sz="1275" b="1" i="0">
                <a:solidFill>
                  <a:srgbClr val="5B6670"/>
                </a:solidFill>
                <a:latin typeface="Segoe UI Semibold"/>
                <a:ea typeface="Segoe UI Semibold"/>
                <a:cs typeface="Segoe UI Semibold"/>
              </a:rPr>
              <a:t>The task is to leave the ground, not simply to move fast.</a:t>
            </a:r>
          </a:p>
        </p:txBody>
      </p:sp>
      <p:sp>
        <p:nvSpPr>
          <p:cNvPr id="825" name="Shape 826"/>
          <p:cNvSpPr>
            <a:spLocks noGrp="1"/>
          </p:cNvSpPr>
          <p:nvPr/>
        </p:nvSpPr>
        <p:spPr>
          <a:xfrm>
            <a:off x="685800" y="2048256"/>
            <a:ext cx="3474720" cy="2157984"/>
          </a:xfrm>
          <a:prstGeom prst="roundRect">
            <a:avLst>
              <a:gd name="adj" fmla="val 5000"/>
            </a:avLst>
          </a:prstGeom>
          <a:solidFill>
            <a:srgbClr val="FFFFFF"/>
          </a:solidFill>
          <a:ln w="9525">
            <a:solidFill>
              <a:srgbClr val="D5DAD6"/>
            </a:solidFill>
            <a:prstDash val="solid"/>
          </a:ln>
        </p:spPr>
        <p:txBody>
          <a:bodyPr/>
          <a:lstStyle/>
          <a:p>
            <a:endParaRPr lang="en-IN"/>
          </a:p>
        </p:txBody>
      </p:sp>
      <p:pic>
        <p:nvPicPr>
          <p:cNvPr id="827" name="Video 828">
            <a:hlinkClick xmlns:r="http://schemas.openxmlformats.org/officeDocument/2006/relationships"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2"/>
          <a:stretch>
            <a:fillRect/>
          </a:stretch>
        </p:blipFill>
        <p:spPr>
          <a:xfrm>
            <a:off x="740664" y="2103120"/>
            <a:ext cx="3364992" cy="1892808"/>
          </a:xfrm>
          <a:prstGeom prst="roundRect">
            <a:avLst>
              <a:gd name="adj" fmla="val 4000"/>
            </a:avLst>
          </a:prstGeom>
        </p:spPr>
      </p:pic>
      <p:sp>
        <p:nvSpPr>
          <p:cNvPr id="829" name="Shape 830"/>
          <p:cNvSpPr>
            <a:spLocks noGrp="1"/>
          </p:cNvSpPr>
          <p:nvPr/>
        </p:nvSpPr>
        <p:spPr>
          <a:xfrm>
            <a:off x="685800" y="4315968"/>
            <a:ext cx="1188720" cy="301752"/>
          </a:xfrm>
          <a:prstGeom prst="roundRect">
            <a:avLst>
              <a:gd name="adj" fmla="val 20000"/>
            </a:avLst>
          </a:prstGeom>
          <a:solidFill>
            <a:srgbClr val="5B6670"/>
          </a:solidFill>
          <a:ln w="0">
            <a:noFill/>
            <a:prstDash val="solid"/>
          </a:ln>
        </p:spPr>
        <p:txBody>
          <a:bodyPr/>
          <a:lstStyle/>
          <a:p>
            <a:endParaRPr lang="en-IN"/>
          </a:p>
        </p:txBody>
      </p:sp>
      <p:sp>
        <p:nvSpPr>
          <p:cNvPr id="831" name="Rectangle 832"/>
          <p:cNvSpPr>
            <a:spLocks noGrp="1"/>
          </p:cNvSpPr>
          <p:nvPr/>
        </p:nvSpPr>
        <p:spPr>
          <a:xfrm>
            <a:off x="685800" y="4352544"/>
            <a:ext cx="1188720" cy="256032"/>
          </a:xfrm>
          <a:prstGeom prst="rect">
            <a:avLst/>
          </a:prstGeom>
          <a:noFill/>
          <a:ln w="0">
            <a:noFill/>
            <a:prstDash val="solid"/>
          </a:ln>
        </p:spPr>
        <p:txBody>
          <a:bodyPr lIns="0" tIns="0" rIns="0" bIns="0" anchor="t">
            <a:normAutofit/>
          </a:bodyPr>
          <a:lstStyle/>
          <a:p>
            <a:pPr algn="ctr">
              <a:lnSpc>
                <a:spcPct val="98000"/>
              </a:lnSpc>
              <a:buNone/>
              <a:defRPr sz="1000" b="1" i="0">
                <a:solidFill>
                  <a:srgbClr val="FFFFFF"/>
                </a:solidFill>
                <a:latin typeface="Segoe UI Semibold"/>
                <a:ea typeface="Segoe UI Semibold"/>
                <a:cs typeface="Segoe UI Semibold"/>
              </a:defRPr>
            </a:pPr>
            <a:r>
              <a:rPr sz="1000" b="1" i="0">
                <a:solidFill>
                  <a:srgbClr val="FFFFFF"/>
                </a:solidFill>
                <a:latin typeface="Segoe UI Semibold"/>
                <a:ea typeface="Segoe UI Semibold"/>
                <a:cs typeface="Segoe UI Semibold"/>
              </a:rPr>
              <a:t>PPO</a:t>
            </a:r>
          </a:p>
        </p:txBody>
      </p:sp>
      <p:sp>
        <p:nvSpPr>
          <p:cNvPr id="833" name="Rectangle 834"/>
          <p:cNvSpPr>
            <a:spLocks noGrp="1"/>
          </p:cNvSpPr>
          <p:nvPr/>
        </p:nvSpPr>
        <p:spPr>
          <a:xfrm>
            <a:off x="685800" y="4773168"/>
            <a:ext cx="3474720" cy="1005840"/>
          </a:xfrm>
          <a:prstGeom prst="rect">
            <a:avLst/>
          </a:prstGeom>
          <a:noFill/>
          <a:ln w="0">
            <a:noFill/>
            <a:prstDash val="solid"/>
          </a:ln>
        </p:spPr>
        <p:txBody>
          <a:bodyPr lIns="0" tIns="0" rIns="0" bIns="0" anchor="t">
            <a:normAutofit/>
          </a:bodyPr>
          <a:lstStyle/>
          <a:p>
            <a:pPr algn="l">
              <a:lnSpc>
                <a:spcPct val="98000"/>
              </a:lnSpc>
              <a:buNone/>
              <a:defRPr sz="1350" b="0" i="0">
                <a:solidFill>
                  <a:srgbClr val="18232F"/>
                </a:solidFill>
                <a:latin typeface="Segoe UI"/>
                <a:ea typeface="Segoe UI"/>
                <a:cs typeface="Segoe UI"/>
              </a:defRPr>
            </a:pPr>
            <a:r>
              <a:rPr sz="1350" b="0" i="0">
                <a:solidFill>
                  <a:srgbClr val="18232F"/>
                </a:solidFill>
                <a:latin typeface="Segoe UI"/>
                <a:ea typeface="Segoe UI"/>
                <a:cs typeface="Segoe UI"/>
              </a:rPr>
              <a:t>1.38 m/s with 43% of the stride airborne. A real gallop.</a:t>
            </a:r>
          </a:p>
        </p:txBody>
      </p:sp>
      <p:sp>
        <p:nvSpPr>
          <p:cNvPr id="835" name="Shape 836"/>
          <p:cNvSpPr>
            <a:spLocks noGrp="1"/>
          </p:cNvSpPr>
          <p:nvPr/>
        </p:nvSpPr>
        <p:spPr>
          <a:xfrm>
            <a:off x="4315968" y="2048256"/>
            <a:ext cx="3474720" cy="2157984"/>
          </a:xfrm>
          <a:prstGeom prst="roundRect">
            <a:avLst>
              <a:gd name="adj" fmla="val 5000"/>
            </a:avLst>
          </a:prstGeom>
          <a:solidFill>
            <a:srgbClr val="FFFFFF"/>
          </a:solidFill>
          <a:ln w="9525">
            <a:solidFill>
              <a:srgbClr val="D5DAD6"/>
            </a:solidFill>
            <a:prstDash val="solid"/>
          </a:ln>
        </p:spPr>
        <p:txBody>
          <a:bodyPr/>
          <a:lstStyle/>
          <a:p>
            <a:endParaRPr lang="en-IN"/>
          </a:p>
        </p:txBody>
      </p:sp>
      <p:pic>
        <p:nvPicPr>
          <p:cNvPr id="837" name="Video 838">
            <a:hlinkClick xmlns:r="http://schemas.openxmlformats.org/officeDocument/2006/relationships" r:id="" action="ppaction://media"/>
          </p:cNvPr>
          <p:cNvPicPr>
            <a:picLocks noChangeAspect="1"/>
          </p:cNvPicPr>
          <p:nvPr>
            <a:videoFile r:link="rId6"/>
            <p:extLst>
              <p:ext uri="{DAA4B4D4-6D71-4841-9C94-3DE7FCFB9230}">
                <p14:media xmlns:p14="http://schemas.microsoft.com/office/powerpoint/2010/main" r:embed="rId7"/>
              </p:ext>
            </p:extLst>
          </p:nvPr>
        </p:nvPicPr>
        <p:blipFill>
          <a:blip r:embed="rId5"/>
          <a:stretch>
            <a:fillRect/>
          </a:stretch>
        </p:blipFill>
        <p:spPr>
          <a:xfrm>
            <a:off x="4370832" y="2103120"/>
            <a:ext cx="3364992" cy="1892808"/>
          </a:xfrm>
          <a:prstGeom prst="roundRect">
            <a:avLst>
              <a:gd name="adj" fmla="val 4000"/>
            </a:avLst>
          </a:prstGeom>
        </p:spPr>
      </p:pic>
      <p:sp>
        <p:nvSpPr>
          <p:cNvPr id="839" name="Shape 840"/>
          <p:cNvSpPr>
            <a:spLocks noGrp="1"/>
          </p:cNvSpPr>
          <p:nvPr/>
        </p:nvSpPr>
        <p:spPr>
          <a:xfrm>
            <a:off x="4315968" y="4315968"/>
            <a:ext cx="1188720" cy="301752"/>
          </a:xfrm>
          <a:prstGeom prst="roundRect">
            <a:avLst>
              <a:gd name="adj" fmla="val 20000"/>
            </a:avLst>
          </a:prstGeom>
          <a:solidFill>
            <a:srgbClr val="0B6B64"/>
          </a:solidFill>
          <a:ln w="0">
            <a:noFill/>
            <a:prstDash val="solid"/>
          </a:ln>
        </p:spPr>
        <p:txBody>
          <a:bodyPr/>
          <a:lstStyle/>
          <a:p>
            <a:endParaRPr lang="en-IN"/>
          </a:p>
        </p:txBody>
      </p:sp>
      <p:sp>
        <p:nvSpPr>
          <p:cNvPr id="841" name="Rectangle 842"/>
          <p:cNvSpPr>
            <a:spLocks noGrp="1"/>
          </p:cNvSpPr>
          <p:nvPr/>
        </p:nvSpPr>
        <p:spPr>
          <a:xfrm>
            <a:off x="4315968" y="4352544"/>
            <a:ext cx="1188720" cy="256032"/>
          </a:xfrm>
          <a:prstGeom prst="rect">
            <a:avLst/>
          </a:prstGeom>
          <a:noFill/>
          <a:ln w="0">
            <a:noFill/>
            <a:prstDash val="solid"/>
          </a:ln>
        </p:spPr>
        <p:txBody>
          <a:bodyPr lIns="0" tIns="0" rIns="0" bIns="0" anchor="t">
            <a:normAutofit/>
          </a:bodyPr>
          <a:lstStyle/>
          <a:p>
            <a:pPr algn="ctr">
              <a:lnSpc>
                <a:spcPct val="98000"/>
              </a:lnSpc>
              <a:buNone/>
              <a:defRPr sz="1000" b="1" i="0">
                <a:solidFill>
                  <a:srgbClr val="FFFFFF"/>
                </a:solidFill>
                <a:latin typeface="Segoe UI Semibold"/>
                <a:ea typeface="Segoe UI Semibold"/>
                <a:cs typeface="Segoe UI Semibold"/>
              </a:defRPr>
            </a:pPr>
            <a:r>
              <a:rPr sz="1000" b="1" i="0">
                <a:solidFill>
                  <a:srgbClr val="FFFFFF"/>
                </a:solidFill>
                <a:latin typeface="Segoe UI Semibold"/>
                <a:ea typeface="Segoe UI Semibold"/>
                <a:cs typeface="Segoe UI Semibold"/>
              </a:rPr>
              <a:t>SAC</a:t>
            </a:r>
          </a:p>
        </p:txBody>
      </p:sp>
      <p:sp>
        <p:nvSpPr>
          <p:cNvPr id="843" name="Rectangle 844"/>
          <p:cNvSpPr>
            <a:spLocks noGrp="1"/>
          </p:cNvSpPr>
          <p:nvPr/>
        </p:nvSpPr>
        <p:spPr>
          <a:xfrm>
            <a:off x="4315968" y="4773168"/>
            <a:ext cx="3474720" cy="1005840"/>
          </a:xfrm>
          <a:prstGeom prst="rect">
            <a:avLst/>
          </a:prstGeom>
          <a:noFill/>
          <a:ln w="0">
            <a:noFill/>
            <a:prstDash val="solid"/>
          </a:ln>
        </p:spPr>
        <p:txBody>
          <a:bodyPr lIns="0" tIns="0" rIns="0" bIns="0" anchor="t">
            <a:normAutofit/>
          </a:bodyPr>
          <a:lstStyle/>
          <a:p>
            <a:pPr algn="l">
              <a:lnSpc>
                <a:spcPct val="98000"/>
              </a:lnSpc>
              <a:buNone/>
              <a:defRPr sz="1350" b="0" i="0">
                <a:solidFill>
                  <a:srgbClr val="18232F"/>
                </a:solidFill>
                <a:latin typeface="Segoe UI"/>
                <a:ea typeface="Segoe UI"/>
                <a:cs typeface="Segoe UI"/>
              </a:defRPr>
            </a:pPr>
            <a:r>
              <a:rPr sz="1350" b="0" i="0">
                <a:solidFill>
                  <a:srgbClr val="18232F"/>
                </a:solidFill>
                <a:latin typeface="Segoe UI"/>
                <a:ea typeface="Segoe UI"/>
                <a:cs typeface="Segoe UI"/>
              </a:rPr>
              <a:t>1.52 m/s and 52% airborne: the clearest gallop we trained.</a:t>
            </a:r>
          </a:p>
        </p:txBody>
      </p:sp>
      <p:sp>
        <p:nvSpPr>
          <p:cNvPr id="845" name="Shape 846"/>
          <p:cNvSpPr>
            <a:spLocks noGrp="1"/>
          </p:cNvSpPr>
          <p:nvPr/>
        </p:nvSpPr>
        <p:spPr>
          <a:xfrm>
            <a:off x="7946136" y="2048256"/>
            <a:ext cx="3474720" cy="2157984"/>
          </a:xfrm>
          <a:prstGeom prst="roundRect">
            <a:avLst>
              <a:gd name="adj" fmla="val 5000"/>
            </a:avLst>
          </a:prstGeom>
          <a:solidFill>
            <a:srgbClr val="FFFFFF"/>
          </a:solidFill>
          <a:ln w="9525">
            <a:solidFill>
              <a:srgbClr val="D5DAD6"/>
            </a:solidFill>
            <a:prstDash val="solid"/>
          </a:ln>
        </p:spPr>
        <p:txBody>
          <a:bodyPr/>
          <a:lstStyle/>
          <a:p>
            <a:endParaRPr lang="en-IN"/>
          </a:p>
        </p:txBody>
      </p:sp>
      <p:pic>
        <p:nvPicPr>
          <p:cNvPr id="847" name="Video 848">
            <a:hlinkClick xmlns:r="http://schemas.openxmlformats.org/officeDocument/2006/relationships" r:id="" action="ppaction://media"/>
          </p:cNvPr>
          <p:cNvPicPr>
            <a:picLocks noChangeAspect="1"/>
          </p:cNvPicPr>
          <p:nvPr>
            <a:videoFile r:link="rId9"/>
            <p:extLst>
              <p:ext uri="{DAA4B4D4-6D71-4841-9C94-3DE7FCFB9230}">
                <p14:media xmlns:p14="http://schemas.microsoft.com/office/powerpoint/2010/main" r:embed="rId10"/>
              </p:ext>
            </p:extLst>
          </p:nvPr>
        </p:nvPicPr>
        <p:blipFill>
          <a:blip r:embed="rId8"/>
          <a:stretch>
            <a:fillRect/>
          </a:stretch>
        </p:blipFill>
        <p:spPr>
          <a:xfrm>
            <a:off x="8001000" y="2103120"/>
            <a:ext cx="3364992" cy="1892808"/>
          </a:xfrm>
          <a:prstGeom prst="roundRect">
            <a:avLst>
              <a:gd name="adj" fmla="val 4000"/>
            </a:avLst>
          </a:prstGeom>
        </p:spPr>
      </p:pic>
      <p:sp>
        <p:nvSpPr>
          <p:cNvPr id="849" name="Shape 850"/>
          <p:cNvSpPr>
            <a:spLocks noGrp="1"/>
          </p:cNvSpPr>
          <p:nvPr/>
        </p:nvSpPr>
        <p:spPr>
          <a:xfrm>
            <a:off x="7946136" y="4315968"/>
            <a:ext cx="1188720" cy="301752"/>
          </a:xfrm>
          <a:prstGeom prst="roundRect">
            <a:avLst>
              <a:gd name="adj" fmla="val 20000"/>
            </a:avLst>
          </a:prstGeom>
          <a:solidFill>
            <a:srgbClr val="B8502A"/>
          </a:solidFill>
          <a:ln w="0">
            <a:noFill/>
            <a:prstDash val="solid"/>
          </a:ln>
        </p:spPr>
        <p:txBody>
          <a:bodyPr/>
          <a:lstStyle/>
          <a:p>
            <a:endParaRPr lang="en-IN"/>
          </a:p>
        </p:txBody>
      </p:sp>
      <p:sp>
        <p:nvSpPr>
          <p:cNvPr id="851" name="Rectangle 852"/>
          <p:cNvSpPr>
            <a:spLocks noGrp="1"/>
          </p:cNvSpPr>
          <p:nvPr/>
        </p:nvSpPr>
        <p:spPr>
          <a:xfrm>
            <a:off x="7946136" y="4352544"/>
            <a:ext cx="1188720" cy="256032"/>
          </a:xfrm>
          <a:prstGeom prst="rect">
            <a:avLst/>
          </a:prstGeom>
          <a:noFill/>
          <a:ln w="0">
            <a:noFill/>
            <a:prstDash val="solid"/>
          </a:ln>
        </p:spPr>
        <p:txBody>
          <a:bodyPr lIns="0" tIns="0" rIns="0" bIns="0" anchor="t">
            <a:normAutofit/>
          </a:bodyPr>
          <a:lstStyle/>
          <a:p>
            <a:pPr algn="ctr">
              <a:lnSpc>
                <a:spcPct val="98000"/>
              </a:lnSpc>
              <a:buNone/>
              <a:defRPr sz="1000" b="1" i="0">
                <a:solidFill>
                  <a:srgbClr val="FFFFFF"/>
                </a:solidFill>
                <a:latin typeface="Segoe UI Semibold"/>
                <a:ea typeface="Segoe UI Semibold"/>
                <a:cs typeface="Segoe UI Semibold"/>
              </a:defRPr>
            </a:pPr>
            <a:r>
              <a:rPr sz="1000" b="1" i="0">
                <a:solidFill>
                  <a:srgbClr val="FFFFFF"/>
                </a:solidFill>
                <a:latin typeface="Segoe UI Semibold"/>
                <a:ea typeface="Segoe UI Semibold"/>
                <a:cs typeface="Segoe UI Semibold"/>
              </a:rPr>
              <a:t>TD3</a:t>
            </a:r>
          </a:p>
        </p:txBody>
      </p:sp>
      <p:sp>
        <p:nvSpPr>
          <p:cNvPr id="853" name="Rectangle 854"/>
          <p:cNvSpPr>
            <a:spLocks noGrp="1"/>
          </p:cNvSpPr>
          <p:nvPr/>
        </p:nvSpPr>
        <p:spPr>
          <a:xfrm>
            <a:off x="7946136" y="4773168"/>
            <a:ext cx="3474720" cy="1005840"/>
          </a:xfrm>
          <a:prstGeom prst="rect">
            <a:avLst/>
          </a:prstGeom>
          <a:noFill/>
          <a:ln w="0">
            <a:noFill/>
            <a:prstDash val="solid"/>
          </a:ln>
        </p:spPr>
        <p:txBody>
          <a:bodyPr lIns="0" tIns="0" rIns="0" bIns="0" anchor="t">
            <a:normAutofit/>
          </a:bodyPr>
          <a:lstStyle/>
          <a:p>
            <a:pPr algn="l">
              <a:lnSpc>
                <a:spcPct val="98000"/>
              </a:lnSpc>
              <a:buNone/>
              <a:defRPr sz="1350" b="0" i="0">
                <a:solidFill>
                  <a:srgbClr val="18232F"/>
                </a:solidFill>
                <a:latin typeface="Segoe UI"/>
                <a:ea typeface="Segoe UI"/>
                <a:cs typeface="Segoe UI"/>
              </a:defRPr>
            </a:pPr>
            <a:r>
              <a:rPr sz="1350" b="0" i="0">
                <a:solidFill>
                  <a:srgbClr val="18232F"/>
                </a:solidFill>
                <a:latin typeface="Segoe UI"/>
                <a:ea typeface="Segoe UI"/>
                <a:cs typeface="Segoe UI"/>
              </a:rPr>
              <a:t>Fastest at 1.65 m/s, but only 29% airborne. This is a quick trot.</a:t>
            </a:r>
          </a:p>
        </p:txBody>
      </p:sp>
      <p:sp>
        <p:nvSpPr>
          <p:cNvPr id="855" name="Rectangle 856"/>
          <p:cNvSpPr>
            <a:spLocks noGrp="1"/>
          </p:cNvSpPr>
          <p:nvPr/>
        </p:nvSpPr>
        <p:spPr>
          <a:xfrm>
            <a:off x="722376" y="6053328"/>
            <a:ext cx="10780776" cy="365760"/>
          </a:xfrm>
          <a:prstGeom prst="rect">
            <a:avLst/>
          </a:prstGeom>
          <a:noFill/>
          <a:ln w="0">
            <a:noFill/>
            <a:prstDash val="solid"/>
          </a:ln>
        </p:spPr>
        <p:txBody>
          <a:bodyPr lIns="0" tIns="0" rIns="0" bIns="0" anchor="t">
            <a:normAutofit/>
          </a:bodyPr>
          <a:lstStyle/>
          <a:p>
            <a:pPr algn="l">
              <a:lnSpc>
                <a:spcPct val="98000"/>
              </a:lnSpc>
              <a:buNone/>
              <a:defRPr sz="1275" b="0" i="0">
                <a:solidFill>
                  <a:srgbClr val="5B6670"/>
                </a:solidFill>
                <a:latin typeface="Segoe UI"/>
                <a:ea typeface="Segoe UI"/>
                <a:cs typeface="Segoe UI"/>
              </a:defRPr>
            </a:pPr>
            <a:r>
              <a:rPr sz="1275" b="0" i="0">
                <a:solidFill>
                  <a:srgbClr val="5B6670"/>
                </a:solidFill>
                <a:latin typeface="Segoe UI"/>
                <a:ea typeface="Segoe UI"/>
                <a:cs typeface="Segoe UI"/>
              </a:rPr>
              <a:t>Click any frame during the talk to play the recording.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857" name="Rectangle 858"/>
          <p:cNvSpPr>
            <a:spLocks noGrp="1"/>
          </p:cNvSpPr>
          <p:nvPr/>
        </p:nvSpPr>
        <p:spPr>
          <a:xfrm>
            <a:off x="11109960" y="265176"/>
            <a:ext cx="402336" cy="228600"/>
          </a:xfrm>
          <a:prstGeom prst="rect">
            <a:avLst/>
          </a:prstGeom>
          <a:noFill/>
          <a:ln w="0">
            <a:noFill/>
            <a:prstDash val="solid"/>
          </a:ln>
        </p:spPr>
        <p:txBody>
          <a:bodyPr lIns="0" tIns="0" rIns="0" bIns="0" anchor="t">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30</a:t>
            </a:r>
          </a:p>
        </p:txBody>
      </p:sp>
      <p:sp>
        <p:nvSpPr>
          <p:cNvPr id="859" name="Rectangle 860"/>
          <p:cNvSpPr>
            <a:spLocks noGrp="1"/>
          </p:cNvSpPr>
          <p:nvPr/>
        </p:nvSpPr>
        <p:spPr>
          <a:xfrm>
            <a:off x="685800" y="713232"/>
            <a:ext cx="10817352" cy="804672"/>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Valkyrie humanoid, walking forward</a:t>
            </a:r>
          </a:p>
        </p:txBody>
      </p:sp>
      <p:sp>
        <p:nvSpPr>
          <p:cNvPr id="861" name="Shape 862"/>
          <p:cNvSpPr>
            <a:spLocks noGrp="1"/>
          </p:cNvSpPr>
          <p:nvPr/>
        </p:nvSpPr>
        <p:spPr>
          <a:xfrm>
            <a:off x="685800" y="6455664"/>
            <a:ext cx="10817352" cy="9510"/>
          </a:xfrm>
          <a:prstGeom prst="rect">
            <a:avLst/>
          </a:prstGeom>
          <a:solidFill>
            <a:srgbClr val="D5DAD6"/>
          </a:solidFill>
          <a:ln w="0">
            <a:noFill/>
            <a:prstDash val="solid"/>
          </a:ln>
        </p:spPr>
        <p:txBody>
          <a:bodyPr/>
          <a:lstStyle/>
          <a:p>
            <a:endParaRPr lang="en-IN"/>
          </a:p>
        </p:txBody>
      </p:sp>
      <p:sp>
        <p:nvSpPr>
          <p:cNvPr id="863" name="Rectangle 864"/>
          <p:cNvSpPr>
            <a:spLocks noGrp="1"/>
          </p:cNvSpPr>
          <p:nvPr/>
        </p:nvSpPr>
        <p:spPr>
          <a:xfrm>
            <a:off x="722376" y="1700784"/>
            <a:ext cx="10780776" cy="274320"/>
          </a:xfrm>
          <a:prstGeom prst="rect">
            <a:avLst/>
          </a:prstGeom>
          <a:noFill/>
          <a:ln w="0">
            <a:noFill/>
            <a:prstDash val="solid"/>
          </a:ln>
        </p:spPr>
        <p:txBody>
          <a:bodyPr lIns="0" tIns="0" rIns="0" bIns="0" anchor="t">
            <a:normAutofit/>
          </a:bodyPr>
          <a:lstStyle/>
          <a:p>
            <a:pPr algn="l">
              <a:lnSpc>
                <a:spcPct val="98000"/>
              </a:lnSpc>
              <a:buNone/>
              <a:defRPr sz="1275" b="1" i="0">
                <a:solidFill>
                  <a:srgbClr val="5B6670"/>
                </a:solidFill>
                <a:latin typeface="Segoe UI Semibold"/>
                <a:ea typeface="Segoe UI Semibold"/>
                <a:cs typeface="Segoe UI Semibold"/>
              </a:defRPr>
            </a:pPr>
            <a:r>
              <a:rPr sz="1275" b="1" i="0">
                <a:solidFill>
                  <a:srgbClr val="5B6670"/>
                </a:solidFill>
                <a:latin typeface="Segoe UI Semibold"/>
                <a:ea typeface="Segoe UI Semibold"/>
                <a:cs typeface="Segoe UI Semibold"/>
              </a:rPr>
              <a:t>The hardest of the three tasks, and the one that separates the algorithms.</a:t>
            </a:r>
          </a:p>
        </p:txBody>
      </p:sp>
      <p:sp>
        <p:nvSpPr>
          <p:cNvPr id="865" name="Shape 866"/>
          <p:cNvSpPr>
            <a:spLocks noGrp="1"/>
          </p:cNvSpPr>
          <p:nvPr/>
        </p:nvSpPr>
        <p:spPr>
          <a:xfrm>
            <a:off x="685800" y="2048256"/>
            <a:ext cx="3474720" cy="2157984"/>
          </a:xfrm>
          <a:prstGeom prst="roundRect">
            <a:avLst>
              <a:gd name="adj" fmla="val 5000"/>
            </a:avLst>
          </a:prstGeom>
          <a:solidFill>
            <a:srgbClr val="FFFFFF"/>
          </a:solidFill>
          <a:ln w="9525">
            <a:solidFill>
              <a:srgbClr val="D5DAD6"/>
            </a:solidFill>
            <a:prstDash val="solid"/>
          </a:ln>
        </p:spPr>
        <p:txBody>
          <a:bodyPr/>
          <a:lstStyle/>
          <a:p>
            <a:endParaRPr lang="en-IN"/>
          </a:p>
        </p:txBody>
      </p:sp>
      <p:pic>
        <p:nvPicPr>
          <p:cNvPr id="867" name="Video 868">
            <a:hlinkClick xmlns:r="http://schemas.openxmlformats.org/officeDocument/2006/relationships"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2"/>
          <a:stretch>
            <a:fillRect/>
          </a:stretch>
        </p:blipFill>
        <p:spPr>
          <a:xfrm>
            <a:off x="740664" y="2103120"/>
            <a:ext cx="3364992" cy="1892808"/>
          </a:xfrm>
          <a:prstGeom prst="roundRect">
            <a:avLst>
              <a:gd name="adj" fmla="val 4000"/>
            </a:avLst>
          </a:prstGeom>
        </p:spPr>
      </p:pic>
      <p:sp>
        <p:nvSpPr>
          <p:cNvPr id="869" name="Shape 870"/>
          <p:cNvSpPr>
            <a:spLocks noGrp="1"/>
          </p:cNvSpPr>
          <p:nvPr/>
        </p:nvSpPr>
        <p:spPr>
          <a:xfrm>
            <a:off x="685800" y="4315968"/>
            <a:ext cx="1188720" cy="301752"/>
          </a:xfrm>
          <a:prstGeom prst="roundRect">
            <a:avLst>
              <a:gd name="adj" fmla="val 20000"/>
            </a:avLst>
          </a:prstGeom>
          <a:solidFill>
            <a:srgbClr val="5B6670"/>
          </a:solidFill>
          <a:ln w="0">
            <a:noFill/>
            <a:prstDash val="solid"/>
          </a:ln>
        </p:spPr>
        <p:txBody>
          <a:bodyPr/>
          <a:lstStyle/>
          <a:p>
            <a:endParaRPr lang="en-IN"/>
          </a:p>
        </p:txBody>
      </p:sp>
      <p:sp>
        <p:nvSpPr>
          <p:cNvPr id="871" name="Rectangle 872"/>
          <p:cNvSpPr>
            <a:spLocks noGrp="1"/>
          </p:cNvSpPr>
          <p:nvPr/>
        </p:nvSpPr>
        <p:spPr>
          <a:xfrm>
            <a:off x="685800" y="4352544"/>
            <a:ext cx="1188720" cy="256032"/>
          </a:xfrm>
          <a:prstGeom prst="rect">
            <a:avLst/>
          </a:prstGeom>
          <a:noFill/>
          <a:ln w="0">
            <a:noFill/>
            <a:prstDash val="solid"/>
          </a:ln>
        </p:spPr>
        <p:txBody>
          <a:bodyPr lIns="0" tIns="0" rIns="0" bIns="0" anchor="t">
            <a:normAutofit/>
          </a:bodyPr>
          <a:lstStyle/>
          <a:p>
            <a:pPr algn="ctr">
              <a:lnSpc>
                <a:spcPct val="98000"/>
              </a:lnSpc>
              <a:buNone/>
              <a:defRPr sz="1000" b="1" i="0">
                <a:solidFill>
                  <a:srgbClr val="FFFFFF"/>
                </a:solidFill>
                <a:latin typeface="Segoe UI Semibold"/>
                <a:ea typeface="Segoe UI Semibold"/>
                <a:cs typeface="Segoe UI Semibold"/>
              </a:defRPr>
            </a:pPr>
            <a:r>
              <a:rPr sz="1000" b="1" i="0">
                <a:solidFill>
                  <a:srgbClr val="FFFFFF"/>
                </a:solidFill>
                <a:latin typeface="Segoe UI Semibold"/>
                <a:ea typeface="Segoe UI Semibold"/>
                <a:cs typeface="Segoe UI Semibold"/>
              </a:rPr>
              <a:t>PPO</a:t>
            </a:r>
          </a:p>
        </p:txBody>
      </p:sp>
      <p:sp>
        <p:nvSpPr>
          <p:cNvPr id="873" name="Rectangle 874"/>
          <p:cNvSpPr>
            <a:spLocks noGrp="1"/>
          </p:cNvSpPr>
          <p:nvPr/>
        </p:nvSpPr>
        <p:spPr>
          <a:xfrm>
            <a:off x="685800" y="4773168"/>
            <a:ext cx="3474720" cy="1005840"/>
          </a:xfrm>
          <a:prstGeom prst="rect">
            <a:avLst/>
          </a:prstGeom>
          <a:noFill/>
          <a:ln w="0">
            <a:noFill/>
            <a:prstDash val="solid"/>
          </a:ln>
        </p:spPr>
        <p:txBody>
          <a:bodyPr lIns="0" tIns="0" rIns="0" bIns="0" anchor="t">
            <a:normAutofit/>
          </a:bodyPr>
          <a:lstStyle/>
          <a:p>
            <a:pPr algn="l">
              <a:lnSpc>
                <a:spcPct val="98000"/>
              </a:lnSpc>
              <a:buNone/>
              <a:defRPr sz="1350" b="0" i="0">
                <a:solidFill>
                  <a:srgbClr val="18232F"/>
                </a:solidFill>
                <a:latin typeface="Segoe UI"/>
                <a:ea typeface="Segoe UI"/>
                <a:cs typeface="Segoe UI"/>
              </a:defRPr>
            </a:pPr>
            <a:r>
              <a:rPr sz="1350" b="0" i="0">
                <a:solidFill>
                  <a:srgbClr val="18232F"/>
                </a:solidFill>
                <a:latin typeface="Segoe UI"/>
                <a:ea typeface="Segoe UI"/>
                <a:cs typeface="Segoe UI"/>
              </a:rPr>
              <a:t>Stalls at 204-step attempts and drifts sideways almost as fast as it walks.</a:t>
            </a:r>
          </a:p>
        </p:txBody>
      </p:sp>
      <p:sp>
        <p:nvSpPr>
          <p:cNvPr id="875" name="Shape 876"/>
          <p:cNvSpPr>
            <a:spLocks noGrp="1"/>
          </p:cNvSpPr>
          <p:nvPr/>
        </p:nvSpPr>
        <p:spPr>
          <a:xfrm>
            <a:off x="4315968" y="2048256"/>
            <a:ext cx="3474720" cy="2157984"/>
          </a:xfrm>
          <a:prstGeom prst="roundRect">
            <a:avLst>
              <a:gd name="adj" fmla="val 5000"/>
            </a:avLst>
          </a:prstGeom>
          <a:solidFill>
            <a:srgbClr val="FFFFFF"/>
          </a:solidFill>
          <a:ln w="9525">
            <a:solidFill>
              <a:srgbClr val="D5DAD6"/>
            </a:solidFill>
            <a:prstDash val="solid"/>
          </a:ln>
        </p:spPr>
        <p:txBody>
          <a:bodyPr/>
          <a:lstStyle/>
          <a:p>
            <a:endParaRPr lang="en-IN"/>
          </a:p>
        </p:txBody>
      </p:sp>
      <p:pic>
        <p:nvPicPr>
          <p:cNvPr id="877" name="Video 878">
            <a:hlinkClick xmlns:r="http://schemas.openxmlformats.org/officeDocument/2006/relationships" r:id="" action="ppaction://media"/>
          </p:cNvPr>
          <p:cNvPicPr>
            <a:picLocks noChangeAspect="1"/>
          </p:cNvPicPr>
          <p:nvPr>
            <a:videoFile r:link="rId6"/>
            <p:extLst>
              <p:ext uri="{DAA4B4D4-6D71-4841-9C94-3DE7FCFB9230}">
                <p14:media xmlns:p14="http://schemas.microsoft.com/office/powerpoint/2010/main" r:embed="rId7"/>
              </p:ext>
            </p:extLst>
          </p:nvPr>
        </p:nvPicPr>
        <p:blipFill>
          <a:blip r:embed="rId5"/>
          <a:stretch>
            <a:fillRect/>
          </a:stretch>
        </p:blipFill>
        <p:spPr>
          <a:xfrm>
            <a:off x="4370832" y="2103120"/>
            <a:ext cx="3364992" cy="1892808"/>
          </a:xfrm>
          <a:prstGeom prst="roundRect">
            <a:avLst>
              <a:gd name="adj" fmla="val 4000"/>
            </a:avLst>
          </a:prstGeom>
        </p:spPr>
      </p:pic>
      <p:sp>
        <p:nvSpPr>
          <p:cNvPr id="879" name="Shape 880"/>
          <p:cNvSpPr>
            <a:spLocks noGrp="1"/>
          </p:cNvSpPr>
          <p:nvPr/>
        </p:nvSpPr>
        <p:spPr>
          <a:xfrm>
            <a:off x="4315968" y="4315968"/>
            <a:ext cx="1188720" cy="301752"/>
          </a:xfrm>
          <a:prstGeom prst="roundRect">
            <a:avLst>
              <a:gd name="adj" fmla="val 20000"/>
            </a:avLst>
          </a:prstGeom>
          <a:solidFill>
            <a:srgbClr val="0B6B64"/>
          </a:solidFill>
          <a:ln w="0">
            <a:noFill/>
            <a:prstDash val="solid"/>
          </a:ln>
        </p:spPr>
        <p:txBody>
          <a:bodyPr/>
          <a:lstStyle/>
          <a:p>
            <a:endParaRPr lang="en-IN"/>
          </a:p>
        </p:txBody>
      </p:sp>
      <p:sp>
        <p:nvSpPr>
          <p:cNvPr id="881" name="Rectangle 882"/>
          <p:cNvSpPr>
            <a:spLocks noGrp="1"/>
          </p:cNvSpPr>
          <p:nvPr/>
        </p:nvSpPr>
        <p:spPr>
          <a:xfrm>
            <a:off x="4315968" y="4352544"/>
            <a:ext cx="1188720" cy="256032"/>
          </a:xfrm>
          <a:prstGeom prst="rect">
            <a:avLst/>
          </a:prstGeom>
          <a:noFill/>
          <a:ln w="0">
            <a:noFill/>
            <a:prstDash val="solid"/>
          </a:ln>
        </p:spPr>
        <p:txBody>
          <a:bodyPr lIns="0" tIns="0" rIns="0" bIns="0" anchor="t">
            <a:normAutofit/>
          </a:bodyPr>
          <a:lstStyle/>
          <a:p>
            <a:pPr algn="ctr">
              <a:lnSpc>
                <a:spcPct val="98000"/>
              </a:lnSpc>
              <a:buNone/>
              <a:defRPr sz="1000" b="1" i="0">
                <a:solidFill>
                  <a:srgbClr val="FFFFFF"/>
                </a:solidFill>
                <a:latin typeface="Segoe UI Semibold"/>
                <a:ea typeface="Segoe UI Semibold"/>
                <a:cs typeface="Segoe UI Semibold"/>
              </a:defRPr>
            </a:pPr>
            <a:r>
              <a:rPr sz="1000" b="1" i="0">
                <a:solidFill>
                  <a:srgbClr val="FFFFFF"/>
                </a:solidFill>
                <a:latin typeface="Segoe UI Semibold"/>
                <a:ea typeface="Segoe UI Semibold"/>
                <a:cs typeface="Segoe UI Semibold"/>
              </a:rPr>
              <a:t>SAC</a:t>
            </a:r>
          </a:p>
        </p:txBody>
      </p:sp>
      <p:sp>
        <p:nvSpPr>
          <p:cNvPr id="883" name="Rectangle 884"/>
          <p:cNvSpPr>
            <a:spLocks noGrp="1"/>
          </p:cNvSpPr>
          <p:nvPr/>
        </p:nvSpPr>
        <p:spPr>
          <a:xfrm>
            <a:off x="4315968" y="4773168"/>
            <a:ext cx="3474720" cy="1005840"/>
          </a:xfrm>
          <a:prstGeom prst="rect">
            <a:avLst/>
          </a:prstGeom>
          <a:noFill/>
          <a:ln w="0">
            <a:noFill/>
            <a:prstDash val="solid"/>
          </a:ln>
        </p:spPr>
        <p:txBody>
          <a:bodyPr lIns="0" tIns="0" rIns="0" bIns="0" anchor="t">
            <a:normAutofit/>
          </a:bodyPr>
          <a:lstStyle/>
          <a:p>
            <a:pPr algn="l">
              <a:lnSpc>
                <a:spcPct val="98000"/>
              </a:lnSpc>
              <a:buNone/>
              <a:defRPr sz="1350" b="0" i="0">
                <a:solidFill>
                  <a:srgbClr val="18232F"/>
                </a:solidFill>
                <a:latin typeface="Segoe UI"/>
                <a:ea typeface="Segoe UI"/>
                <a:cs typeface="Segoe UI"/>
              </a:defRPr>
            </a:pPr>
            <a:r>
              <a:rPr sz="1350" b="0" i="0">
                <a:solidFill>
                  <a:srgbClr val="18232F"/>
                </a:solidFill>
                <a:latin typeface="Segoe UI"/>
                <a:ea typeface="Segoe UI"/>
                <a:cs typeface="Segoe UI"/>
              </a:rPr>
              <a:t>Walks 821 steps at 0.96 m/s. The only humanoid result worth showing.</a:t>
            </a:r>
          </a:p>
        </p:txBody>
      </p:sp>
      <p:sp>
        <p:nvSpPr>
          <p:cNvPr id="885" name="Shape 886"/>
          <p:cNvSpPr>
            <a:spLocks noGrp="1"/>
          </p:cNvSpPr>
          <p:nvPr/>
        </p:nvSpPr>
        <p:spPr>
          <a:xfrm>
            <a:off x="7946136" y="2048256"/>
            <a:ext cx="3474720" cy="2157984"/>
          </a:xfrm>
          <a:prstGeom prst="roundRect">
            <a:avLst>
              <a:gd name="adj" fmla="val 5000"/>
            </a:avLst>
          </a:prstGeom>
          <a:solidFill>
            <a:srgbClr val="FFFFFF"/>
          </a:solidFill>
          <a:ln w="9525">
            <a:solidFill>
              <a:srgbClr val="D5DAD6"/>
            </a:solidFill>
            <a:prstDash val="solid"/>
          </a:ln>
        </p:spPr>
        <p:txBody>
          <a:bodyPr/>
          <a:lstStyle/>
          <a:p>
            <a:endParaRPr lang="en-IN"/>
          </a:p>
        </p:txBody>
      </p:sp>
      <p:pic>
        <p:nvPicPr>
          <p:cNvPr id="887" name="Video 888">
            <a:hlinkClick xmlns:r="http://schemas.openxmlformats.org/officeDocument/2006/relationships" r:id="" action="ppaction://media"/>
          </p:cNvPr>
          <p:cNvPicPr>
            <a:picLocks noChangeAspect="1"/>
          </p:cNvPicPr>
          <p:nvPr>
            <a:videoFile r:link="rId9"/>
            <p:extLst>
              <p:ext uri="{DAA4B4D4-6D71-4841-9C94-3DE7FCFB9230}">
                <p14:media xmlns:p14="http://schemas.microsoft.com/office/powerpoint/2010/main" r:embed="rId10"/>
              </p:ext>
            </p:extLst>
          </p:nvPr>
        </p:nvPicPr>
        <p:blipFill>
          <a:blip r:embed="rId8"/>
          <a:stretch>
            <a:fillRect/>
          </a:stretch>
        </p:blipFill>
        <p:spPr>
          <a:xfrm>
            <a:off x="8001000" y="2103120"/>
            <a:ext cx="3364992" cy="1892808"/>
          </a:xfrm>
          <a:prstGeom prst="roundRect">
            <a:avLst>
              <a:gd name="adj" fmla="val 4000"/>
            </a:avLst>
          </a:prstGeom>
        </p:spPr>
      </p:pic>
      <p:sp>
        <p:nvSpPr>
          <p:cNvPr id="889" name="Shape 890"/>
          <p:cNvSpPr>
            <a:spLocks noGrp="1"/>
          </p:cNvSpPr>
          <p:nvPr/>
        </p:nvSpPr>
        <p:spPr>
          <a:xfrm>
            <a:off x="7946136" y="4315968"/>
            <a:ext cx="1188720" cy="301752"/>
          </a:xfrm>
          <a:prstGeom prst="roundRect">
            <a:avLst>
              <a:gd name="adj" fmla="val 20000"/>
            </a:avLst>
          </a:prstGeom>
          <a:solidFill>
            <a:srgbClr val="B8502A"/>
          </a:solidFill>
          <a:ln w="0">
            <a:noFill/>
            <a:prstDash val="solid"/>
          </a:ln>
        </p:spPr>
        <p:txBody>
          <a:bodyPr/>
          <a:lstStyle/>
          <a:p>
            <a:endParaRPr lang="en-IN"/>
          </a:p>
        </p:txBody>
      </p:sp>
      <p:sp>
        <p:nvSpPr>
          <p:cNvPr id="891" name="Rectangle 892"/>
          <p:cNvSpPr>
            <a:spLocks noGrp="1"/>
          </p:cNvSpPr>
          <p:nvPr/>
        </p:nvSpPr>
        <p:spPr>
          <a:xfrm>
            <a:off x="7946136" y="4352544"/>
            <a:ext cx="1188720" cy="256032"/>
          </a:xfrm>
          <a:prstGeom prst="rect">
            <a:avLst/>
          </a:prstGeom>
          <a:noFill/>
          <a:ln w="0">
            <a:noFill/>
            <a:prstDash val="solid"/>
          </a:ln>
        </p:spPr>
        <p:txBody>
          <a:bodyPr lIns="0" tIns="0" rIns="0" bIns="0" anchor="t">
            <a:normAutofit/>
          </a:bodyPr>
          <a:lstStyle/>
          <a:p>
            <a:pPr algn="ctr">
              <a:lnSpc>
                <a:spcPct val="98000"/>
              </a:lnSpc>
              <a:buNone/>
              <a:defRPr sz="1000" b="1" i="0">
                <a:solidFill>
                  <a:srgbClr val="FFFFFF"/>
                </a:solidFill>
                <a:latin typeface="Segoe UI Semibold"/>
                <a:ea typeface="Segoe UI Semibold"/>
                <a:cs typeface="Segoe UI Semibold"/>
              </a:defRPr>
            </a:pPr>
            <a:r>
              <a:rPr sz="1000" b="1" i="0">
                <a:solidFill>
                  <a:srgbClr val="FFFFFF"/>
                </a:solidFill>
                <a:latin typeface="Segoe UI Semibold"/>
                <a:ea typeface="Segoe UI Semibold"/>
                <a:cs typeface="Segoe UI Semibold"/>
              </a:rPr>
              <a:t>TD3</a:t>
            </a:r>
          </a:p>
        </p:txBody>
      </p:sp>
      <p:sp>
        <p:nvSpPr>
          <p:cNvPr id="893" name="Rectangle 894"/>
          <p:cNvSpPr>
            <a:spLocks noGrp="1"/>
          </p:cNvSpPr>
          <p:nvPr/>
        </p:nvSpPr>
        <p:spPr>
          <a:xfrm>
            <a:off x="7946136" y="4773168"/>
            <a:ext cx="3474720" cy="1005840"/>
          </a:xfrm>
          <a:prstGeom prst="rect">
            <a:avLst/>
          </a:prstGeom>
          <a:noFill/>
          <a:ln w="0">
            <a:noFill/>
            <a:prstDash val="solid"/>
          </a:ln>
        </p:spPr>
        <p:txBody>
          <a:bodyPr lIns="0" tIns="0" rIns="0" bIns="0" anchor="t">
            <a:normAutofit/>
          </a:bodyPr>
          <a:lstStyle/>
          <a:p>
            <a:pPr algn="l">
              <a:lnSpc>
                <a:spcPct val="98000"/>
              </a:lnSpc>
              <a:buNone/>
              <a:defRPr sz="1350" b="0" i="0">
                <a:solidFill>
                  <a:srgbClr val="18232F"/>
                </a:solidFill>
                <a:latin typeface="Segoe UI"/>
                <a:ea typeface="Segoe UI"/>
                <a:cs typeface="Segoe UI"/>
              </a:defRPr>
            </a:pPr>
            <a:r>
              <a:rPr sz="1350" b="0" i="0">
                <a:solidFill>
                  <a:srgbClr val="18232F"/>
                </a:solidFill>
                <a:latin typeface="Segoe UI"/>
                <a:ea typeface="Segoe UI"/>
                <a:cs typeface="Segoe UI"/>
              </a:rPr>
              <a:t>Reaches 206 steps, then the run breaks down numerically.</a:t>
            </a:r>
          </a:p>
        </p:txBody>
      </p:sp>
      <p:sp>
        <p:nvSpPr>
          <p:cNvPr id="895" name="Rectangle 896"/>
          <p:cNvSpPr>
            <a:spLocks noGrp="1"/>
          </p:cNvSpPr>
          <p:nvPr/>
        </p:nvSpPr>
        <p:spPr>
          <a:xfrm>
            <a:off x="722376" y="6053328"/>
            <a:ext cx="10780776" cy="365760"/>
          </a:xfrm>
          <a:prstGeom prst="rect">
            <a:avLst/>
          </a:prstGeom>
          <a:noFill/>
          <a:ln w="0">
            <a:noFill/>
            <a:prstDash val="solid"/>
          </a:ln>
        </p:spPr>
        <p:txBody>
          <a:bodyPr lIns="0" tIns="0" rIns="0" bIns="0" anchor="t">
            <a:normAutofit/>
          </a:bodyPr>
          <a:lstStyle/>
          <a:p>
            <a:pPr algn="l">
              <a:lnSpc>
                <a:spcPct val="98000"/>
              </a:lnSpc>
              <a:buNone/>
              <a:defRPr sz="1275" b="0" i="0">
                <a:solidFill>
                  <a:srgbClr val="5B6670"/>
                </a:solidFill>
                <a:latin typeface="Segoe UI"/>
                <a:ea typeface="Segoe UI"/>
                <a:cs typeface="Segoe UI"/>
              </a:defRPr>
            </a:pPr>
            <a:r>
              <a:rPr sz="1275" b="0" i="0">
                <a:solidFill>
                  <a:srgbClr val="5B6670"/>
                </a:solidFill>
                <a:latin typeface="Segoe UI"/>
                <a:ea typeface="Segoe UI"/>
                <a:cs typeface="Segoe UI"/>
              </a:rPr>
              <a:t>Click any frame during the talk to play the recording.</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531" name="Rectangle 532"/>
          <p:cNvSpPr>
            <a:spLocks noGrp="1"/>
          </p:cNvSpPr>
          <p:nvPr/>
        </p:nvSpPr>
        <p:spPr>
          <a:xfrm>
            <a:off x="11109960" y="265176"/>
            <a:ext cx="402336" cy="228600"/>
          </a:xfrm>
          <a:prstGeom prst="rect">
            <a:avLst/>
          </a:prstGeom>
          <a:noFill/>
          <a:ln w="0">
            <a:noFill/>
            <a:prstDash val="solid"/>
          </a:ln>
        </p:spPr>
        <p:txBody>
          <a:bodyPr lIns="0" tIns="0" rIns="0" bIns="0" anchor="t">
            <a:normAutofit/>
          </a:bodyPr>
          <a:lstStyle/>
          <a:p>
            <a:pPr algn="r">
              <a:lnSpc>
                <a:spcPct val="98000"/>
              </a:lnSpc>
              <a:buNone/>
              <a:defRPr sz="1050" b="0" i="0">
                <a:solidFill>
                  <a:srgbClr val="5B6670"/>
                </a:solidFill>
                <a:latin typeface="Segoe UI Semibold"/>
                <a:ea typeface="Segoe UI Semibold"/>
                <a:cs typeface="Segoe UI Semibold"/>
              </a:defRPr>
            </a:pPr>
            <a:r>
              <a:rPr sz="1050" b="0" i="0">
                <a:solidFill>
                  <a:srgbClr val="5B6670"/>
                </a:solidFill>
                <a:latin typeface="Segoe UI Semibold"/>
                <a:ea typeface="Segoe UI Semibold"/>
                <a:cs typeface="Segoe UI Semibold"/>
              </a:rPr>
              <a:t>00</a:t>
            </a:r>
          </a:p>
        </p:txBody>
      </p:sp>
      <p:sp>
        <p:nvSpPr>
          <p:cNvPr id="533" name="Rectangle 534"/>
          <p:cNvSpPr>
            <a:spLocks noGrp="1"/>
          </p:cNvSpPr>
          <p:nvPr/>
        </p:nvSpPr>
        <p:spPr>
          <a:xfrm>
            <a:off x="685800" y="713232"/>
            <a:ext cx="10817352" cy="804672"/>
          </a:xfrm>
          <a:prstGeom prst="rect">
            <a:avLst/>
          </a:prstGeom>
          <a:noFill/>
          <a:ln w="0">
            <a:noFill/>
            <a:prstDash val="solid"/>
          </a:ln>
        </p:spPr>
        <p:txBody>
          <a:bodyPr lIns="0" tIns="0" rIns="0" bIns="0" anchor="t">
            <a:normAutofit/>
          </a:bodyPr>
          <a:lstStyle/>
          <a:p>
            <a:pPr algn="l">
              <a:lnSpc>
                <a:spcPct val="90000"/>
              </a:lnSpc>
              <a:buNone/>
              <a:defRPr sz="3600" b="1" i="0">
                <a:solidFill>
                  <a:srgbClr val="18232F"/>
                </a:solidFill>
                <a:latin typeface="Georgia"/>
                <a:ea typeface="Georgia"/>
                <a:cs typeface="Georgia"/>
              </a:defRPr>
            </a:pPr>
            <a:r>
              <a:rPr sz="3600" b="1" i="0">
                <a:solidFill>
                  <a:srgbClr val="18232F"/>
                </a:solidFill>
                <a:latin typeface="Georgia"/>
                <a:ea typeface="Georgia"/>
                <a:cs typeface="Georgia"/>
              </a:rPr>
              <a:t>The GPU changed how fast we could try ideas</a:t>
            </a:r>
          </a:p>
        </p:txBody>
      </p:sp>
      <p:sp>
        <p:nvSpPr>
          <p:cNvPr id="535" name="Shape 536"/>
          <p:cNvSpPr>
            <a:spLocks noGrp="1"/>
          </p:cNvSpPr>
          <p:nvPr/>
        </p:nvSpPr>
        <p:spPr>
          <a:xfrm>
            <a:off x="685800" y="6455664"/>
            <a:ext cx="10817352" cy="9510"/>
          </a:xfrm>
          <a:prstGeom prst="rect">
            <a:avLst/>
          </a:prstGeom>
          <a:solidFill>
            <a:srgbClr val="D5DAD6"/>
          </a:solidFill>
          <a:ln w="0">
            <a:noFill/>
            <a:prstDash val="solid"/>
          </a:ln>
        </p:spPr>
        <p:txBody>
          <a:bodyPr/>
          <a:lstStyle/>
          <a:p>
            <a:endParaRPr lang="en-IN"/>
          </a:p>
        </p:txBody>
      </p:sp>
      <p:sp>
        <p:nvSpPr>
          <p:cNvPr id="537" name="Rectangle 538"/>
          <p:cNvSpPr>
            <a:spLocks noGrp="1"/>
          </p:cNvSpPr>
          <p:nvPr/>
        </p:nvSpPr>
        <p:spPr>
          <a:xfrm>
            <a:off x="731520" y="1755648"/>
            <a:ext cx="7498080" cy="274320"/>
          </a:xfrm>
          <a:prstGeom prst="rect">
            <a:avLst/>
          </a:prstGeom>
          <a:noFill/>
          <a:ln w="0">
            <a:noFill/>
            <a:prstDash val="solid"/>
          </a:ln>
        </p:spPr>
        <p:txBody>
          <a:bodyPr lIns="0" tIns="0" rIns="0" bIns="0" anchor="t">
            <a:normAutofit/>
          </a:bodyPr>
          <a:lstStyle/>
          <a:p>
            <a:pPr algn="l">
              <a:lnSpc>
                <a:spcPct val="98000"/>
              </a:lnSpc>
              <a:buNone/>
              <a:defRPr sz="1275" b="1" i="0">
                <a:solidFill>
                  <a:srgbClr val="5B6670"/>
                </a:solidFill>
                <a:latin typeface="Segoe UI Semibold"/>
                <a:ea typeface="Segoe UI Semibold"/>
                <a:cs typeface="Segoe UI Semibold"/>
              </a:defRPr>
            </a:pPr>
            <a:r>
              <a:rPr sz="1275" b="1" i="0">
                <a:solidFill>
                  <a:srgbClr val="5B6670"/>
                </a:solidFill>
                <a:latin typeface="Segoe UI Semibold"/>
                <a:ea typeface="Segoe UI Semibold"/>
                <a:cs typeface="Segoe UI Semibold"/>
              </a:rPr>
              <a:t>Steps of simulation per second</a:t>
            </a:r>
          </a:p>
        </p:txBody>
      </p:sp>
      <p:pic>
        <p:nvPicPr>
          <p:cNvPr id="539" name="Chart 540"/>
          <p:cNvPicPr>
            <a:picLocks noChangeAspect="1"/>
          </p:cNvPicPr>
          <p:nvPr/>
        </p:nvPicPr>
        <p:blipFill>
          <a:blip r:embed="rId2"/>
          <a:stretch>
            <a:fillRect/>
          </a:stretch>
        </p:blipFill>
        <p:spPr>
          <a:xfrm>
            <a:off x="731520" y="2066544"/>
            <a:ext cx="7589520" cy="2999232"/>
          </a:xfrm>
          <a:prstGeom prst="rect">
            <a:avLst/>
          </a:prstGeom>
        </p:spPr>
      </p:pic>
      <p:sp>
        <p:nvSpPr>
          <p:cNvPr id="541" name="Shape 542"/>
          <p:cNvSpPr>
            <a:spLocks noGrp="1"/>
          </p:cNvSpPr>
          <p:nvPr/>
        </p:nvSpPr>
        <p:spPr>
          <a:xfrm>
            <a:off x="8613648" y="2011680"/>
            <a:ext cx="2889504" cy="1463040"/>
          </a:xfrm>
          <a:prstGeom prst="roundRect">
            <a:avLst>
              <a:gd name="adj" fmla="val 9000"/>
            </a:avLst>
          </a:prstGeom>
          <a:solidFill>
            <a:srgbClr val="DDEBE7"/>
          </a:solidFill>
          <a:ln w="0">
            <a:noFill/>
            <a:prstDash val="solid"/>
          </a:ln>
        </p:spPr>
        <p:txBody>
          <a:bodyPr/>
          <a:lstStyle/>
          <a:p>
            <a:endParaRPr lang="en-IN"/>
          </a:p>
        </p:txBody>
      </p:sp>
      <p:sp>
        <p:nvSpPr>
          <p:cNvPr id="543" name="Rectangle 544"/>
          <p:cNvSpPr>
            <a:spLocks noGrp="1"/>
          </p:cNvSpPr>
          <p:nvPr/>
        </p:nvSpPr>
        <p:spPr>
          <a:xfrm>
            <a:off x="8833104" y="2231136"/>
            <a:ext cx="2450592" cy="548640"/>
          </a:xfrm>
          <a:prstGeom prst="rect">
            <a:avLst/>
          </a:prstGeom>
          <a:noFill/>
          <a:ln w="0">
            <a:noFill/>
            <a:prstDash val="solid"/>
          </a:ln>
        </p:spPr>
        <p:txBody>
          <a:bodyPr lIns="0" tIns="0" rIns="0" bIns="0" anchor="t">
            <a:normAutofit/>
          </a:bodyPr>
          <a:lstStyle/>
          <a:p>
            <a:pPr algn="ctr">
              <a:lnSpc>
                <a:spcPct val="98000"/>
              </a:lnSpc>
              <a:buNone/>
              <a:defRPr sz="2700" b="1" i="0">
                <a:solidFill>
                  <a:srgbClr val="0B6B64"/>
                </a:solidFill>
                <a:latin typeface="Segoe UI Semibold"/>
                <a:ea typeface="Segoe UI Semibold"/>
                <a:cs typeface="Segoe UI Semibold"/>
              </a:defRPr>
            </a:pPr>
            <a:r>
              <a:rPr sz="2700" b="1" i="0">
                <a:solidFill>
                  <a:srgbClr val="0B6B64"/>
                </a:solidFill>
                <a:latin typeface="Segoe UI Semibold"/>
                <a:ea typeface="Segoe UI Semibold"/>
                <a:cs typeface="Segoe UI Semibold"/>
              </a:rPr>
              <a:t>30,138</a:t>
            </a:r>
          </a:p>
        </p:txBody>
      </p:sp>
      <p:sp>
        <p:nvSpPr>
          <p:cNvPr id="545" name="Rectangle 546"/>
          <p:cNvSpPr>
            <a:spLocks noGrp="1"/>
          </p:cNvSpPr>
          <p:nvPr/>
        </p:nvSpPr>
        <p:spPr>
          <a:xfrm>
            <a:off x="8833104" y="2852928"/>
            <a:ext cx="2450592" cy="502920"/>
          </a:xfrm>
          <a:prstGeom prst="rect">
            <a:avLst/>
          </a:prstGeom>
          <a:noFill/>
          <a:ln w="0">
            <a:noFill/>
            <a:prstDash val="solid"/>
          </a:ln>
        </p:spPr>
        <p:txBody>
          <a:bodyPr lIns="0" tIns="0" rIns="0" bIns="0" anchor="t">
            <a:normAutofit/>
          </a:bodyPr>
          <a:lstStyle/>
          <a:p>
            <a:pPr algn="ctr">
              <a:lnSpc>
                <a:spcPct val="98000"/>
              </a:lnSpc>
              <a:buNone/>
              <a:defRPr sz="1200" b="0" i="0">
                <a:solidFill>
                  <a:srgbClr val="18232F"/>
                </a:solidFill>
                <a:latin typeface="Segoe UI"/>
                <a:ea typeface="Segoe UI"/>
                <a:cs typeface="Segoe UI"/>
              </a:defRPr>
            </a:pPr>
            <a:r>
              <a:rPr sz="1200" b="0" i="0">
                <a:solidFill>
                  <a:srgbClr val="18232F"/>
                </a:solidFill>
                <a:latin typeface="Segoe UI"/>
                <a:ea typeface="Segoe UI"/>
                <a:cs typeface="Segoe UI"/>
              </a:rPr>
              <a:t>steps a second</a:t>
            </a:r>
          </a:p>
          <a:p>
            <a:pPr algn="ctr">
              <a:lnSpc>
                <a:spcPct val="98000"/>
              </a:lnSpc>
              <a:buNone/>
              <a:defRPr sz="1200" b="0" i="0">
                <a:solidFill>
                  <a:srgbClr val="18232F"/>
                </a:solidFill>
                <a:latin typeface="Segoe UI"/>
                <a:ea typeface="Segoe UI"/>
                <a:cs typeface="Segoe UI"/>
              </a:defRPr>
            </a:pPr>
            <a:r>
              <a:rPr sz="1200" b="0" i="0">
                <a:solidFill>
                  <a:srgbClr val="18232F"/>
                </a:solidFill>
                <a:latin typeface="Segoe UI"/>
                <a:ea typeface="Segoe UI"/>
                <a:cs typeface="Segoe UI"/>
              </a:rPr>
              <a:t>in our best run</a:t>
            </a:r>
          </a:p>
        </p:txBody>
      </p:sp>
      <p:sp>
        <p:nvSpPr>
          <p:cNvPr id="547" name="Shape 548"/>
          <p:cNvSpPr>
            <a:spLocks noGrp="1"/>
          </p:cNvSpPr>
          <p:nvPr/>
        </p:nvSpPr>
        <p:spPr>
          <a:xfrm>
            <a:off x="8613648" y="3657600"/>
            <a:ext cx="2889504" cy="1463040"/>
          </a:xfrm>
          <a:prstGeom prst="roundRect">
            <a:avLst>
              <a:gd name="adj" fmla="val 9000"/>
            </a:avLst>
          </a:prstGeom>
          <a:solidFill>
            <a:srgbClr val="F2E2D9"/>
          </a:solidFill>
          <a:ln w="0">
            <a:noFill/>
            <a:prstDash val="solid"/>
          </a:ln>
        </p:spPr>
        <p:txBody>
          <a:bodyPr/>
          <a:lstStyle/>
          <a:p>
            <a:endParaRPr lang="en-IN"/>
          </a:p>
        </p:txBody>
      </p:sp>
      <p:sp>
        <p:nvSpPr>
          <p:cNvPr id="549" name="Rectangle 550"/>
          <p:cNvSpPr>
            <a:spLocks noGrp="1"/>
          </p:cNvSpPr>
          <p:nvPr/>
        </p:nvSpPr>
        <p:spPr>
          <a:xfrm>
            <a:off x="8833104" y="3877056"/>
            <a:ext cx="2450592" cy="548640"/>
          </a:xfrm>
          <a:prstGeom prst="rect">
            <a:avLst/>
          </a:prstGeom>
          <a:noFill/>
          <a:ln w="0">
            <a:noFill/>
            <a:prstDash val="solid"/>
          </a:ln>
        </p:spPr>
        <p:txBody>
          <a:bodyPr lIns="0" tIns="0" rIns="0" bIns="0" anchor="t">
            <a:normAutofit/>
          </a:bodyPr>
          <a:lstStyle/>
          <a:p>
            <a:pPr algn="ctr">
              <a:lnSpc>
                <a:spcPct val="98000"/>
              </a:lnSpc>
              <a:buNone/>
              <a:defRPr sz="2700" b="1" i="0">
                <a:solidFill>
                  <a:srgbClr val="B8502A"/>
                </a:solidFill>
                <a:latin typeface="Segoe UI Semibold"/>
                <a:ea typeface="Segoe UI Semibold"/>
                <a:cs typeface="Segoe UI Semibold"/>
              </a:defRPr>
            </a:pPr>
            <a:r>
              <a:rPr sz="2700" b="1" i="0">
                <a:solidFill>
                  <a:srgbClr val="B8502A"/>
                </a:solidFill>
                <a:latin typeface="Segoe UI Semibold"/>
                <a:ea typeface="Segoe UI Semibold"/>
                <a:cs typeface="Segoe UI Semibold"/>
              </a:rPr>
              <a:t>22.7 min</a:t>
            </a:r>
          </a:p>
        </p:txBody>
      </p:sp>
      <p:sp>
        <p:nvSpPr>
          <p:cNvPr id="551" name="Rectangle 552"/>
          <p:cNvSpPr>
            <a:spLocks noGrp="1"/>
          </p:cNvSpPr>
          <p:nvPr/>
        </p:nvSpPr>
        <p:spPr>
          <a:xfrm>
            <a:off x="8833104" y="4498848"/>
            <a:ext cx="2450592" cy="502920"/>
          </a:xfrm>
          <a:prstGeom prst="rect">
            <a:avLst/>
          </a:prstGeom>
          <a:noFill/>
          <a:ln w="0">
            <a:noFill/>
            <a:prstDash val="solid"/>
          </a:ln>
        </p:spPr>
        <p:txBody>
          <a:bodyPr lIns="0" tIns="0" rIns="0" bIns="0" anchor="t">
            <a:normAutofit/>
          </a:bodyPr>
          <a:lstStyle/>
          <a:p>
            <a:pPr algn="ctr">
              <a:lnSpc>
                <a:spcPct val="98000"/>
              </a:lnSpc>
              <a:buNone/>
              <a:defRPr sz="1200" b="0" i="0">
                <a:solidFill>
                  <a:srgbClr val="18232F"/>
                </a:solidFill>
                <a:latin typeface="Segoe UI"/>
                <a:ea typeface="Segoe UI"/>
                <a:cs typeface="Segoe UI"/>
              </a:defRPr>
            </a:pPr>
            <a:r>
              <a:rPr sz="1200" b="0" i="0">
                <a:solidFill>
                  <a:srgbClr val="18232F"/>
                </a:solidFill>
                <a:latin typeface="Segoe UI"/>
                <a:ea typeface="Segoe UI"/>
                <a:cs typeface="Segoe UI"/>
              </a:rPr>
              <a:t>to train the Go1</a:t>
            </a:r>
          </a:p>
          <a:p>
            <a:pPr algn="ctr">
              <a:lnSpc>
                <a:spcPct val="98000"/>
              </a:lnSpc>
              <a:buNone/>
              <a:defRPr sz="1200" b="0" i="0">
                <a:solidFill>
                  <a:srgbClr val="18232F"/>
                </a:solidFill>
                <a:latin typeface="Segoe UI"/>
                <a:ea typeface="Segoe UI"/>
                <a:cs typeface="Segoe UI"/>
              </a:defRPr>
            </a:pPr>
            <a:r>
              <a:rPr sz="1200" b="0" i="0">
                <a:solidFill>
                  <a:srgbClr val="18232F"/>
                </a:solidFill>
                <a:latin typeface="Segoe UI"/>
                <a:ea typeface="Segoe UI"/>
                <a:cs typeface="Segoe UI"/>
              </a:rPr>
              <a:t>for 40 million steps</a:t>
            </a:r>
          </a:p>
        </p:txBody>
      </p:sp>
      <p:sp>
        <p:nvSpPr>
          <p:cNvPr id="553" name="Rectangle 554"/>
          <p:cNvSpPr>
            <a:spLocks noGrp="1"/>
          </p:cNvSpPr>
          <p:nvPr/>
        </p:nvSpPr>
        <p:spPr>
          <a:xfrm>
            <a:off x="731520" y="5248656"/>
            <a:ext cx="10424160" cy="502920"/>
          </a:xfrm>
          <a:prstGeom prst="rect">
            <a:avLst/>
          </a:prstGeom>
          <a:noFill/>
          <a:ln w="0">
            <a:noFill/>
            <a:prstDash val="solid"/>
          </a:ln>
        </p:spPr>
        <p:txBody>
          <a:bodyPr lIns="0" tIns="0" rIns="0" bIns="0" anchor="t">
            <a:normAutofit/>
          </a:bodyPr>
          <a:lstStyle/>
          <a:p>
            <a:pPr algn="l">
              <a:lnSpc>
                <a:spcPct val="98000"/>
              </a:lnSpc>
              <a:buNone/>
              <a:defRPr sz="1275" b="1" i="0">
                <a:solidFill>
                  <a:srgbClr val="5B6670"/>
                </a:solidFill>
                <a:latin typeface="Segoe UI Semibold"/>
                <a:ea typeface="Segoe UI Semibold"/>
                <a:cs typeface="Segoe UI Semibold"/>
              </a:defRPr>
            </a:pPr>
            <a:r>
              <a:rPr sz="1275" b="1" i="0">
                <a:solidFill>
                  <a:srgbClr val="5B6670"/>
                </a:solidFill>
                <a:latin typeface="Segoe UI Semibold"/>
                <a:ea typeface="Segoe UI Semibold"/>
                <a:cs typeface="Segoe UI Semibold"/>
              </a:rPr>
              <a:t>A longer bar is better. The GPU simulates about a hundred times more steps per second than the CPU did,</a:t>
            </a:r>
          </a:p>
          <a:p>
            <a:pPr algn="l">
              <a:lnSpc>
                <a:spcPct val="98000"/>
              </a:lnSpc>
              <a:buNone/>
              <a:defRPr sz="1275" b="1" i="0">
                <a:solidFill>
                  <a:srgbClr val="5B6670"/>
                </a:solidFill>
                <a:latin typeface="Segoe UI Semibold"/>
                <a:ea typeface="Segoe UI Semibold"/>
                <a:cs typeface="Segoe UI Semibold"/>
              </a:defRPr>
            </a:pPr>
            <a:r>
              <a:rPr sz="1275" b="1" i="0">
                <a:solidFill>
                  <a:srgbClr val="5B6670"/>
                </a:solidFill>
                <a:latin typeface="Segoe UI Semibold"/>
                <a:ea typeface="Segoe UI Semibold"/>
                <a:cs typeface="Segoe UI Semibold"/>
              </a:rPr>
              <a:t>and better setups took us from 18,000 to 30,138 steps a second across the GPU runs.</a:t>
            </a:r>
          </a:p>
        </p:txBody>
      </p:sp>
      <p:sp>
        <p:nvSpPr>
          <p:cNvPr id="555" name="Rectangle 556"/>
          <p:cNvSpPr>
            <a:spLocks noGrp="1"/>
          </p:cNvSpPr>
          <p:nvPr/>
        </p:nvSpPr>
        <p:spPr>
          <a:xfrm>
            <a:off x="731520" y="5961888"/>
            <a:ext cx="10780776" cy="411480"/>
          </a:xfrm>
          <a:prstGeom prst="rect">
            <a:avLst/>
          </a:prstGeom>
          <a:noFill/>
          <a:ln w="0">
            <a:noFill/>
            <a:prstDash val="solid"/>
          </a:ln>
        </p:spPr>
        <p:txBody>
          <a:bodyPr lIns="0" tIns="0" rIns="0" bIns="0" anchor="t">
            <a:normAutofit/>
          </a:bodyPr>
          <a:lstStyle/>
          <a:p>
            <a:pPr algn="l">
              <a:lnSpc>
                <a:spcPct val="98000"/>
              </a:lnSpc>
              <a:buNone/>
              <a:defRPr sz="1425" b="1" i="0">
                <a:solidFill>
                  <a:srgbClr val="18232F"/>
                </a:solidFill>
                <a:latin typeface="Segoe UI Semibold"/>
                <a:ea typeface="Segoe UI Semibold"/>
                <a:cs typeface="Segoe UI Semibold"/>
              </a:defRPr>
            </a:pPr>
            <a:r>
              <a:rPr sz="1425" b="1" i="0">
                <a:solidFill>
                  <a:srgbClr val="18232F"/>
                </a:solidFill>
                <a:latin typeface="Segoe UI Semibold"/>
                <a:ea typeface="Segoe UI Semibold"/>
                <a:cs typeface="Segoe UI Semibold"/>
              </a:rPr>
              <a:t>This is what turned a change to the reward from an overnight wait into a coffee break.</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886</Words>
  <Application>Microsoft Office PowerPoint</Application>
  <DocSecurity>0</DocSecurity>
  <PresentationFormat>Widescreen</PresentationFormat>
  <Paragraphs>186</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Calibri</vt:lpstr>
      <vt:lpstr>Georgia</vt:lpstr>
      <vt:lpstr>Segoe UI</vt:lpstr>
      <vt:lpstr>Segoe UI Semibold</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EasyRTG — Final Project Submission</dc:title>
  <dc:creator>Shivam Chavan</dc:creator>
  <cp:lastModifiedBy>Shivam Chavan (MSc Art Int + Comp Sc FT (Dub))</cp:lastModifiedBy>
  <cp:revision>13</cp:revision>
  <dcterms:created xsi:type="dcterms:W3CDTF">2026-08-06T19:20:54Z</dcterms:created>
  <dcterms:modified xsi:type="dcterms:W3CDTF">2026-08-11T06:54:29Z</dcterms:modified>
</cp:coreProperties>
</file>