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FPS</c:v>
          </c:tx>
          <c:spPr>
            <a:solidFill>
              <a:srgbClr val="0B6B6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00" b="1">
                    <a:solidFill>
                      <a:srgbClr val="18232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CPU · normal</c:v>
              </c:pt>
              <c:pt idx="1">
                <c:v>CPU · parallel</c:v>
              </c:pt>
              <c:pt idx="2">
                <c:v>Go1 · 4,096</c:v>
              </c:pt>
              <c:pt idx="3">
                <c:v>Valkyrie · 4,096</c:v>
              </c:pt>
            </c:strLit>
          </c:cat>
          <c:val>
            <c:numLit>
              <c:formatCode>General</c:formatCode>
              <c:ptCount val="4"/>
              <c:pt idx="0">
                <c:v>240</c:v>
              </c:pt>
              <c:pt idx="1">
                <c:v>1750</c:v>
              </c:pt>
              <c:pt idx="2">
                <c:v>23539</c:v>
              </c:pt>
              <c:pt idx="3">
                <c:v>14140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2F6-440E-9638-770D9265E88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5DAD6"/>
            </a:solidFill>
            <a:prstDash val="solid"/>
          </a:ln>
        </c:spPr>
        <c:txPr>
          <a:bodyPr anchorCtr="1"/>
          <a:lstStyle/>
          <a:p>
            <a:pPr>
              <a:defRPr sz="1200">
                <a:solidFill>
                  <a:srgbClr val="18232F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B8B83D-8B6B-422A-A34A-C53CD5301FB8}" type="datetimeFigureOut">
              <a:rPr lang="en-IN" smtClean="0"/>
              <a:t>07-08-2026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597E2-7008-4694-9E00-C34CEE728A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3450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597E2-7008-4694-9E00-C34CEE728A78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7113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08E943E-BEB0-46A4-9CB4-C5B1097C37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79E7F-2388-4DF4-85D9-D4D982FF6A83}"/>
              </a:ext>
            </a:extLst>
          </p:cNvPr>
          <p:cNvSpPr>
            <a:spLocks noGrp="1"/>
          </p:cNvSpPr>
          <p:nvPr/>
        </p:nvSpPr>
        <p:spPr>
          <a:xfrm>
            <a:off x="723900" y="628650"/>
            <a:ext cx="419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2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FINAL PROJECT SUBMISSION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2C6489-6AD7-4C55-ADCB-657F9A7C366C}"/>
              </a:ext>
            </a:extLst>
          </p:cNvPr>
          <p:cNvSpPr>
            <a:spLocks noGrp="1"/>
          </p:cNvSpPr>
          <p:nvPr/>
        </p:nvSpPr>
        <p:spPr>
          <a:xfrm>
            <a:off x="723900" y="1276350"/>
            <a:ext cx="59055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54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54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EasyRTG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5A632A-E5EE-42E2-870A-F99596F8915C}"/>
              </a:ext>
            </a:extLst>
          </p:cNvPr>
          <p:cNvSpPr>
            <a:spLocks noGrp="1"/>
          </p:cNvSpPr>
          <p:nvPr/>
        </p:nvSpPr>
        <p:spPr>
          <a:xfrm>
            <a:off x="762000" y="2286000"/>
            <a:ext cx="5143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70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270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A no-code training ground</a:t>
            </a:r>
          </a:p>
          <a:p>
            <a:pPr algn="l">
              <a:lnSpc>
                <a:spcPct val="95000"/>
              </a:lnSpc>
              <a:buNone/>
              <a:defRPr sz="270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270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for robot learning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FFE3A8-D464-4713-9669-28716DD12BC9}"/>
              </a:ext>
            </a:extLst>
          </p:cNvPr>
          <p:cNvSpPr>
            <a:spLocks noGrp="1"/>
          </p:cNvSpPr>
          <p:nvPr/>
        </p:nvSpPr>
        <p:spPr>
          <a:xfrm>
            <a:off x="762000" y="3676650"/>
            <a:ext cx="1485900" cy="57150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31D188-DEE1-4B16-B681-0F4C4A410406}"/>
              </a:ext>
            </a:extLst>
          </p:cNvPr>
          <p:cNvSpPr>
            <a:spLocks noGrp="1"/>
          </p:cNvSpPr>
          <p:nvPr/>
        </p:nvSpPr>
        <p:spPr>
          <a:xfrm>
            <a:off x="762000" y="480060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Shivam Chavan  ·  3053682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B91A15-8400-4A29-B1FC-DF28D2AE1849}"/>
              </a:ext>
            </a:extLst>
          </p:cNvPr>
          <p:cNvSpPr>
            <a:spLocks noGrp="1"/>
          </p:cNvSpPr>
          <p:nvPr/>
        </p:nvSpPr>
        <p:spPr>
          <a:xfrm>
            <a:off x="762000" y="52197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Supervisor: Shraddha Naik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82C1AD1-F867-4722-BC1E-A70257354C72}"/>
              </a:ext>
            </a:extLst>
          </p:cNvPr>
          <p:cNvSpPr>
            <a:spLocks noGrp="1"/>
          </p:cNvSpPr>
          <p:nvPr/>
        </p:nvSpPr>
        <p:spPr>
          <a:xfrm>
            <a:off x="6867525" y="695325"/>
            <a:ext cx="4667250" cy="527685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rcRect l="25160" r="25160"/>
          <a:stretch>
            <a:fillRect/>
          </a:stretch>
        </p:blipFill>
        <p:spPr>
          <a:xfrm>
            <a:off x="6896100" y="723900"/>
            <a:ext cx="4610100" cy="5219700"/>
          </a:xfrm>
          <a:prstGeom prst="roundRect">
            <a:avLst>
              <a:gd name="adj" fmla="val 3719"/>
            </a:avLst>
          </a:prstGeom>
        </p:spPr>
      </p:pic>
    </p:spTree>
    <p:extLst>
      <p:ext uri="{BB962C8B-B14F-4D97-AF65-F5344CB8AC3E}">
        <p14:creationId xmlns:p14="http://schemas.microsoft.com/office/powerpoint/2010/main" val="670704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481D0057-B6FC-4D98-AA48-3E571BA415CA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B8502A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981CDB-813F-461C-A96A-52416CA6F6FC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THE PROBLEM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8A11F5-9BE5-45D0-A95A-56BA4082E767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4BE69C-C73E-4781-B68C-EF62273A70B5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Training one robot still means assembling</a:t>
            </a:r>
          </a:p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several specialist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A64B5F-925A-454C-A2E7-069B0C7CE8B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277B8E-82EA-463A-98BF-305985FC82E9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C11391-CAFD-4C98-ADC0-C67412E75CE2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EasyRTG project proposal · 16 June 2026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928C84-7692-43D1-BB29-34CDA19339A2}"/>
              </a:ext>
            </a:extLst>
          </p:cNvPr>
          <p:cNvSpPr>
            <a:spLocks noGrp="1"/>
          </p:cNvSpPr>
          <p:nvPr/>
        </p:nvSpPr>
        <p:spPr>
          <a:xfrm>
            <a:off x="685800" y="2114550"/>
            <a:ext cx="9906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3000"/>
              </a:lnSpc>
              <a:buNone/>
              <a:defRPr sz="180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Each component is mature on its own. The real barrier is the integration: before a robot can learn, someone must connect physics, observations, actions, rewards, training and evaluation.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216931-7F76-46AC-A639-FEB7C2C5B347}"/>
              </a:ext>
            </a:extLst>
          </p:cNvPr>
          <p:cNvSpPr>
            <a:spLocks noGrp="1"/>
          </p:cNvSpPr>
          <p:nvPr/>
        </p:nvSpPr>
        <p:spPr>
          <a:xfrm>
            <a:off x="838200" y="3790950"/>
            <a:ext cx="10325100" cy="38100"/>
          </a:xfrm>
          <a:prstGeom prst="rect">
            <a:avLst/>
          </a:prstGeom>
          <a:solidFill>
            <a:srgbClr val="F2E2D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4C9CEA-22EF-423C-8772-967E6C1B9A40}"/>
              </a:ext>
            </a:extLst>
          </p:cNvPr>
          <p:cNvSpPr>
            <a:spLocks noGrp="1"/>
          </p:cNvSpPr>
          <p:nvPr/>
        </p:nvSpPr>
        <p:spPr>
          <a:xfrm>
            <a:off x="800100" y="3371850"/>
            <a:ext cx="1609725" cy="914400"/>
          </a:xfrm>
          <a:prstGeom prst="roundRect">
            <a:avLst>
              <a:gd name="adj" fmla="val 16667"/>
            </a:avLst>
          </a:prstGeom>
          <a:solidFill>
            <a:srgbClr val="F2E2D9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5367C-EF58-4E6A-965B-F4A76B404659}"/>
              </a:ext>
            </a:extLst>
          </p:cNvPr>
          <p:cNvSpPr>
            <a:spLocks noGrp="1"/>
          </p:cNvSpPr>
          <p:nvPr/>
        </p:nvSpPr>
        <p:spPr>
          <a:xfrm>
            <a:off x="895350" y="3552825"/>
            <a:ext cx="14192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5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Robot model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1A0CA3-DF02-4347-B3F3-3D0D2D4FDD62}"/>
              </a:ext>
            </a:extLst>
          </p:cNvPr>
          <p:cNvSpPr>
            <a:spLocks noGrp="1"/>
          </p:cNvSpPr>
          <p:nvPr/>
        </p:nvSpPr>
        <p:spPr>
          <a:xfrm>
            <a:off x="2419350" y="3590925"/>
            <a:ext cx="323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→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023C914-E899-448B-AB61-B69644C1588A}"/>
              </a:ext>
            </a:extLst>
          </p:cNvPr>
          <p:cNvSpPr>
            <a:spLocks noGrp="1"/>
          </p:cNvSpPr>
          <p:nvPr/>
        </p:nvSpPr>
        <p:spPr>
          <a:xfrm>
            <a:off x="2581275" y="3371850"/>
            <a:ext cx="1609725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3196B6-C8CC-46C2-B721-797A8D358839}"/>
              </a:ext>
            </a:extLst>
          </p:cNvPr>
          <p:cNvSpPr>
            <a:spLocks noGrp="1"/>
          </p:cNvSpPr>
          <p:nvPr/>
        </p:nvSpPr>
        <p:spPr>
          <a:xfrm>
            <a:off x="2676525" y="3552825"/>
            <a:ext cx="14192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Simulator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FC2E99-EFBC-447E-BE59-E7DD78F46E58}"/>
              </a:ext>
            </a:extLst>
          </p:cNvPr>
          <p:cNvSpPr>
            <a:spLocks noGrp="1"/>
          </p:cNvSpPr>
          <p:nvPr/>
        </p:nvSpPr>
        <p:spPr>
          <a:xfrm>
            <a:off x="4200525" y="3590925"/>
            <a:ext cx="323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153FD06-B228-4394-9960-5448805CD39E}"/>
              </a:ext>
            </a:extLst>
          </p:cNvPr>
          <p:cNvSpPr>
            <a:spLocks noGrp="1"/>
          </p:cNvSpPr>
          <p:nvPr/>
        </p:nvSpPr>
        <p:spPr>
          <a:xfrm>
            <a:off x="4362450" y="3371850"/>
            <a:ext cx="1609725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B7EAEA-A9CB-45E0-B076-D736BFA13D11}"/>
              </a:ext>
            </a:extLst>
          </p:cNvPr>
          <p:cNvSpPr>
            <a:spLocks noGrp="1"/>
          </p:cNvSpPr>
          <p:nvPr/>
        </p:nvSpPr>
        <p:spPr>
          <a:xfrm>
            <a:off x="4457700" y="3552825"/>
            <a:ext cx="14192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Environment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E3D03C-4009-42B0-AA90-13896D44AEBC}"/>
              </a:ext>
            </a:extLst>
          </p:cNvPr>
          <p:cNvSpPr>
            <a:spLocks noGrp="1"/>
          </p:cNvSpPr>
          <p:nvPr/>
        </p:nvSpPr>
        <p:spPr>
          <a:xfrm>
            <a:off x="5981700" y="3590925"/>
            <a:ext cx="323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E7D61AD-783E-492A-81DB-E086FFC3FADD}"/>
              </a:ext>
            </a:extLst>
          </p:cNvPr>
          <p:cNvSpPr>
            <a:spLocks noGrp="1"/>
          </p:cNvSpPr>
          <p:nvPr/>
        </p:nvSpPr>
        <p:spPr>
          <a:xfrm>
            <a:off x="6143625" y="3371850"/>
            <a:ext cx="1609725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F0A0FC-B2DC-4E3F-9ECA-A9A391AFB066}"/>
              </a:ext>
            </a:extLst>
          </p:cNvPr>
          <p:cNvSpPr>
            <a:spLocks noGrp="1"/>
          </p:cNvSpPr>
          <p:nvPr/>
        </p:nvSpPr>
        <p:spPr>
          <a:xfrm>
            <a:off x="6238875" y="3552825"/>
            <a:ext cx="14192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Reward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3659F47-EC57-49B8-875A-8F8ED91E583C}"/>
              </a:ext>
            </a:extLst>
          </p:cNvPr>
          <p:cNvSpPr>
            <a:spLocks noGrp="1"/>
          </p:cNvSpPr>
          <p:nvPr/>
        </p:nvSpPr>
        <p:spPr>
          <a:xfrm>
            <a:off x="7762875" y="3590925"/>
            <a:ext cx="323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A600019-FE90-4826-A31B-2979797C252A}"/>
              </a:ext>
            </a:extLst>
          </p:cNvPr>
          <p:cNvSpPr>
            <a:spLocks noGrp="1"/>
          </p:cNvSpPr>
          <p:nvPr/>
        </p:nvSpPr>
        <p:spPr>
          <a:xfrm>
            <a:off x="7924800" y="3371850"/>
            <a:ext cx="1609725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AAB5D6E-D72A-4ECD-A341-ABD1CF148C53}"/>
              </a:ext>
            </a:extLst>
          </p:cNvPr>
          <p:cNvSpPr>
            <a:spLocks noGrp="1"/>
          </p:cNvSpPr>
          <p:nvPr/>
        </p:nvSpPr>
        <p:spPr>
          <a:xfrm>
            <a:off x="8020050" y="3552825"/>
            <a:ext cx="14192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Training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0C46C3C-F370-4673-986F-AE8709F7167D}"/>
              </a:ext>
            </a:extLst>
          </p:cNvPr>
          <p:cNvSpPr>
            <a:spLocks noGrp="1"/>
          </p:cNvSpPr>
          <p:nvPr/>
        </p:nvSpPr>
        <p:spPr>
          <a:xfrm>
            <a:off x="9544050" y="3590925"/>
            <a:ext cx="323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→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91FD09C-F7FE-4E03-8254-6FA36A93DB5B}"/>
              </a:ext>
            </a:extLst>
          </p:cNvPr>
          <p:cNvSpPr>
            <a:spLocks noGrp="1"/>
          </p:cNvSpPr>
          <p:nvPr/>
        </p:nvSpPr>
        <p:spPr>
          <a:xfrm>
            <a:off x="9705975" y="3371850"/>
            <a:ext cx="1609725" cy="914400"/>
          </a:xfrm>
          <a:prstGeom prst="roundRect">
            <a:avLst>
              <a:gd name="adj" fmla="val 16667"/>
            </a:avLst>
          </a:prstGeom>
          <a:solidFill>
            <a:srgbClr val="F2E2D9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6D0542-134D-4CC0-84CA-7E183DF7E4B7}"/>
              </a:ext>
            </a:extLst>
          </p:cNvPr>
          <p:cNvSpPr>
            <a:spLocks noGrp="1"/>
          </p:cNvSpPr>
          <p:nvPr/>
        </p:nvSpPr>
        <p:spPr>
          <a:xfrm>
            <a:off x="9801225" y="3552825"/>
            <a:ext cx="14192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5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Evaluation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D68987-447B-4907-84F9-496CFF8E175D}"/>
              </a:ext>
            </a:extLst>
          </p:cNvPr>
          <p:cNvSpPr>
            <a:spLocks noGrp="1"/>
          </p:cNvSpPr>
          <p:nvPr/>
        </p:nvSpPr>
        <p:spPr>
          <a:xfrm>
            <a:off x="2095500" y="4953000"/>
            <a:ext cx="8001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ctr">
              <a:lnSpc>
                <a:spcPct val="98000"/>
              </a:lnSpc>
              <a:buNone/>
              <a:defRPr sz="2025" b="0" i="1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2025" b="0" i="1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The user’s task is locomotion. The first problem they meet is software integration.</a:t>
            </a:r>
          </a:p>
        </p:txBody>
      </p:sp>
    </p:spTree>
    <p:extLst>
      <p:ext uri="{BB962C8B-B14F-4D97-AF65-F5344CB8AC3E}">
        <p14:creationId xmlns:p14="http://schemas.microsoft.com/office/powerpoint/2010/main" val="1245487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AF404D88-EEDB-4878-8E2A-6FCD535292A9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727F22-AE9D-4F06-9A28-5D7F2C6751AA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THE GAP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422C76-0683-448B-BE04-CABCB84EAC14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03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4EF67D-CC9C-4C11-8CE2-4921C1EFE9E4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88"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Powerful tools exist—but the complete workflow</a:t>
            </a:r>
          </a:p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is still built for experts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9906FF-CF26-437D-BCA6-68C1350FD8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66E97-42ED-47DF-ACBD-C9C745F5DEA5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AB5F8C-D9C7-4327-AAD3-74E642B80632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project proposal and implementation experience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6FFC86-54C3-49E5-B375-8CCE2F6A85B9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What already exists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4EBFD1-30A1-405F-A13D-7500EE63AEE4}"/>
              </a:ext>
            </a:extLst>
          </p:cNvPr>
          <p:cNvSpPr>
            <a:spLocks noGrp="1"/>
          </p:cNvSpPr>
          <p:nvPr/>
        </p:nvSpPr>
        <p:spPr>
          <a:xfrm>
            <a:off x="781050" y="280035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Simulation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1C64F7-313A-426C-B896-28771631FC9C}"/>
              </a:ext>
            </a:extLst>
          </p:cNvPr>
          <p:cNvSpPr>
            <a:spLocks noGrp="1"/>
          </p:cNvSpPr>
          <p:nvPr/>
        </p:nvSpPr>
        <p:spPr>
          <a:xfrm>
            <a:off x="2381250" y="280035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PyBullet · Brax · NVIDIA Isaac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8E352C-559D-425C-9F47-3132C24DD39A}"/>
              </a:ext>
            </a:extLst>
          </p:cNvPr>
          <p:cNvSpPr>
            <a:spLocks noGrp="1"/>
          </p:cNvSpPr>
          <p:nvPr/>
        </p:nvSpPr>
        <p:spPr>
          <a:xfrm>
            <a:off x="781050" y="3371850"/>
            <a:ext cx="47625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0C8F7A-479D-4699-9968-E2B63D77F460}"/>
              </a:ext>
            </a:extLst>
          </p:cNvPr>
          <p:cNvSpPr>
            <a:spLocks noGrp="1"/>
          </p:cNvSpPr>
          <p:nvPr/>
        </p:nvSpPr>
        <p:spPr>
          <a:xfrm>
            <a:off x="781050" y="367665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Learning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B7D4F8-25E8-49D6-9180-C984CEAB8724}"/>
              </a:ext>
            </a:extLst>
          </p:cNvPr>
          <p:cNvSpPr>
            <a:spLocks noGrp="1"/>
          </p:cNvSpPr>
          <p:nvPr/>
        </p:nvSpPr>
        <p:spPr>
          <a:xfrm>
            <a:off x="2381250" y="367665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Stable-Baselines3 · PPO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8E7AB0-74D8-4A99-9D1F-9EC1F73402E1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7625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7C30CE-22DC-4A58-9FCF-E7FA47DAC052}"/>
              </a:ext>
            </a:extLst>
          </p:cNvPr>
          <p:cNvSpPr>
            <a:spLocks noGrp="1"/>
          </p:cNvSpPr>
          <p:nvPr/>
        </p:nvSpPr>
        <p:spPr>
          <a:xfrm>
            <a:off x="781050" y="455295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Robot files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746035-FF5B-4BF4-A2C2-7C77162E7926}"/>
              </a:ext>
            </a:extLst>
          </p:cNvPr>
          <p:cNvSpPr>
            <a:spLocks noGrp="1"/>
          </p:cNvSpPr>
          <p:nvPr/>
        </p:nvSpPr>
        <p:spPr>
          <a:xfrm>
            <a:off x="2381250" y="455295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URDF and ready-made models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382940-28FA-4860-906B-D3847DD295E0}"/>
              </a:ext>
            </a:extLst>
          </p:cNvPr>
          <p:cNvSpPr>
            <a:spLocks noGrp="1"/>
          </p:cNvSpPr>
          <p:nvPr/>
        </p:nvSpPr>
        <p:spPr>
          <a:xfrm>
            <a:off x="781050" y="5124450"/>
            <a:ext cx="47625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5891942-B957-463F-9075-EB057176E8B1}"/>
              </a:ext>
            </a:extLst>
          </p:cNvPr>
          <p:cNvSpPr>
            <a:spLocks noGrp="1"/>
          </p:cNvSpPr>
          <p:nvPr/>
        </p:nvSpPr>
        <p:spPr>
          <a:xfrm>
            <a:off x="6076950" y="2171700"/>
            <a:ext cx="4762500" cy="3143250"/>
          </a:xfrm>
          <a:prstGeom prst="roundRect">
            <a:avLst>
              <a:gd name="adj" fmla="val 6667"/>
            </a:avLst>
          </a:prstGeom>
          <a:solidFill>
            <a:srgbClr val="DDEBE7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AD3087-9AF8-4698-B43D-78CFFAC4082A}"/>
              </a:ext>
            </a:extLst>
          </p:cNvPr>
          <p:cNvSpPr>
            <a:spLocks noGrp="1"/>
          </p:cNvSpPr>
          <p:nvPr/>
        </p:nvSpPr>
        <p:spPr>
          <a:xfrm>
            <a:off x="6496050" y="2552700"/>
            <a:ext cx="3848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What was missing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6B612F-D8CF-4928-8AB8-F96ADFF7DC83}"/>
              </a:ext>
            </a:extLst>
          </p:cNvPr>
          <p:cNvSpPr>
            <a:spLocks noGrp="1"/>
          </p:cNvSpPr>
          <p:nvPr/>
        </p:nvSpPr>
        <p:spPr>
          <a:xfrm>
            <a:off x="6496050" y="3162300"/>
            <a:ext cx="38481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72"/>
          </a:bodyPr>
          <a:lstStyle/>
          <a:p>
            <a:pPr algn="l">
              <a:lnSpc>
                <a:spcPct val="100000"/>
              </a:lnSpc>
              <a:buNone/>
              <a:defRPr sz="2025" b="0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2025" b="0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One guided desktop experience that joins these layers, explains the choices, and lets a non-specialist reach a trained policy without writing the glue code first.</a:t>
            </a:r>
          </a:p>
        </p:txBody>
      </p:sp>
    </p:spTree>
    <p:extLst>
      <p:ext uri="{BB962C8B-B14F-4D97-AF65-F5344CB8AC3E}">
        <p14:creationId xmlns:p14="http://schemas.microsoft.com/office/powerpoint/2010/main" val="1016361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8CBD0DC-E545-47AD-912E-2E877B70870E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D6F319-0A20-4DCB-9DC5-9CF14095BA51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OUR ANSWER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CD9DE1-17E3-4365-90F3-E839A9A11F49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04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55A17B-F3E4-48DC-8021-0A4FFA5F336F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EasyRTG turns a robot file and a goal</a:t>
            </a:r>
          </a:p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into a guided training workflow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5906D6-F6B0-48FE-B228-3CC2063140B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D73BD-BAD6-435F-821E-A8B0BB10689B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F2B9BD-7592-4206-B049-618D039432D4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implemented EasyRTG desktop workflow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404928-6DC3-4A89-A96D-8AA8979CFBA3}"/>
              </a:ext>
            </a:extLst>
          </p:cNvPr>
          <p:cNvSpPr>
            <a:spLocks noGrp="1"/>
          </p:cNvSpPr>
          <p:nvPr/>
        </p:nvSpPr>
        <p:spPr>
          <a:xfrm>
            <a:off x="1219200" y="3524250"/>
            <a:ext cx="9753600" cy="38100"/>
          </a:xfrm>
          <a:prstGeom prst="rect">
            <a:avLst/>
          </a:prstGeom>
          <a:solidFill>
            <a:srgbClr val="DDEBE7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D2EB54-A253-43AA-B37E-56B469430D78}"/>
              </a:ext>
            </a:extLst>
          </p:cNvPr>
          <p:cNvSpPr>
            <a:spLocks noGrp="1"/>
          </p:cNvSpPr>
          <p:nvPr/>
        </p:nvSpPr>
        <p:spPr>
          <a:xfrm>
            <a:off x="666750" y="2762250"/>
            <a:ext cx="2000250" cy="1676400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C15E19-4683-43E6-9863-436CBB886184}"/>
              </a:ext>
            </a:extLst>
          </p:cNvPr>
          <p:cNvSpPr>
            <a:spLocks noGrp="1"/>
          </p:cNvSpPr>
          <p:nvPr/>
        </p:nvSpPr>
        <p:spPr>
          <a:xfrm>
            <a:off x="857250" y="29337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92E0C4-4051-4B18-BE47-746623E6D82F}"/>
              </a:ext>
            </a:extLst>
          </p:cNvPr>
          <p:cNvSpPr>
            <a:spLocks noGrp="1"/>
          </p:cNvSpPr>
          <p:nvPr/>
        </p:nvSpPr>
        <p:spPr>
          <a:xfrm>
            <a:off x="857250" y="32956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Load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19F3B3-F807-41AD-BB57-7E61BDA75CFA}"/>
              </a:ext>
            </a:extLst>
          </p:cNvPr>
          <p:cNvSpPr>
            <a:spLocks noGrp="1"/>
          </p:cNvSpPr>
          <p:nvPr/>
        </p:nvSpPr>
        <p:spPr>
          <a:xfrm>
            <a:off x="857250" y="3743325"/>
            <a:ext cx="1619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Bring any URDF robot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5DE7A2-6619-400A-B9FA-F01BFF9BDD85}"/>
              </a:ext>
            </a:extLst>
          </p:cNvPr>
          <p:cNvSpPr>
            <a:spLocks noGrp="1"/>
          </p:cNvSpPr>
          <p:nvPr/>
        </p:nvSpPr>
        <p:spPr>
          <a:xfrm>
            <a:off x="2647950" y="33528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C236C07-BA56-4701-9745-B85970094E4D}"/>
              </a:ext>
            </a:extLst>
          </p:cNvPr>
          <p:cNvSpPr>
            <a:spLocks noGrp="1"/>
          </p:cNvSpPr>
          <p:nvPr/>
        </p:nvSpPr>
        <p:spPr>
          <a:xfrm>
            <a:off x="2971800" y="2762250"/>
            <a:ext cx="2000250" cy="1676400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F7D529-2296-4C0A-9F26-33FF1584C970}"/>
              </a:ext>
            </a:extLst>
          </p:cNvPr>
          <p:cNvSpPr>
            <a:spLocks noGrp="1"/>
          </p:cNvSpPr>
          <p:nvPr/>
        </p:nvSpPr>
        <p:spPr>
          <a:xfrm>
            <a:off x="3162300" y="29337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3CD63B-3D62-40CD-BB49-E662DDE8F473}"/>
              </a:ext>
            </a:extLst>
          </p:cNvPr>
          <p:cNvSpPr>
            <a:spLocks noGrp="1"/>
          </p:cNvSpPr>
          <p:nvPr/>
        </p:nvSpPr>
        <p:spPr>
          <a:xfrm>
            <a:off x="3162300" y="32956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Describe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02E703-1FDD-4610-A3C1-89BA5AA6D040}"/>
              </a:ext>
            </a:extLst>
          </p:cNvPr>
          <p:cNvSpPr>
            <a:spLocks noGrp="1"/>
          </p:cNvSpPr>
          <p:nvPr/>
        </p:nvSpPr>
        <p:spPr>
          <a:xfrm>
            <a:off x="3162300" y="3743325"/>
            <a:ext cx="1619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Say what it should do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930C09-4C6B-43A5-931E-2ACB6F358CBB}"/>
              </a:ext>
            </a:extLst>
          </p:cNvPr>
          <p:cNvSpPr>
            <a:spLocks noGrp="1"/>
          </p:cNvSpPr>
          <p:nvPr/>
        </p:nvSpPr>
        <p:spPr>
          <a:xfrm>
            <a:off x="4953000" y="33528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6A13A69-F9F0-44DF-94B9-FC19B43D4D54}"/>
              </a:ext>
            </a:extLst>
          </p:cNvPr>
          <p:cNvSpPr>
            <a:spLocks noGrp="1"/>
          </p:cNvSpPr>
          <p:nvPr/>
        </p:nvSpPr>
        <p:spPr>
          <a:xfrm>
            <a:off x="5276850" y="2762250"/>
            <a:ext cx="2000250" cy="1676400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EFBFBA-18BD-457B-B09F-E9FDD12B0F3F}"/>
              </a:ext>
            </a:extLst>
          </p:cNvPr>
          <p:cNvSpPr>
            <a:spLocks noGrp="1"/>
          </p:cNvSpPr>
          <p:nvPr/>
        </p:nvSpPr>
        <p:spPr>
          <a:xfrm>
            <a:off x="5467350" y="29337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00079D-D18F-4313-A929-04192C6A5C8E}"/>
              </a:ext>
            </a:extLst>
          </p:cNvPr>
          <p:cNvSpPr>
            <a:spLocks noGrp="1"/>
          </p:cNvSpPr>
          <p:nvPr/>
        </p:nvSpPr>
        <p:spPr>
          <a:xfrm>
            <a:off x="5467350" y="32956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Configure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2831AC-5C95-45D7-8DFE-5C31AEF36C74}"/>
              </a:ext>
            </a:extLst>
          </p:cNvPr>
          <p:cNvSpPr>
            <a:spLocks noGrp="1"/>
          </p:cNvSpPr>
          <p:nvPr/>
        </p:nvSpPr>
        <p:spPr>
          <a:xfrm>
            <a:off x="5467350" y="3743325"/>
            <a:ext cx="1619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Agent proposes a setup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A7ABD-B5F4-4B9A-A1B2-92CFF2718BE1}"/>
              </a:ext>
            </a:extLst>
          </p:cNvPr>
          <p:cNvSpPr>
            <a:spLocks noGrp="1"/>
          </p:cNvSpPr>
          <p:nvPr/>
        </p:nvSpPr>
        <p:spPr>
          <a:xfrm>
            <a:off x="7258050" y="33528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F6075BB-BC36-4E9B-9F58-49A1BB9FDC86}"/>
              </a:ext>
            </a:extLst>
          </p:cNvPr>
          <p:cNvSpPr>
            <a:spLocks noGrp="1"/>
          </p:cNvSpPr>
          <p:nvPr/>
        </p:nvSpPr>
        <p:spPr>
          <a:xfrm>
            <a:off x="7581900" y="2762250"/>
            <a:ext cx="2000250" cy="1676400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72CF920-A012-498E-B1CB-22ADD23C6C50}"/>
              </a:ext>
            </a:extLst>
          </p:cNvPr>
          <p:cNvSpPr>
            <a:spLocks noGrp="1"/>
          </p:cNvSpPr>
          <p:nvPr/>
        </p:nvSpPr>
        <p:spPr>
          <a:xfrm>
            <a:off x="7772400" y="29337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61D6C0-5811-43E0-8DCD-446705C49900}"/>
              </a:ext>
            </a:extLst>
          </p:cNvPr>
          <p:cNvSpPr>
            <a:spLocks noGrp="1"/>
          </p:cNvSpPr>
          <p:nvPr/>
        </p:nvSpPr>
        <p:spPr>
          <a:xfrm>
            <a:off x="7772400" y="32956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Train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55D028C-DF87-4A75-9B87-811555B219D6}"/>
              </a:ext>
            </a:extLst>
          </p:cNvPr>
          <p:cNvSpPr>
            <a:spLocks noGrp="1"/>
          </p:cNvSpPr>
          <p:nvPr/>
        </p:nvSpPr>
        <p:spPr>
          <a:xfrm>
            <a:off x="7772400" y="3743325"/>
            <a:ext cx="1619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Run thousands of environments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C90A833-E75C-4090-A1D8-E13349A238CF}"/>
              </a:ext>
            </a:extLst>
          </p:cNvPr>
          <p:cNvSpPr>
            <a:spLocks noGrp="1"/>
          </p:cNvSpPr>
          <p:nvPr/>
        </p:nvSpPr>
        <p:spPr>
          <a:xfrm>
            <a:off x="9563100" y="335280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→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A4BF18E-0F30-47ED-B3F9-C86E497C5961}"/>
              </a:ext>
            </a:extLst>
          </p:cNvPr>
          <p:cNvSpPr>
            <a:spLocks noGrp="1"/>
          </p:cNvSpPr>
          <p:nvPr/>
        </p:nvSpPr>
        <p:spPr>
          <a:xfrm>
            <a:off x="9886950" y="2762250"/>
            <a:ext cx="2000250" cy="1676400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C0F285-0614-4939-8EE3-CC3C2E099CB6}"/>
              </a:ext>
            </a:extLst>
          </p:cNvPr>
          <p:cNvSpPr>
            <a:spLocks noGrp="1"/>
          </p:cNvSpPr>
          <p:nvPr/>
        </p:nvSpPr>
        <p:spPr>
          <a:xfrm>
            <a:off x="10077450" y="293370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1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05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89992DC-6F99-4E77-83C0-66547D253B3B}"/>
              </a:ext>
            </a:extLst>
          </p:cNvPr>
          <p:cNvSpPr>
            <a:spLocks noGrp="1"/>
          </p:cNvSpPr>
          <p:nvPr/>
        </p:nvSpPr>
        <p:spPr>
          <a:xfrm>
            <a:off x="10077450" y="32956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9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Evaluate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DEBFA4-101F-4BA5-8743-4712043D5416}"/>
              </a:ext>
            </a:extLst>
          </p:cNvPr>
          <p:cNvSpPr>
            <a:spLocks noGrp="1"/>
          </p:cNvSpPr>
          <p:nvPr/>
        </p:nvSpPr>
        <p:spPr>
          <a:xfrm>
            <a:off x="10077450" y="3743325"/>
            <a:ext cx="1619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Watch and compare policies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A4AC5F6-B658-4D6B-BA29-C3B79B59C888}"/>
              </a:ext>
            </a:extLst>
          </p:cNvPr>
          <p:cNvSpPr>
            <a:spLocks noGrp="1"/>
          </p:cNvSpPr>
          <p:nvPr/>
        </p:nvSpPr>
        <p:spPr>
          <a:xfrm>
            <a:off x="2133600" y="5143500"/>
            <a:ext cx="7924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28"/>
          </a:bodyPr>
          <a:lstStyle/>
          <a:p>
            <a:pPr algn="ctr">
              <a:lnSpc>
                <a:spcPct val="98000"/>
              </a:lnSpc>
              <a:buNone/>
              <a:defRPr sz="172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The user can inspect and approve the important changes; the app stays usable without the agent.</a:t>
            </a:r>
          </a:p>
        </p:txBody>
      </p:sp>
    </p:spTree>
    <p:extLst>
      <p:ext uri="{BB962C8B-B14F-4D97-AF65-F5344CB8AC3E}">
        <p14:creationId xmlns:p14="http://schemas.microsoft.com/office/powerpoint/2010/main" val="1126474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B48C9E9-5E90-4075-855D-CBF8F9D38F82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3B7B72-786F-4890-933C-1224219172F6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THE FIRST VERSION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AC0CEE-D324-48F3-A21B-F122EAF3DA69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05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7CC2CF-A772-46EB-8529-8E736F556A90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We started with the most accessible stack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C1A89C-47BE-4773-92A6-D3FF1600C4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65C786-0BE8-4D22-937D-F3C57422D441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71A662-2566-4870-A48E-6A53C55C83DC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project proposal + repository architecture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0B694-65CC-4963-AA27-99A02C1948A3}"/>
              </a:ext>
            </a:extLst>
          </p:cNvPr>
          <p:cNvSpPr>
            <a:spLocks noGrp="1"/>
          </p:cNvSpPr>
          <p:nvPr/>
        </p:nvSpPr>
        <p:spPr>
          <a:xfrm>
            <a:off x="762000" y="20193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Decision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5E4B6F-8AAC-4114-8CCA-144FDB60CEAC}"/>
              </a:ext>
            </a:extLst>
          </p:cNvPr>
          <p:cNvSpPr>
            <a:spLocks noGrp="1"/>
          </p:cNvSpPr>
          <p:nvPr/>
        </p:nvSpPr>
        <p:spPr>
          <a:xfrm>
            <a:off x="4495800" y="2019300"/>
            <a:ext cx="609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Why it made sense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E567FA-4DCD-41FC-8A9E-351E1352823D}"/>
              </a:ext>
            </a:extLst>
          </p:cNvPr>
          <p:cNvSpPr>
            <a:spLocks noGrp="1"/>
          </p:cNvSpPr>
          <p:nvPr/>
        </p:nvSpPr>
        <p:spPr>
          <a:xfrm>
            <a:off x="762000" y="264795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Windows + CPU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3C4D16-4C99-497A-BEDA-8344BA09F2C3}"/>
              </a:ext>
            </a:extLst>
          </p:cNvPr>
          <p:cNvSpPr>
            <a:spLocks noGrp="1"/>
          </p:cNvSpPr>
          <p:nvPr/>
        </p:nvSpPr>
        <p:spPr>
          <a:xfrm>
            <a:off x="4495800" y="2647950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Easy to run on a normal student laptop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C95124-F63B-4A18-BFEE-0E1ADD606A83}"/>
              </a:ext>
            </a:extLst>
          </p:cNvPr>
          <p:cNvSpPr>
            <a:spLocks noGrp="1"/>
          </p:cNvSpPr>
          <p:nvPr/>
        </p:nvSpPr>
        <p:spPr>
          <a:xfrm>
            <a:off x="762000" y="3238500"/>
            <a:ext cx="99441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25AE1F-6FFD-4059-971E-91E382B45F6B}"/>
              </a:ext>
            </a:extLst>
          </p:cNvPr>
          <p:cNvSpPr>
            <a:spLocks noGrp="1"/>
          </p:cNvSpPr>
          <p:nvPr/>
        </p:nvSpPr>
        <p:spPr>
          <a:xfrm>
            <a:off x="762000" y="342900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Flutter + FastAPI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C8B2A3-3532-454C-A778-E63DF64D6F1F}"/>
              </a:ext>
            </a:extLst>
          </p:cNvPr>
          <p:cNvSpPr>
            <a:spLocks noGrp="1"/>
          </p:cNvSpPr>
          <p:nvPr/>
        </p:nvSpPr>
        <p:spPr>
          <a:xfrm>
            <a:off x="4495800" y="3429000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A responsive desktop UI with a Python training backend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74FEBC-D316-4B41-9DEB-CF5FC5DA66B3}"/>
              </a:ext>
            </a:extLst>
          </p:cNvPr>
          <p:cNvSpPr>
            <a:spLocks noGrp="1"/>
          </p:cNvSpPr>
          <p:nvPr/>
        </p:nvSpPr>
        <p:spPr>
          <a:xfrm>
            <a:off x="762000" y="4019550"/>
            <a:ext cx="99441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9AA0512-490F-4216-A5C7-3FAFEF4A642D}"/>
              </a:ext>
            </a:extLst>
          </p:cNvPr>
          <p:cNvSpPr>
            <a:spLocks noGrp="1"/>
          </p:cNvSpPr>
          <p:nvPr/>
        </p:nvSpPr>
        <p:spPr>
          <a:xfrm>
            <a:off x="762000" y="421005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PyBullet + SB3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C57C95F-2588-4903-951C-3D1CE44E3510}"/>
              </a:ext>
            </a:extLst>
          </p:cNvPr>
          <p:cNvSpPr>
            <a:spLocks noGrp="1"/>
          </p:cNvSpPr>
          <p:nvPr/>
        </p:nvSpPr>
        <p:spPr>
          <a:xfrm>
            <a:off x="4495800" y="4210050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Mature open-source physics and PPO implementation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703C5D-E3D5-4325-B80C-47C80EF56041}"/>
              </a:ext>
            </a:extLst>
          </p:cNvPr>
          <p:cNvSpPr>
            <a:spLocks noGrp="1"/>
          </p:cNvSpPr>
          <p:nvPr/>
        </p:nvSpPr>
        <p:spPr>
          <a:xfrm>
            <a:off x="762000" y="4800600"/>
            <a:ext cx="99441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37564D-3136-408A-962E-2DF5E5B31A10}"/>
              </a:ext>
            </a:extLst>
          </p:cNvPr>
          <p:cNvSpPr>
            <a:spLocks noGrp="1"/>
          </p:cNvSpPr>
          <p:nvPr/>
        </p:nvSpPr>
        <p:spPr>
          <a:xfrm>
            <a:off x="762000" y="499110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Built-in assistant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E982DA-B819-48F2-AD21-493F5F3B15B1}"/>
              </a:ext>
            </a:extLst>
          </p:cNvPr>
          <p:cNvSpPr>
            <a:spLocks noGrp="1"/>
          </p:cNvSpPr>
          <p:nvPr/>
        </p:nvSpPr>
        <p:spPr>
          <a:xfrm>
            <a:off x="4495800" y="4991100"/>
            <a:ext cx="6210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Plain-language help without making the app dependent on an LLM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33A4C4-91B1-4F72-AC35-4C2B081F1808}"/>
              </a:ext>
            </a:extLst>
          </p:cNvPr>
          <p:cNvSpPr>
            <a:spLocks noGrp="1"/>
          </p:cNvSpPr>
          <p:nvPr/>
        </p:nvSpPr>
        <p:spPr>
          <a:xfrm>
            <a:off x="762000" y="5581650"/>
            <a:ext cx="99441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7F00AD1-54C3-4077-ABF6-9124B0D6CE74}"/>
              </a:ext>
            </a:extLst>
          </p:cNvPr>
          <p:cNvSpPr>
            <a:spLocks noGrp="1"/>
          </p:cNvSpPr>
          <p:nvPr/>
        </p:nvSpPr>
        <p:spPr>
          <a:xfrm>
            <a:off x="762000" y="5829300"/>
            <a:ext cx="9944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650" b="0" i="1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1650" b="0" i="1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The design priority was access first: prove the complete workflow before chasing maximum speed.</a:t>
            </a:r>
          </a:p>
        </p:txBody>
      </p:sp>
    </p:spTree>
    <p:extLst>
      <p:ext uri="{BB962C8B-B14F-4D97-AF65-F5344CB8AC3E}">
        <p14:creationId xmlns:p14="http://schemas.microsoft.com/office/powerpoint/2010/main" val="59168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371520D-77A5-4C0F-8D80-C3B9B7C6AEC5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B8502A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A2123E-206B-4355-8B4B-F6EC9E51ECDF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THE BOTTLENECK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4B8988-C92F-4285-BFD3-6BB92361CEFE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06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E54ACD-2A48-4598-AD35-3AF3A83848C5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The first version worked—but CPU speed</a:t>
            </a:r>
          </a:p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limited how quickly we could 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4F6D0A-948D-491A-B155-489C86080CD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F5B362-5A7E-4880-8766-16CF11C78EDA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8361A8-D05C-45D4-8ED6-7A9600744DDA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early project measurements supplied by presenter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C3A069-242F-4FA5-8703-D2AAC7A56F7D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4000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43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3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240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729C6A-0E82-4499-A340-EAD1FEDC727C}"/>
              </a:ext>
            </a:extLst>
          </p:cNvPr>
          <p:cNvSpPr>
            <a:spLocks noGrp="1"/>
          </p:cNvSpPr>
          <p:nvPr/>
        </p:nvSpPr>
        <p:spPr>
          <a:xfrm>
            <a:off x="781050" y="308610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FPS · normal CPU path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243497-8D65-4EF0-86BF-805D845C2090}"/>
              </a:ext>
            </a:extLst>
          </p:cNvPr>
          <p:cNvSpPr>
            <a:spLocks noGrp="1"/>
          </p:cNvSpPr>
          <p:nvPr/>
        </p:nvSpPr>
        <p:spPr>
          <a:xfrm>
            <a:off x="781050" y="3390900"/>
            <a:ext cx="400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2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Initial single-environment workflow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6539E5-3730-40B8-8E12-81D47D59E058}"/>
              </a:ext>
            </a:extLst>
          </p:cNvPr>
          <p:cNvSpPr>
            <a:spLocks noGrp="1"/>
          </p:cNvSpPr>
          <p:nvPr/>
        </p:nvSpPr>
        <p:spPr>
          <a:xfrm>
            <a:off x="762000" y="4210050"/>
            <a:ext cx="4171950" cy="9525"/>
          </a:xfrm>
          <a:prstGeom prst="rect">
            <a:avLst/>
          </a:prstGeom>
          <a:solidFill>
            <a:srgbClr val="F2E2D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750CD8-D4EB-450C-8435-672CBE577B60}"/>
              </a:ext>
            </a:extLst>
          </p:cNvPr>
          <p:cNvSpPr>
            <a:spLocks noGrp="1"/>
          </p:cNvSpPr>
          <p:nvPr/>
        </p:nvSpPr>
        <p:spPr>
          <a:xfrm>
            <a:off x="781050" y="4362450"/>
            <a:ext cx="4000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43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3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1,750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3713E4-E3B5-4A19-805F-7264F1CB0A4F}"/>
              </a:ext>
            </a:extLst>
          </p:cNvPr>
          <p:cNvSpPr>
            <a:spLocks noGrp="1"/>
          </p:cNvSpPr>
          <p:nvPr/>
        </p:nvSpPr>
        <p:spPr>
          <a:xfrm>
            <a:off x="781050" y="50482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FPS · parallel CPU envs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EA818E-5875-432A-AEF1-3A42EFF69A77}"/>
              </a:ext>
            </a:extLst>
          </p:cNvPr>
          <p:cNvSpPr>
            <a:spLocks noGrp="1"/>
          </p:cNvSpPr>
          <p:nvPr/>
        </p:nvSpPr>
        <p:spPr>
          <a:xfrm>
            <a:off x="781050" y="5353050"/>
            <a:ext cx="400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2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Better throughput, still slow for repeated policy experiments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5750EFE-9AE2-4287-9D6F-6EA76692C10D}"/>
              </a:ext>
            </a:extLst>
          </p:cNvPr>
          <p:cNvSpPr>
            <a:spLocks noGrp="1"/>
          </p:cNvSpPr>
          <p:nvPr/>
        </p:nvSpPr>
        <p:spPr>
          <a:xfrm>
            <a:off x="5810250" y="2286000"/>
            <a:ext cx="4972050" cy="3124200"/>
          </a:xfrm>
          <a:prstGeom prst="roundRect">
            <a:avLst>
              <a:gd name="adj" fmla="val 6707"/>
            </a:avLst>
          </a:prstGeom>
          <a:solidFill>
            <a:srgbClr val="F2E2D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6DFA2D-BD45-4A9B-A1B2-20088B334354}"/>
              </a:ext>
            </a:extLst>
          </p:cNvPr>
          <p:cNvSpPr>
            <a:spLocks noGrp="1"/>
          </p:cNvSpPr>
          <p:nvPr/>
        </p:nvSpPr>
        <p:spPr>
          <a:xfrm>
            <a:off x="6248400" y="268605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The consequence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9281B1-36B3-44C6-82F8-999DED63B8CB}"/>
              </a:ext>
            </a:extLst>
          </p:cNvPr>
          <p:cNvSpPr>
            <a:spLocks noGrp="1"/>
          </p:cNvSpPr>
          <p:nvPr/>
        </p:nvSpPr>
        <p:spPr>
          <a:xfrm>
            <a:off x="6248400" y="3333750"/>
            <a:ext cx="40005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117"/>
          </a:bodyPr>
          <a:lstStyle/>
          <a:p>
            <a:pPr algn="l">
              <a:lnSpc>
                <a:spcPct val="100000"/>
              </a:lnSpc>
              <a:buNone/>
              <a:defRPr sz="2025" b="0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2025" b="0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The application could load, configure, train and evaluate a robot. But every change to the reward or setup took too long to validate, which limited the number of serious experiments we could run.</a:t>
            </a:r>
          </a:p>
        </p:txBody>
      </p:sp>
    </p:spTree>
    <p:extLst>
      <p:ext uri="{BB962C8B-B14F-4D97-AF65-F5344CB8AC3E}">
        <p14:creationId xmlns:p14="http://schemas.microsoft.com/office/powerpoint/2010/main" val="1381410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4C0C3F1-4F78-4DCD-92C3-96F1E5F248E8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B8502A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2B647B-736D-4BAD-A216-1EABDDD0030D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ATTEMPT ONE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544AA4-A710-4387-AB34-A851E314B60D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07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362DFB-78A3-424B-A340-42F8B99721DA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Linux and Brax gave us GPU access—</a:t>
            </a:r>
          </a:p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but not a policy we could use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55F02F-F8C0-4E6C-9971-0D68F5E44C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EE24A8-44B0-497B-A5DF-84F01364D36A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BCDC3C-48EE-4D0A-A261-28F249CBE23C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project development history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8C1E04B-DECB-4AA6-A7C4-8E50363D3FBF}"/>
              </a:ext>
            </a:extLst>
          </p:cNvPr>
          <p:cNvSpPr>
            <a:spLocks noGrp="1"/>
          </p:cNvSpPr>
          <p:nvPr/>
        </p:nvSpPr>
        <p:spPr>
          <a:xfrm>
            <a:off x="819150" y="2476500"/>
            <a:ext cx="3067050" cy="18288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66BD24-AADD-4C09-802C-AB58E37B588B}"/>
              </a:ext>
            </a:extLst>
          </p:cNvPr>
          <p:cNvSpPr>
            <a:spLocks noGrp="1"/>
          </p:cNvSpPr>
          <p:nvPr/>
        </p:nvSpPr>
        <p:spPr>
          <a:xfrm>
            <a:off x="1066800" y="2686050"/>
            <a:ext cx="38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22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2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9B7C88-29C8-4F67-80B0-7216F7569A6E}"/>
              </a:ext>
            </a:extLst>
          </p:cNvPr>
          <p:cNvSpPr>
            <a:spLocks noGrp="1"/>
          </p:cNvSpPr>
          <p:nvPr/>
        </p:nvSpPr>
        <p:spPr>
          <a:xfrm>
            <a:off x="1066800" y="31813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Move to Linux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54CF9B-32FA-47C4-8B58-26AE035C4BE0}"/>
              </a:ext>
            </a:extLst>
          </p:cNvPr>
          <p:cNvSpPr>
            <a:spLocks noGrp="1"/>
          </p:cNvSpPr>
          <p:nvPr/>
        </p:nvSpPr>
        <p:spPr>
          <a:xfrm>
            <a:off x="1066800" y="3657600"/>
            <a:ext cx="2571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The practical route to GPU support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18C230-2942-4AA8-9613-1BD601F0EBEA}"/>
              </a:ext>
            </a:extLst>
          </p:cNvPr>
          <p:cNvSpPr>
            <a:spLocks noGrp="1"/>
          </p:cNvSpPr>
          <p:nvPr/>
        </p:nvSpPr>
        <p:spPr>
          <a:xfrm>
            <a:off x="3924300" y="318135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2100" b="0" i="0">
                <a:solidFill>
                  <a:srgbClr val="B8502A"/>
                </a:solidFill>
                <a:latin typeface="Segoe UI"/>
                <a:ea typeface="Segoe UI"/>
                <a:cs typeface="Segoe UI"/>
              </a:defRPr>
            </a:pPr>
            <a:r>
              <a:rPr sz="2100" b="0" i="0">
                <a:solidFill>
                  <a:srgbClr val="B8502A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4670719-B42A-485F-BB7F-B6A55470C38B}"/>
              </a:ext>
            </a:extLst>
          </p:cNvPr>
          <p:cNvSpPr>
            <a:spLocks noGrp="1"/>
          </p:cNvSpPr>
          <p:nvPr/>
        </p:nvSpPr>
        <p:spPr>
          <a:xfrm>
            <a:off x="4381500" y="2476500"/>
            <a:ext cx="3067050" cy="18288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A38DE0-5AFA-4001-A381-ED55E81EFB34}"/>
              </a:ext>
            </a:extLst>
          </p:cNvPr>
          <p:cNvSpPr>
            <a:spLocks noGrp="1"/>
          </p:cNvSpPr>
          <p:nvPr/>
        </p:nvSpPr>
        <p:spPr>
          <a:xfrm>
            <a:off x="4629150" y="2686050"/>
            <a:ext cx="38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22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2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14F4F4-72C1-46B0-8EA5-F2FBCB2D0352}"/>
              </a:ext>
            </a:extLst>
          </p:cNvPr>
          <p:cNvSpPr>
            <a:spLocks noGrp="1"/>
          </p:cNvSpPr>
          <p:nvPr/>
        </p:nvSpPr>
        <p:spPr>
          <a:xfrm>
            <a:off x="4629150" y="31813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Adopt Brax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4B9B8D-BD4B-4798-9222-26CA26F7E865}"/>
              </a:ext>
            </a:extLst>
          </p:cNvPr>
          <p:cNvSpPr>
            <a:spLocks noGrp="1"/>
          </p:cNvSpPr>
          <p:nvPr/>
        </p:nvSpPr>
        <p:spPr>
          <a:xfrm>
            <a:off x="4629150" y="3657600"/>
            <a:ext cx="2571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Run many environments in parallel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04E640-7B82-4EFD-B82B-14905EA0CF8D}"/>
              </a:ext>
            </a:extLst>
          </p:cNvPr>
          <p:cNvSpPr>
            <a:spLocks noGrp="1"/>
          </p:cNvSpPr>
          <p:nvPr/>
        </p:nvSpPr>
        <p:spPr>
          <a:xfrm>
            <a:off x="7486650" y="3181350"/>
            <a:ext cx="457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2100" b="0" i="0">
                <a:solidFill>
                  <a:srgbClr val="B8502A"/>
                </a:solidFill>
                <a:latin typeface="Segoe UI"/>
                <a:ea typeface="Segoe UI"/>
                <a:cs typeface="Segoe UI"/>
              </a:defRPr>
            </a:pPr>
            <a:r>
              <a:rPr sz="2100" b="0" i="0">
                <a:solidFill>
                  <a:srgbClr val="B8502A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91BA089-8F7F-4C37-BED8-9F0FF7526AD7}"/>
              </a:ext>
            </a:extLst>
          </p:cNvPr>
          <p:cNvSpPr>
            <a:spLocks noGrp="1"/>
          </p:cNvSpPr>
          <p:nvPr/>
        </p:nvSpPr>
        <p:spPr>
          <a:xfrm>
            <a:off x="7943850" y="2476500"/>
            <a:ext cx="3067050" cy="18288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263EED-1ED8-4259-A09E-6758CCD1764A}"/>
              </a:ext>
            </a:extLst>
          </p:cNvPr>
          <p:cNvSpPr>
            <a:spLocks noGrp="1"/>
          </p:cNvSpPr>
          <p:nvPr/>
        </p:nvSpPr>
        <p:spPr>
          <a:xfrm>
            <a:off x="8191500" y="2686050"/>
            <a:ext cx="38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22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22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97CA37-49E2-4312-835C-6B2DBCAEC9B1}"/>
              </a:ext>
            </a:extLst>
          </p:cNvPr>
          <p:cNvSpPr>
            <a:spLocks noGrp="1"/>
          </p:cNvSpPr>
          <p:nvPr/>
        </p:nvSpPr>
        <p:spPr>
          <a:xfrm>
            <a:off x="8191500" y="3181350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Train policies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D88AAE-B334-4DAE-A7A1-7CA479E5F65C}"/>
              </a:ext>
            </a:extLst>
          </p:cNvPr>
          <p:cNvSpPr>
            <a:spLocks noGrp="1"/>
          </p:cNvSpPr>
          <p:nvPr/>
        </p:nvSpPr>
        <p:spPr>
          <a:xfrm>
            <a:off x="8191500" y="3657600"/>
            <a:ext cx="2571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42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The results were not stable or convincing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1CB3AFD-6CE1-4E02-85DC-06BBE8B02C76}"/>
              </a:ext>
            </a:extLst>
          </p:cNvPr>
          <p:cNvSpPr>
            <a:spLocks noGrp="1"/>
          </p:cNvSpPr>
          <p:nvPr/>
        </p:nvSpPr>
        <p:spPr>
          <a:xfrm>
            <a:off x="1714500" y="4953000"/>
            <a:ext cx="8763000" cy="704850"/>
          </a:xfrm>
          <a:prstGeom prst="roundRect">
            <a:avLst>
              <a:gd name="adj" fmla="val 24324"/>
            </a:avLst>
          </a:prstGeom>
          <a:solidFill>
            <a:srgbClr val="F2E2D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28C1E1-85AB-4D71-87EC-ED55D7E7B3C8}"/>
              </a:ext>
            </a:extLst>
          </p:cNvPr>
          <p:cNvSpPr>
            <a:spLocks noGrp="1"/>
          </p:cNvSpPr>
          <p:nvPr/>
        </p:nvSpPr>
        <p:spPr>
          <a:xfrm>
            <a:off x="2000250" y="5124450"/>
            <a:ext cx="819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78686"/>
          </a:bodyPr>
          <a:lstStyle/>
          <a:p>
            <a:pPr algn="ctr">
              <a:lnSpc>
                <a:spcPct val="98000"/>
              </a:lnSpc>
              <a:buNone/>
              <a:defRPr sz="1875" b="0" i="1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1875" b="0" i="1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Lesson: speed only matters when the physics, rewards and workflow produce credible behaviour.</a:t>
            </a:r>
          </a:p>
        </p:txBody>
      </p:sp>
    </p:spTree>
    <p:extLst>
      <p:ext uri="{BB962C8B-B14F-4D97-AF65-F5344CB8AC3E}">
        <p14:creationId xmlns:p14="http://schemas.microsoft.com/office/powerpoint/2010/main" val="1802095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333256D-EC3C-4FE9-86EA-D03D426C2D34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B8502A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623831-49D5-447B-8FA3-FE5261C16A9C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THE TURNING POINT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A7F8A5-BBFB-405F-A840-18D39ACA83DF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08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3EEA27-8BE2-4416-A21C-516DDA6675D8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Then the laptop died.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37E7E6-418F-411A-A800-7B8F0DD451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E1C695-EA91-4139-B603-000A2938B6F3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B8502A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DF7CF7-669C-4428-A0A6-906DD712B482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project development history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8EF0B3-FDCB-4070-8CCD-1864E6E47265}"/>
              </a:ext>
            </a:extLst>
          </p:cNvPr>
          <p:cNvSpPr>
            <a:spLocks noGrp="1"/>
          </p:cNvSpPr>
          <p:nvPr/>
        </p:nvSpPr>
        <p:spPr>
          <a:xfrm>
            <a:off x="800100" y="2057400"/>
            <a:ext cx="49530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964"/>
          </a:bodyPr>
          <a:lstStyle/>
          <a:p>
            <a:pPr algn="l">
              <a:lnSpc>
                <a:spcPct val="100000"/>
              </a:lnSpc>
              <a:buNone/>
              <a:defRPr sz="2175" b="0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It happened on an ordinary gaming day. The weekly meeting would not move, so I looked for the fastest practical replacement.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5AE57C-DC50-43D7-ABA3-4AF03CBA6B3C}"/>
              </a:ext>
            </a:extLst>
          </p:cNvPr>
          <p:cNvSpPr>
            <a:spLocks noGrp="1"/>
          </p:cNvSpPr>
          <p:nvPr/>
        </p:nvSpPr>
        <p:spPr>
          <a:xfrm>
            <a:off x="800100" y="3600450"/>
            <a:ext cx="49530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B8502A"/>
                </a:solidFill>
                <a:latin typeface="Segoe UI"/>
                <a:ea typeface="Segoe UI"/>
                <a:cs typeface="Segoe UI"/>
              </a:defRPr>
            </a:pPr>
            <a:r>
              <a:rPr sz="2025" b="1" i="0">
                <a:solidFill>
                  <a:srgbClr val="B8502A"/>
                </a:solidFill>
                <a:latin typeface="Segoe UI"/>
                <a:ea typeface="Segoe UI"/>
                <a:cs typeface="Segoe UI"/>
              </a:rPr>
              <a:t>A Dubizzle deal put a capable NVIDIA GPU back on the desk—and changed the project path.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2845A5-73E6-4E91-879C-A2858542A50D}"/>
              </a:ext>
            </a:extLst>
          </p:cNvPr>
          <p:cNvSpPr>
            <a:spLocks noGrp="1"/>
          </p:cNvSpPr>
          <p:nvPr/>
        </p:nvSpPr>
        <p:spPr>
          <a:xfrm>
            <a:off x="6858000" y="2114550"/>
            <a:ext cx="38100" cy="3162300"/>
          </a:xfrm>
          <a:prstGeom prst="rect">
            <a:avLst/>
          </a:prstGeom>
          <a:solidFill>
            <a:srgbClr val="F2E2D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6492CC-1970-49AE-B54E-D708A15078C8}"/>
              </a:ext>
            </a:extLst>
          </p:cNvPr>
          <p:cNvSpPr>
            <a:spLocks noGrp="1"/>
          </p:cNvSpPr>
          <p:nvPr/>
        </p:nvSpPr>
        <p:spPr>
          <a:xfrm>
            <a:off x="6696075" y="21145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B8502A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C775F0-D26C-430D-821A-8490F97533FF}"/>
              </a:ext>
            </a:extLst>
          </p:cNvPr>
          <p:cNvSpPr>
            <a:spLocks noGrp="1"/>
          </p:cNvSpPr>
          <p:nvPr/>
        </p:nvSpPr>
        <p:spPr>
          <a:xfrm>
            <a:off x="7334250" y="2019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Laptop failure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074C5E-A907-4B05-BBEF-0FA7ED5E24D2}"/>
              </a:ext>
            </a:extLst>
          </p:cNvPr>
          <p:cNvSpPr>
            <a:spLocks noGrp="1"/>
          </p:cNvSpPr>
          <p:nvPr/>
        </p:nvSpPr>
        <p:spPr>
          <a:xfrm>
            <a:off x="7334250" y="2457450"/>
            <a:ext cx="3238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No delay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2C98D1-AB3E-45E7-A1C6-B2FB54B0286F}"/>
              </a:ext>
            </a:extLst>
          </p:cNvPr>
          <p:cNvSpPr>
            <a:spLocks noGrp="1"/>
          </p:cNvSpPr>
          <p:nvPr/>
        </p:nvSpPr>
        <p:spPr>
          <a:xfrm>
            <a:off x="6696075" y="346710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B8502A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3D026C-23B1-4A3C-9EE5-95B09FE3130E}"/>
              </a:ext>
            </a:extLst>
          </p:cNvPr>
          <p:cNvSpPr>
            <a:spLocks noGrp="1"/>
          </p:cNvSpPr>
          <p:nvPr/>
        </p:nvSpPr>
        <p:spPr>
          <a:xfrm>
            <a:off x="7334250" y="33718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Dubizzle GPU laptop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D661EC-DD2E-4B86-B329-CF7AB77D84EE}"/>
              </a:ext>
            </a:extLst>
          </p:cNvPr>
          <p:cNvSpPr>
            <a:spLocks noGrp="1"/>
          </p:cNvSpPr>
          <p:nvPr/>
        </p:nvSpPr>
        <p:spPr>
          <a:xfrm>
            <a:off x="7334250" y="3810000"/>
            <a:ext cx="3238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New option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0CE6179-E1E8-4FBD-B5BC-DDBC95421C37}"/>
              </a:ext>
            </a:extLst>
          </p:cNvPr>
          <p:cNvSpPr>
            <a:spLocks noGrp="1"/>
          </p:cNvSpPr>
          <p:nvPr/>
        </p:nvSpPr>
        <p:spPr>
          <a:xfrm>
            <a:off x="6696075" y="48196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7F5AE1-9B4A-475A-88A0-812881C56219}"/>
              </a:ext>
            </a:extLst>
          </p:cNvPr>
          <p:cNvSpPr>
            <a:spLocks noGrp="1"/>
          </p:cNvSpPr>
          <p:nvPr/>
        </p:nvSpPr>
        <p:spPr>
          <a:xfrm>
            <a:off x="7334250" y="47244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Windows + Isaac Sim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7CFF2B-0844-439B-B94B-A8236BAF2099}"/>
              </a:ext>
            </a:extLst>
          </p:cNvPr>
          <p:cNvSpPr>
            <a:spLocks noGrp="1"/>
          </p:cNvSpPr>
          <p:nvPr/>
        </p:nvSpPr>
        <p:spPr>
          <a:xfrm>
            <a:off x="7334250" y="5162550"/>
            <a:ext cx="3238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0" i="0">
                <a:solidFill>
                  <a:srgbClr val="0B6B64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0B6B64"/>
                </a:solidFill>
                <a:latin typeface="Segoe UI"/>
                <a:ea typeface="Segoe UI"/>
                <a:cs typeface="Segoe UI"/>
              </a:rPr>
              <a:t>Final path</a:t>
            </a:r>
          </a:p>
        </p:txBody>
      </p:sp>
    </p:spTree>
    <p:extLst>
      <p:ext uri="{BB962C8B-B14F-4D97-AF65-F5344CB8AC3E}">
        <p14:creationId xmlns:p14="http://schemas.microsoft.com/office/powerpoint/2010/main" val="1653855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E33BE70-2F9A-46D5-92D5-1E08EC54C3B2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6A002A-AD07-4372-AB4D-B36EDB4B8656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THE FINAL SYSTEM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315501-A71E-4269-8631-97A7D5257B5E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09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C4E41B-A083-44BA-8274-BA0FEDA5D684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We kept the simple workflow and replaced</a:t>
            </a:r>
          </a:p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the training engine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119981-4827-463C-A457-95278AEC7B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D94DE1-DC40-4873-8EED-E4768096E96A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463224-0CB4-41CC-9245-223C2BEDA44A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current EasyRTG repository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538A48-F813-40E8-8C9A-13C76EFF7E76}"/>
              </a:ext>
            </a:extLst>
          </p:cNvPr>
          <p:cNvSpPr>
            <a:spLocks noGrp="1"/>
          </p:cNvSpPr>
          <p:nvPr/>
        </p:nvSpPr>
        <p:spPr>
          <a:xfrm>
            <a:off x="6048375" y="2428875"/>
            <a:ext cx="38100" cy="2571750"/>
          </a:xfrm>
          <a:prstGeom prst="rect">
            <a:avLst/>
          </a:prstGeom>
          <a:solidFill>
            <a:srgbClr val="DDEBE7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FD9D0DA-A199-4C93-89F3-4E67968865BE}"/>
              </a:ext>
            </a:extLst>
          </p:cNvPr>
          <p:cNvSpPr>
            <a:spLocks noGrp="1"/>
          </p:cNvSpPr>
          <p:nvPr/>
        </p:nvSpPr>
        <p:spPr>
          <a:xfrm>
            <a:off x="3028950" y="3676650"/>
            <a:ext cx="6096000" cy="38100"/>
          </a:xfrm>
          <a:prstGeom prst="rect">
            <a:avLst/>
          </a:prstGeom>
          <a:solidFill>
            <a:srgbClr val="DDEBE7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0A686A9-1B16-412B-B258-0B0F94595CEA}"/>
              </a:ext>
            </a:extLst>
          </p:cNvPr>
          <p:cNvSpPr>
            <a:spLocks noGrp="1"/>
          </p:cNvSpPr>
          <p:nvPr/>
        </p:nvSpPr>
        <p:spPr>
          <a:xfrm>
            <a:off x="1524000" y="2133600"/>
            <a:ext cx="379095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62D916-301F-4539-8EBF-D14CA070C78D}"/>
              </a:ext>
            </a:extLst>
          </p:cNvPr>
          <p:cNvSpPr>
            <a:spLocks noGrp="1"/>
          </p:cNvSpPr>
          <p:nvPr/>
        </p:nvSpPr>
        <p:spPr>
          <a:xfrm>
            <a:off x="1790700" y="2343150"/>
            <a:ext cx="3257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EasyRTG desktop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8B02BE-7C82-44AA-9D2E-3320D96403BB}"/>
              </a:ext>
            </a:extLst>
          </p:cNvPr>
          <p:cNvSpPr>
            <a:spLocks noGrp="1"/>
          </p:cNvSpPr>
          <p:nvPr/>
        </p:nvSpPr>
        <p:spPr>
          <a:xfrm>
            <a:off x="1790700" y="2762250"/>
            <a:ext cx="3257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Load · configure · watch · compare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23C8482-4F47-40FD-9252-EF1480D3B117}"/>
              </a:ext>
            </a:extLst>
          </p:cNvPr>
          <p:cNvSpPr>
            <a:spLocks noGrp="1"/>
          </p:cNvSpPr>
          <p:nvPr/>
        </p:nvSpPr>
        <p:spPr>
          <a:xfrm>
            <a:off x="6877050" y="2133600"/>
            <a:ext cx="379095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DD7EB6-083B-43DA-B3D7-26089BA3452D}"/>
              </a:ext>
            </a:extLst>
          </p:cNvPr>
          <p:cNvSpPr>
            <a:spLocks noGrp="1"/>
          </p:cNvSpPr>
          <p:nvPr/>
        </p:nvSpPr>
        <p:spPr>
          <a:xfrm>
            <a:off x="7143750" y="2343150"/>
            <a:ext cx="3257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Agent + FastAPI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C2617B-D7A2-4422-ACF4-556B58CF6E46}"/>
              </a:ext>
            </a:extLst>
          </p:cNvPr>
          <p:cNvSpPr>
            <a:spLocks noGrp="1"/>
          </p:cNvSpPr>
          <p:nvPr/>
        </p:nvSpPr>
        <p:spPr>
          <a:xfrm>
            <a:off x="7143750" y="2762250"/>
            <a:ext cx="3257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264"/>
          </a:bodyPr>
          <a:lstStyle/>
          <a:p>
            <a:pPr algn="ctr">
              <a:lnSpc>
                <a:spcPct val="98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Interpret goals · validate changes · orchestrate runs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9320496-8D51-4D29-A64B-F9AA8E3299BE}"/>
              </a:ext>
            </a:extLst>
          </p:cNvPr>
          <p:cNvSpPr>
            <a:spLocks noGrp="1"/>
          </p:cNvSpPr>
          <p:nvPr/>
        </p:nvSpPr>
        <p:spPr>
          <a:xfrm>
            <a:off x="1524000" y="4171950"/>
            <a:ext cx="3790950" cy="1066800"/>
          </a:xfrm>
          <a:prstGeom prst="roundRect">
            <a:avLst>
              <a:gd name="adj" fmla="val 16071"/>
            </a:avLst>
          </a:prstGeom>
          <a:solidFill>
            <a:srgbClr val="DDEBE7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2DD98D-24D0-457E-80AC-A421DE2B5AC4}"/>
              </a:ext>
            </a:extLst>
          </p:cNvPr>
          <p:cNvSpPr>
            <a:spLocks noGrp="1"/>
          </p:cNvSpPr>
          <p:nvPr/>
        </p:nvSpPr>
        <p:spPr>
          <a:xfrm>
            <a:off x="1790700" y="4381500"/>
            <a:ext cx="3257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NVIDIA Isaac Sim + PPO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2D76C0-886D-4CD1-96BB-0D9494AFBF04}"/>
              </a:ext>
            </a:extLst>
          </p:cNvPr>
          <p:cNvSpPr>
            <a:spLocks noGrp="1"/>
          </p:cNvSpPr>
          <p:nvPr/>
        </p:nvSpPr>
        <p:spPr>
          <a:xfrm>
            <a:off x="1790700" y="4800600"/>
            <a:ext cx="3257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Thousands of GPU environments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FF0E90-BC6B-4F20-B692-9BD085ED7A45}"/>
              </a:ext>
            </a:extLst>
          </p:cNvPr>
          <p:cNvSpPr>
            <a:spLocks noGrp="1"/>
          </p:cNvSpPr>
          <p:nvPr/>
        </p:nvSpPr>
        <p:spPr>
          <a:xfrm>
            <a:off x="6877050" y="4171950"/>
            <a:ext cx="3790950" cy="1066800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AAC631-793E-436D-87FA-4AFF5F09BEEF}"/>
              </a:ext>
            </a:extLst>
          </p:cNvPr>
          <p:cNvSpPr>
            <a:spLocks noGrp="1"/>
          </p:cNvSpPr>
          <p:nvPr/>
        </p:nvSpPr>
        <p:spPr>
          <a:xfrm>
            <a:off x="7143750" y="4381500"/>
            <a:ext cx="3257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Saved evidence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3E6EEC-A774-4377-86F7-7E2455796551}"/>
              </a:ext>
            </a:extLst>
          </p:cNvPr>
          <p:cNvSpPr>
            <a:spLocks noGrp="1"/>
          </p:cNvSpPr>
          <p:nvPr/>
        </p:nvSpPr>
        <p:spPr>
          <a:xfrm>
            <a:off x="7143750" y="4800600"/>
            <a:ext cx="3257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Configs · telemetry · checkpoints · videos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3A8AAA4-9C59-44C2-8273-90EB28F9C05E}"/>
              </a:ext>
            </a:extLst>
          </p:cNvPr>
          <p:cNvSpPr>
            <a:spLocks noGrp="1"/>
          </p:cNvSpPr>
          <p:nvPr/>
        </p:nvSpPr>
        <p:spPr>
          <a:xfrm>
            <a:off x="2000250" y="5772150"/>
            <a:ext cx="8191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6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Windows stayed the user platform. Isaac became the high-throughput training lane.</a:t>
            </a:r>
          </a:p>
        </p:txBody>
      </p:sp>
    </p:spTree>
    <p:extLst>
      <p:ext uri="{BB962C8B-B14F-4D97-AF65-F5344CB8AC3E}">
        <p14:creationId xmlns:p14="http://schemas.microsoft.com/office/powerpoint/2010/main" val="976771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46B0F864-B0FF-439A-9B67-69C2D9BC280C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30F81A-C33E-41AE-AEAF-7BDCB7FFBB98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THE AGENT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904A87-00D9-4F1F-8246-3EC89849529E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10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B0A23C-5EA5-4906-BBE6-2C98A901648E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The agent helps across the workflow—</a:t>
            </a:r>
          </a:p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not only inside a chat box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F91E7B-D017-4686-8D7F-552B8193CF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8A5CB7-5498-49D8-B2B2-3801692C984D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F72C2-701C-4D15-8F5F-C695276FA4B8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backend/agents/tools.py · current repository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145B11-FAEC-4710-90E3-3C3118331669}"/>
              </a:ext>
            </a:extLst>
          </p:cNvPr>
          <p:cNvSpPr>
            <a:spLocks noGrp="1"/>
          </p:cNvSpPr>
          <p:nvPr/>
        </p:nvSpPr>
        <p:spPr>
          <a:xfrm>
            <a:off x="1143000" y="3333750"/>
            <a:ext cx="9696450" cy="47625"/>
          </a:xfrm>
          <a:prstGeom prst="rect">
            <a:avLst/>
          </a:prstGeom>
          <a:solidFill>
            <a:srgbClr val="DDEBE7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23FF41B-D88F-40E7-B900-860CEA2FA6A6}"/>
              </a:ext>
            </a:extLst>
          </p:cNvPr>
          <p:cNvSpPr>
            <a:spLocks noGrp="1"/>
          </p:cNvSpPr>
          <p:nvPr/>
        </p:nvSpPr>
        <p:spPr>
          <a:xfrm>
            <a:off x="723900" y="2647950"/>
            <a:ext cx="2381250" cy="156210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702B1-7525-4498-B855-FEF8C5188F12}"/>
              </a:ext>
            </a:extLst>
          </p:cNvPr>
          <p:cNvSpPr>
            <a:spLocks noGrp="1"/>
          </p:cNvSpPr>
          <p:nvPr/>
        </p:nvSpPr>
        <p:spPr>
          <a:xfrm>
            <a:off x="933450" y="281940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B1B359-AEAB-438D-BC70-65C31120CE7D}"/>
              </a:ext>
            </a:extLst>
          </p:cNvPr>
          <p:cNvSpPr>
            <a:spLocks noGrp="1"/>
          </p:cNvSpPr>
          <p:nvPr/>
        </p:nvSpPr>
        <p:spPr>
          <a:xfrm>
            <a:off x="933450" y="3200400"/>
            <a:ext cx="1962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Inspect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89BCCE-9475-4B3A-84CD-021C33F2D8C7}"/>
              </a:ext>
            </a:extLst>
          </p:cNvPr>
          <p:cNvSpPr>
            <a:spLocks noGrp="1"/>
          </p:cNvSpPr>
          <p:nvPr/>
        </p:nvSpPr>
        <p:spPr>
          <a:xfrm>
            <a:off x="933450" y="3667125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Reads joints, limits and dynamics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B1858B-8B25-48CA-A6A9-B004753EFC91}"/>
              </a:ext>
            </a:extLst>
          </p:cNvPr>
          <p:cNvSpPr>
            <a:spLocks noGrp="1"/>
          </p:cNvSpPr>
          <p:nvPr/>
        </p:nvSpPr>
        <p:spPr>
          <a:xfrm>
            <a:off x="3124200" y="320992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950" b="0" i="0">
                <a:solidFill>
                  <a:srgbClr val="0B6B64"/>
                </a:solidFill>
                <a:latin typeface="Segoe UI"/>
                <a:ea typeface="Segoe UI"/>
                <a:cs typeface="Segoe UI"/>
              </a:defRPr>
            </a:pPr>
            <a:r>
              <a:rPr sz="1950" b="0" i="0">
                <a:solidFill>
                  <a:srgbClr val="0B6B64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23698F4-72F4-47C6-A632-0029D61ACBF7}"/>
              </a:ext>
            </a:extLst>
          </p:cNvPr>
          <p:cNvSpPr>
            <a:spLocks noGrp="1"/>
          </p:cNvSpPr>
          <p:nvPr/>
        </p:nvSpPr>
        <p:spPr>
          <a:xfrm>
            <a:off x="3543300" y="2647950"/>
            <a:ext cx="2381250" cy="156210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74E2B2-36CD-463D-83EC-2A8DD8B7585B}"/>
              </a:ext>
            </a:extLst>
          </p:cNvPr>
          <p:cNvSpPr>
            <a:spLocks noGrp="1"/>
          </p:cNvSpPr>
          <p:nvPr/>
        </p:nvSpPr>
        <p:spPr>
          <a:xfrm>
            <a:off x="3752850" y="281940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1C9B5C-066C-49DC-8ECF-B8CBA6971531}"/>
              </a:ext>
            </a:extLst>
          </p:cNvPr>
          <p:cNvSpPr>
            <a:spLocks noGrp="1"/>
          </p:cNvSpPr>
          <p:nvPr/>
        </p:nvSpPr>
        <p:spPr>
          <a:xfrm>
            <a:off x="3752850" y="3200400"/>
            <a:ext cx="1962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Translate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0D4716-6602-4420-996C-FD628A47120C}"/>
              </a:ext>
            </a:extLst>
          </p:cNvPr>
          <p:cNvSpPr>
            <a:spLocks noGrp="1"/>
          </p:cNvSpPr>
          <p:nvPr/>
        </p:nvSpPr>
        <p:spPr>
          <a:xfrm>
            <a:off x="3752850" y="3667125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Turns a plain goal into a reward proposal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62F077-7CD8-456B-9448-30710ADFD4F8}"/>
              </a:ext>
            </a:extLst>
          </p:cNvPr>
          <p:cNvSpPr>
            <a:spLocks noGrp="1"/>
          </p:cNvSpPr>
          <p:nvPr/>
        </p:nvSpPr>
        <p:spPr>
          <a:xfrm>
            <a:off x="5943600" y="320992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950" b="0" i="0">
                <a:solidFill>
                  <a:srgbClr val="0B6B64"/>
                </a:solidFill>
                <a:latin typeface="Segoe UI"/>
                <a:ea typeface="Segoe UI"/>
                <a:cs typeface="Segoe UI"/>
              </a:defRPr>
            </a:pPr>
            <a:r>
              <a:rPr sz="1950" b="0" i="0">
                <a:solidFill>
                  <a:srgbClr val="0B6B64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A45BBB7-F537-40A1-8939-91EE1C60C195}"/>
              </a:ext>
            </a:extLst>
          </p:cNvPr>
          <p:cNvSpPr>
            <a:spLocks noGrp="1"/>
          </p:cNvSpPr>
          <p:nvPr/>
        </p:nvSpPr>
        <p:spPr>
          <a:xfrm>
            <a:off x="6362700" y="2647950"/>
            <a:ext cx="2381250" cy="156210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F623297-2926-4E1C-A33F-FC62581EEEDA}"/>
              </a:ext>
            </a:extLst>
          </p:cNvPr>
          <p:cNvSpPr>
            <a:spLocks noGrp="1"/>
          </p:cNvSpPr>
          <p:nvPr/>
        </p:nvSpPr>
        <p:spPr>
          <a:xfrm>
            <a:off x="6572250" y="281940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7484CE-D23B-4A88-BF7B-B94709B95386}"/>
              </a:ext>
            </a:extLst>
          </p:cNvPr>
          <p:cNvSpPr>
            <a:spLocks noGrp="1"/>
          </p:cNvSpPr>
          <p:nvPr/>
        </p:nvSpPr>
        <p:spPr>
          <a:xfrm>
            <a:off x="6572250" y="3200400"/>
            <a:ext cx="1962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Run &amp; watch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FA9EF9-27C6-4897-9C47-FB9AB56CDA49}"/>
              </a:ext>
            </a:extLst>
          </p:cNvPr>
          <p:cNvSpPr>
            <a:spLocks noGrp="1"/>
          </p:cNvSpPr>
          <p:nvPr/>
        </p:nvSpPr>
        <p:spPr>
          <a:xfrm>
            <a:off x="6572250" y="3667125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Starts training and reads live telemetry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F38040C-96DD-4B99-87E5-2D76068F8849}"/>
              </a:ext>
            </a:extLst>
          </p:cNvPr>
          <p:cNvSpPr>
            <a:spLocks noGrp="1"/>
          </p:cNvSpPr>
          <p:nvPr/>
        </p:nvSpPr>
        <p:spPr>
          <a:xfrm>
            <a:off x="8763000" y="320992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950" b="0" i="0">
                <a:solidFill>
                  <a:srgbClr val="0B6B64"/>
                </a:solidFill>
                <a:latin typeface="Segoe UI"/>
                <a:ea typeface="Segoe UI"/>
                <a:cs typeface="Segoe UI"/>
              </a:defRPr>
            </a:pPr>
            <a:r>
              <a:rPr sz="1950" b="0" i="0">
                <a:solidFill>
                  <a:srgbClr val="0B6B64"/>
                </a:solidFill>
                <a:latin typeface="Segoe UI"/>
                <a:ea typeface="Segoe UI"/>
                <a:cs typeface="Segoe UI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7EB2B42-D1DF-4B10-89AE-6E2AE7C8308C}"/>
              </a:ext>
            </a:extLst>
          </p:cNvPr>
          <p:cNvSpPr>
            <a:spLocks noGrp="1"/>
          </p:cNvSpPr>
          <p:nvPr/>
        </p:nvSpPr>
        <p:spPr>
          <a:xfrm>
            <a:off x="9182100" y="2647950"/>
            <a:ext cx="2381250" cy="156210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CAF92E-7EF2-4824-8FAE-57878F51ED3C}"/>
              </a:ext>
            </a:extLst>
          </p:cNvPr>
          <p:cNvSpPr>
            <a:spLocks noGrp="1"/>
          </p:cNvSpPr>
          <p:nvPr/>
        </p:nvSpPr>
        <p:spPr>
          <a:xfrm>
            <a:off x="9391650" y="281940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922EE20-F765-4798-A1CB-49CDD9FF2402}"/>
              </a:ext>
            </a:extLst>
          </p:cNvPr>
          <p:cNvSpPr>
            <a:spLocks noGrp="1"/>
          </p:cNvSpPr>
          <p:nvPr/>
        </p:nvSpPr>
        <p:spPr>
          <a:xfrm>
            <a:off x="9391650" y="3200400"/>
            <a:ext cx="1962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8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Evaluate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92F6F63-3EF1-459E-BE69-A186D3F533A1}"/>
              </a:ext>
            </a:extLst>
          </p:cNvPr>
          <p:cNvSpPr>
            <a:spLocks noGrp="1"/>
          </p:cNvSpPr>
          <p:nvPr/>
        </p:nvSpPr>
        <p:spPr>
          <a:xfrm>
            <a:off x="9391650" y="3667125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Runs policies and compares saved results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41006B4-E296-4718-9B2E-590705324BED}"/>
              </a:ext>
            </a:extLst>
          </p:cNvPr>
          <p:cNvSpPr>
            <a:spLocks noGrp="1"/>
          </p:cNvSpPr>
          <p:nvPr/>
        </p:nvSpPr>
        <p:spPr>
          <a:xfrm>
            <a:off x="2000250" y="4953000"/>
            <a:ext cx="8191500" cy="685800"/>
          </a:xfrm>
          <a:prstGeom prst="roundRect">
            <a:avLst>
              <a:gd name="adj" fmla="val 25000"/>
            </a:avLst>
          </a:prstGeom>
          <a:solidFill>
            <a:srgbClr val="DDEBE7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61D7FFE-9EF6-4007-B8F9-259AC5C60A4D}"/>
              </a:ext>
            </a:extLst>
          </p:cNvPr>
          <p:cNvSpPr>
            <a:spLocks noGrp="1"/>
          </p:cNvSpPr>
          <p:nvPr/>
        </p:nvSpPr>
        <p:spPr>
          <a:xfrm>
            <a:off x="2266950" y="5124450"/>
            <a:ext cx="7658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72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Environment changes and training or evaluation actions stay confirmation-gated.</a:t>
            </a:r>
          </a:p>
        </p:txBody>
      </p:sp>
    </p:spTree>
    <p:extLst>
      <p:ext uri="{BB962C8B-B14F-4D97-AF65-F5344CB8AC3E}">
        <p14:creationId xmlns:p14="http://schemas.microsoft.com/office/powerpoint/2010/main" val="2050130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116E765-43DD-41B1-8FBB-CDA4F90AD1BD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09FDB8-C87D-4451-9B8D-B43D8104BB5F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THE SPEED CHANGE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D621B8-D40A-402F-9F58-9FE2A9EAC728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56F03B-783F-4443-B5BD-3669E7B1B3B1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GPU simulation changed the scale of iteration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9013E-2E60-4CCE-832D-24E7B16322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BA1D2F-5FAD-4F51-AA82-C7337B2D0108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2660A3-F1F2-42C2-96C8-2D2418022960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early CPU measurements + saved Isaac telemetry · configurations differ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41DD33-552A-422B-9C47-D4726DB93C55}"/>
              </a:ext>
            </a:extLst>
          </p:cNvPr>
          <p:cNvSpPr>
            <a:spLocks noGrp="1"/>
          </p:cNvSpPr>
          <p:nvPr/>
        </p:nvSpPr>
        <p:spPr>
          <a:xfrm>
            <a:off x="781050" y="1943100"/>
            <a:ext cx="619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6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Recorded simulation / training throughput (FPS)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="781050" y="2343150"/>
          <a:ext cx="8191500" cy="3295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F18377-093E-4EA1-8814-8A6A54BF0175}"/>
              </a:ext>
            </a:extLst>
          </p:cNvPr>
          <p:cNvSpPr>
            <a:spLocks noGrp="1"/>
          </p:cNvSpPr>
          <p:nvPr/>
        </p:nvSpPr>
        <p:spPr>
          <a:xfrm>
            <a:off x="9410700" y="2324100"/>
            <a:ext cx="1885950" cy="2609850"/>
          </a:xfrm>
          <a:prstGeom prst="roundRect">
            <a:avLst>
              <a:gd name="adj" fmla="val 10101"/>
            </a:avLst>
          </a:prstGeom>
          <a:solidFill>
            <a:srgbClr val="DDEBE7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4F244EA-1164-4008-A306-44FA6F784F20}"/>
              </a:ext>
            </a:extLst>
          </p:cNvPr>
          <p:cNvSpPr>
            <a:spLocks noGrp="1"/>
          </p:cNvSpPr>
          <p:nvPr/>
        </p:nvSpPr>
        <p:spPr>
          <a:xfrm>
            <a:off x="9639300" y="2667000"/>
            <a:ext cx="1428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36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36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≈25k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168FFC-451E-4420-A9BA-0D59FB0CA0DE}"/>
              </a:ext>
            </a:extLst>
          </p:cNvPr>
          <p:cNvSpPr>
            <a:spLocks noGrp="1"/>
          </p:cNvSpPr>
          <p:nvPr/>
        </p:nvSpPr>
        <p:spPr>
          <a:xfrm>
            <a:off x="9639300" y="3409950"/>
            <a:ext cx="1428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5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Go1 target</a:t>
            </a:r>
          </a:p>
          <a:p>
            <a:pPr algn="ctr">
              <a:lnSpc>
                <a:spcPct val="98000"/>
              </a:lnSpc>
              <a:buNone/>
              <a:defRPr sz="15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was reached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281767-8A52-4E4A-A18E-B71ED7D4323E}"/>
              </a:ext>
            </a:extLst>
          </p:cNvPr>
          <p:cNvSpPr>
            <a:spLocks noGrp="1"/>
          </p:cNvSpPr>
          <p:nvPr/>
        </p:nvSpPr>
        <p:spPr>
          <a:xfrm>
            <a:off x="9658350" y="4191000"/>
            <a:ext cx="139065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6EF41D-3679-408F-8CBA-795F51C73F1D}"/>
              </a:ext>
            </a:extLst>
          </p:cNvPr>
          <p:cNvSpPr>
            <a:spLocks noGrp="1"/>
          </p:cNvSpPr>
          <p:nvPr/>
        </p:nvSpPr>
        <p:spPr>
          <a:xfrm>
            <a:off x="9639300" y="4381500"/>
            <a:ext cx="1428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8000"/>
              </a:lnSpc>
              <a:buNone/>
              <a:defRPr sz="14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4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14.6k peak</a:t>
            </a:r>
          </a:p>
          <a:p>
            <a:pPr algn="ctr">
              <a:lnSpc>
                <a:spcPct val="98000"/>
              </a:lnSpc>
              <a:buNone/>
              <a:defRPr sz="14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42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Valkyrie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5359D-7897-4E64-9526-13AB59737564}"/>
              </a:ext>
            </a:extLst>
          </p:cNvPr>
          <p:cNvSpPr>
            <a:spLocks noGrp="1"/>
          </p:cNvSpPr>
          <p:nvPr/>
        </p:nvSpPr>
        <p:spPr>
          <a:xfrm>
            <a:off x="9410700" y="5219700"/>
            <a:ext cx="1885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61"/>
          </a:bodyPr>
          <a:lstStyle/>
          <a:p>
            <a:pPr algn="ctr">
              <a:lnSpc>
                <a:spcPct val="98000"/>
              </a:lnSpc>
              <a:buNone/>
              <a:defRPr sz="112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12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Directional comparison, not a controlled hardware benchmark.</a:t>
            </a:r>
          </a:p>
        </p:txBody>
      </p:sp>
    </p:spTree>
    <p:extLst>
      <p:ext uri="{BB962C8B-B14F-4D97-AF65-F5344CB8AC3E}">
        <p14:creationId xmlns:p14="http://schemas.microsoft.com/office/powerpoint/2010/main" val="662610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00525F5-CF6E-4E1A-9570-8DCE64A45DAA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54E3A2-B0D7-4C8B-8667-BAFA7EE60128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RESULT ONE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8928C3-E24E-44FA-8736-014B1F9A7379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13E72D-836E-421B-838C-61F09A76AE80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457"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Unitree Go1 learned a measurable galloping policy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7FCFC8-5FE4-4105-B29C-9410A432C3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1EA39B-4646-4247-B291-497EBB0C2F09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D788D0-3836-4273-BA0E-5436BE637081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run 20260802-191958-isaac · simulation telemetry and evaluation video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43B62D2-1C79-4278-8D99-B4C98ADEF4DD}"/>
              </a:ext>
            </a:extLst>
          </p:cNvPr>
          <p:cNvSpPr>
            <a:spLocks noGrp="1"/>
          </p:cNvSpPr>
          <p:nvPr/>
        </p:nvSpPr>
        <p:spPr>
          <a:xfrm>
            <a:off x="6124575" y="1952625"/>
            <a:ext cx="529590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2"/>
          <a:srcRect l="6303" r="6303"/>
          <a:stretch>
            <a:fillRect/>
          </a:stretch>
        </p:blipFill>
        <p:spPr>
          <a:xfrm>
            <a:off x="6153150" y="1981200"/>
            <a:ext cx="5238750" cy="3371850"/>
          </a:xfrm>
          <a:prstGeom prst="roundRect">
            <a:avLst>
              <a:gd name="adj" fmla="val 5085"/>
            </a:avLst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909B7E7-7AEF-412C-8B18-CA28D199E162}"/>
              </a:ext>
            </a:extLst>
          </p:cNvPr>
          <p:cNvSpPr>
            <a:spLocks noGrp="1"/>
          </p:cNvSpPr>
          <p:nvPr/>
        </p:nvSpPr>
        <p:spPr>
          <a:xfrm>
            <a:off x="6515100" y="504825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DFB4F4-7227-4952-A5B5-D8FCDE8A7C9F}"/>
              </a:ext>
            </a:extLst>
          </p:cNvPr>
          <p:cNvSpPr>
            <a:spLocks noGrp="1"/>
          </p:cNvSpPr>
          <p:nvPr/>
        </p:nvSpPr>
        <p:spPr>
          <a:xfrm>
            <a:off x="6515100" y="5057775"/>
            <a:ext cx="1676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lnSpc>
                <a:spcPct val="98000"/>
              </a:lnSpc>
              <a:buNone/>
              <a:defRPr sz="105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40M STEPS · 6,400 ENVS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BFD5CB-C0C7-446A-8EF4-24BA7BE31837}"/>
              </a:ext>
            </a:extLst>
          </p:cNvPr>
          <p:cNvSpPr>
            <a:spLocks noGrp="1"/>
          </p:cNvSpPr>
          <p:nvPr/>
        </p:nvSpPr>
        <p:spPr>
          <a:xfrm>
            <a:off x="781050" y="2076450"/>
            <a:ext cx="4191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43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3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1.38 m/s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6F7194-AEAB-4B2F-8B31-1956587736F8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forward speed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B07E47-C081-4F9B-A3D0-A6589D251C08}"/>
              </a:ext>
            </a:extLst>
          </p:cNvPr>
          <p:cNvSpPr>
            <a:spLocks noGrp="1"/>
          </p:cNvSpPr>
          <p:nvPr/>
        </p:nvSpPr>
        <p:spPr>
          <a:xfrm>
            <a:off x="781050" y="3219450"/>
            <a:ext cx="409575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6F4416-0760-4FE2-8A74-221F2A35B47D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4191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43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3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0.215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45805F-72DD-43B8-95D6-A37270DF71E5}"/>
              </a:ext>
            </a:extLst>
          </p:cNvPr>
          <p:cNvSpPr>
            <a:spLocks noGrp="1"/>
          </p:cNvSpPr>
          <p:nvPr/>
        </p:nvSpPr>
        <p:spPr>
          <a:xfrm>
            <a:off x="781050" y="411480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flight-phase measure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152C4F-0623-4695-AB4B-F53518110E30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5529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0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1,000-step mean episodes  ·  22.7 min recorded training time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DEC4BF-89EC-4CFD-8FD2-9E7695197C67}"/>
              </a:ext>
            </a:extLst>
          </p:cNvPr>
          <p:cNvSpPr>
            <a:spLocks noGrp="1"/>
          </p:cNvSpPr>
          <p:nvPr/>
        </p:nvSpPr>
        <p:spPr>
          <a:xfrm>
            <a:off x="781050" y="5562600"/>
            <a:ext cx="10382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The policy maintained full-length episodes while moving forward and repeatedly entering an airborne phase—the behaviour we needed to demonstrate galloping.</a:t>
            </a:r>
          </a:p>
        </p:txBody>
      </p:sp>
    </p:spTree>
    <p:extLst>
      <p:ext uri="{BB962C8B-B14F-4D97-AF65-F5344CB8AC3E}">
        <p14:creationId xmlns:p14="http://schemas.microsoft.com/office/powerpoint/2010/main" val="1866820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EB8D7AF-8822-4AA7-B628-F6BCE1EF9E16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22EAF4-8CDB-4A43-A37C-690170FEABCB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RESULT TWO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556B6F-4229-46ED-A1A8-225563F54B5C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13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15B293-CDBB-4A4B-974E-F79624810A92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843"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The same workflow transferred to a humanoid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534B3B-F4F8-48FD-9D92-20DC079EAAC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CB7657-41E0-442F-BEDF-EFC00B16939A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3ACB2A-0FB1-429B-AAC7-9E35FBA2B1D6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runs 20260803-233317 and 20260803-211052 · simulation telemetry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388293-953D-4323-AC2C-AEF69BBB259B}"/>
              </a:ext>
            </a:extLst>
          </p:cNvPr>
          <p:cNvSpPr>
            <a:spLocks noGrp="1"/>
          </p:cNvSpPr>
          <p:nvPr/>
        </p:nvSpPr>
        <p:spPr>
          <a:xfrm>
            <a:off x="5743575" y="1914525"/>
            <a:ext cx="5676900" cy="37719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AD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2"/>
          <a:srcRect l="7452" r="7452"/>
          <a:stretch>
            <a:fillRect/>
          </a:stretch>
        </p:blipFill>
        <p:spPr>
          <a:xfrm>
            <a:off x="5772150" y="1943100"/>
            <a:ext cx="5619750" cy="3714750"/>
          </a:xfrm>
          <a:prstGeom prst="roundRect">
            <a:avLst>
              <a:gd name="adj" fmla="val 4615"/>
            </a:avLst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964BD13-7F6B-4003-89A7-8E9BDA36E19D}"/>
              </a:ext>
            </a:extLst>
          </p:cNvPr>
          <p:cNvSpPr>
            <a:spLocks noGrp="1"/>
          </p:cNvSpPr>
          <p:nvPr/>
        </p:nvSpPr>
        <p:spPr>
          <a:xfrm>
            <a:off x="781050" y="2038350"/>
            <a:ext cx="4095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43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3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0.72 m/s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BF8414-FBC9-4E5F-9EB1-CC81E3AB3625}"/>
              </a:ext>
            </a:extLst>
          </p:cNvPr>
          <p:cNvSpPr>
            <a:spLocks noGrp="1"/>
          </p:cNvSpPr>
          <p:nvPr/>
        </p:nvSpPr>
        <p:spPr>
          <a:xfrm>
            <a:off x="781050" y="27241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forward velocity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493D15-BCBE-41FA-8867-6DC185D9869F}"/>
              </a:ext>
            </a:extLst>
          </p:cNvPr>
          <p:cNvSpPr>
            <a:spLocks noGrp="1"/>
          </p:cNvSpPr>
          <p:nvPr/>
        </p:nvSpPr>
        <p:spPr>
          <a:xfrm>
            <a:off x="781050" y="302895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2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at the best-reward checkpoint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87671B-1619-42E3-8501-B116491CDF3F}"/>
              </a:ext>
            </a:extLst>
          </p:cNvPr>
          <p:cNvSpPr>
            <a:spLocks noGrp="1"/>
          </p:cNvSpPr>
          <p:nvPr/>
        </p:nvSpPr>
        <p:spPr>
          <a:xfrm>
            <a:off x="781050" y="3581400"/>
            <a:ext cx="409575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74EBC1-9744-472F-B814-6251BB97E7D0}"/>
              </a:ext>
            </a:extLst>
          </p:cNvPr>
          <p:cNvSpPr>
            <a:spLocks noGrp="1"/>
          </p:cNvSpPr>
          <p:nvPr/>
        </p:nvSpPr>
        <p:spPr>
          <a:xfrm>
            <a:off x="781050" y="3790950"/>
            <a:ext cx="4095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43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43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204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FB62F4-8274-4377-976F-37A7562DA34F}"/>
              </a:ext>
            </a:extLst>
          </p:cNvPr>
          <p:cNvSpPr>
            <a:spLocks noGrp="1"/>
          </p:cNvSpPr>
          <p:nvPr/>
        </p:nvSpPr>
        <p:spPr>
          <a:xfrm>
            <a:off x="781050" y="447675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650" b="1" i="0">
                <a:solidFill>
                  <a:srgbClr val="18232F"/>
                </a:solidFill>
                <a:latin typeface="Segoe UI Semibold"/>
                <a:ea typeface="Segoe UI Semibold"/>
                <a:cs typeface="Segoe UI Semibold"/>
              </a:rPr>
              <a:t>mean episode steps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4AE22E-5900-4616-B06C-693D341FE50A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4095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2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31.0M-step best-reward telemetry row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602498-D317-464B-9811-2BB1C9501A75}"/>
              </a:ext>
            </a:extLst>
          </p:cNvPr>
          <p:cNvSpPr>
            <a:spLocks noGrp="1"/>
          </p:cNvSpPr>
          <p:nvPr/>
        </p:nvSpPr>
        <p:spPr>
          <a:xfrm>
            <a:off x="781050" y="541020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5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5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14.6k peak simulation throughput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C8FE95-41C9-4295-AAC0-92144B173784}"/>
              </a:ext>
            </a:extLst>
          </p:cNvPr>
          <p:cNvSpPr>
            <a:spLocks noGrp="1"/>
          </p:cNvSpPr>
          <p:nvPr/>
        </p:nvSpPr>
        <p:spPr>
          <a:xfrm>
            <a:off x="5772150" y="5848350"/>
            <a:ext cx="5619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247"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Humanoid locomotion remained the harder task. Even so, the same app trained forward motion on 129 observations and 12 controlled joints—without a new hand-written environment.</a:t>
            </a:r>
          </a:p>
        </p:txBody>
      </p:sp>
    </p:spTree>
    <p:extLst>
      <p:ext uri="{BB962C8B-B14F-4D97-AF65-F5344CB8AC3E}">
        <p14:creationId xmlns:p14="http://schemas.microsoft.com/office/powerpoint/2010/main" val="2020964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BFF52B1-4915-4C06-A476-531A17995A1A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438150" cy="47625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DBB9C3-F33B-443F-9D73-7D2FAB3D1AE6}"/>
              </a:ext>
            </a:extLst>
          </p:cNvPr>
          <p:cNvSpPr>
            <a:spLocks noGrp="1"/>
          </p:cNvSpPr>
          <p:nvPr/>
        </p:nvSpPr>
        <p:spPr>
          <a:xfrm>
            <a:off x="1238250" y="2667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lnSpc>
                <a:spcPct val="98000"/>
              </a:lnSpc>
              <a:buNone/>
              <a:def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WHAT IT MEANS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327C71-89E5-4DC0-9D56-A02B3DE16FFC}"/>
              </a:ext>
            </a:extLst>
          </p:cNvPr>
          <p:cNvSpPr>
            <a:spLocks noGrp="1"/>
          </p:cNvSpPr>
          <p:nvPr/>
        </p:nvSpPr>
        <p:spPr>
          <a:xfrm>
            <a:off x="11106150" y="26670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lnSpc>
                <a:spcPct val="98000"/>
              </a:lnSpc>
              <a:buNone/>
              <a:def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050" b="0" i="0">
                <a:solidFill>
                  <a:srgbClr val="5B6670"/>
                </a:solidFill>
                <a:latin typeface="Segoe UI Semibold"/>
                <a:ea typeface="Segoe UI Semibold"/>
                <a:cs typeface="Segoe UI Semibold"/>
              </a:rPr>
              <a:t>14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7D91FB-1787-4C67-859E-017588FDDAB6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10820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We achieved the goal: one guided workflow,</a:t>
            </a:r>
          </a:p>
          <a:p>
            <a:pPr algn="l">
              <a:lnSpc>
                <a:spcPct val="90000"/>
              </a:lnSpc>
              <a:buNone/>
              <a:def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two robot categories, real trained policies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2A21A2-13B6-4926-ABBD-69138BA7BF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10820400" cy="9525"/>
          </a:xfrm>
          <a:prstGeom prst="rect">
            <a:avLst/>
          </a:prstGeom>
          <a:solidFill>
            <a:srgbClr val="D5DAD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60FC1-E0B5-478E-8E0D-483AAC33B0E7}"/>
              </a:ext>
            </a:extLst>
          </p:cNvPr>
          <p:cNvSpPr>
            <a:spLocks noGrp="1"/>
          </p:cNvSpPr>
          <p:nvPr/>
        </p:nvSpPr>
        <p:spPr>
          <a:xfrm>
            <a:off x="685800" y="6543675"/>
            <a:ext cx="7429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900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7437F4-5181-4CAD-A79A-594C94E1CD94}"/>
              </a:ext>
            </a:extLst>
          </p:cNvPr>
          <p:cNvSpPr>
            <a:spLocks noGrp="1"/>
          </p:cNvSpPr>
          <p:nvPr/>
        </p:nvSpPr>
        <p:spPr>
          <a:xfrm>
            <a:off x="1543050" y="6543675"/>
            <a:ext cx="99631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lnSpc>
                <a:spcPct val="98000"/>
              </a:lnSpc>
              <a:buNone/>
              <a:def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9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proposal objectives + verified final runs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737273-758D-4ACE-9A04-011D85BED0B1}"/>
              </a:ext>
            </a:extLst>
          </p:cNvPr>
          <p:cNvSpPr>
            <a:spLocks noGrp="1"/>
          </p:cNvSpPr>
          <p:nvPr/>
        </p:nvSpPr>
        <p:spPr>
          <a:xfrm>
            <a:off x="723900" y="2381250"/>
            <a:ext cx="514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2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BFB8E4-18FA-43D0-AE80-A34CFF8B5AB2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2025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Academic value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1199F9-3474-4EC1-A0AD-84FB456CC3C7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762000" cy="38100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53B12A-A179-4C4C-BE11-C088DC524B7B}"/>
              </a:ext>
            </a:extLst>
          </p:cNvPr>
          <p:cNvSpPr>
            <a:spLocks noGrp="1"/>
          </p:cNvSpPr>
          <p:nvPr/>
        </p:nvSpPr>
        <p:spPr>
          <a:xfrm>
            <a:off x="723900" y="3676650"/>
            <a:ext cx="31432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A repeatable way to teach reward design, compare runs and study locomotion without spending the lesson on integration.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2B5766-EDC9-4540-8D4E-805B88A11137}"/>
              </a:ext>
            </a:extLst>
          </p:cNvPr>
          <p:cNvSpPr>
            <a:spLocks noGrp="1"/>
          </p:cNvSpPr>
          <p:nvPr/>
        </p:nvSpPr>
        <p:spPr>
          <a:xfrm>
            <a:off x="4476750" y="2381250"/>
            <a:ext cx="514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2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F95D3E-F5E0-46EA-84CC-5803B483C0DA}"/>
              </a:ext>
            </a:extLst>
          </p:cNvPr>
          <p:cNvSpPr>
            <a:spLocks noGrp="1"/>
          </p:cNvSpPr>
          <p:nvPr/>
        </p:nvSpPr>
        <p:spPr>
          <a:xfrm>
            <a:off x="4476750" y="28003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2025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Commercial value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5373A1-EB23-4E65-A3CD-03769954B67C}"/>
              </a:ext>
            </a:extLst>
          </p:cNvPr>
          <p:cNvSpPr>
            <a:spLocks noGrp="1"/>
          </p:cNvSpPr>
          <p:nvPr/>
        </p:nvSpPr>
        <p:spPr>
          <a:xfrm>
            <a:off x="4476750" y="3352800"/>
            <a:ext cx="762000" cy="38100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D7D7BC-86B2-44D2-A1FF-C9C2D6668AAF}"/>
              </a:ext>
            </a:extLst>
          </p:cNvPr>
          <p:cNvSpPr>
            <a:spLocks noGrp="1"/>
          </p:cNvSpPr>
          <p:nvPr/>
        </p:nvSpPr>
        <p:spPr>
          <a:xfrm>
            <a:off x="4476750" y="3676650"/>
            <a:ext cx="31432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A faster URDF-to-policy prototyping loop before teams commit time to hardware tests and custom infrastructure.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E03096-EC68-4E76-99D9-DB8C2A26B429}"/>
              </a:ext>
            </a:extLst>
          </p:cNvPr>
          <p:cNvSpPr>
            <a:spLocks noGrp="1"/>
          </p:cNvSpPr>
          <p:nvPr/>
        </p:nvSpPr>
        <p:spPr>
          <a:xfrm>
            <a:off x="8229600" y="2381250"/>
            <a:ext cx="514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12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defRPr>
            </a:pPr>
            <a:r>
              <a:rPr sz="1275" b="1" i="0">
                <a:solidFill>
                  <a:srgbClr val="0B6B64"/>
                </a:solidFill>
                <a:latin typeface="Segoe UI Semibold"/>
                <a:ea typeface="Segoe UI Semibold"/>
                <a:cs typeface="Segoe UI Semibold"/>
              </a:rPr>
              <a:t>03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B55FCB-27A1-4D06-97F7-957B9B4FA6A2}"/>
              </a:ext>
            </a:extLst>
          </p:cNvPr>
          <p:cNvSpPr>
            <a:spLocks noGrp="1"/>
          </p:cNvSpPr>
          <p:nvPr/>
        </p:nvSpPr>
        <p:spPr>
          <a:xfrm>
            <a:off x="8229600" y="280035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8000"/>
              </a:lnSpc>
              <a:buNone/>
              <a:defRPr sz="2025" b="1" i="0">
                <a:solidFill>
                  <a:srgbClr val="18232F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18232F"/>
                </a:solidFill>
                <a:latin typeface="Georgia"/>
                <a:ea typeface="Georgia"/>
                <a:cs typeface="Georgia"/>
              </a:rPr>
              <a:t>Project proof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39CFEB-E24E-4680-82D4-90AEBE7AF924}"/>
              </a:ext>
            </a:extLst>
          </p:cNvPr>
          <p:cNvSpPr>
            <a:spLocks noGrp="1"/>
          </p:cNvSpPr>
          <p:nvPr/>
        </p:nvSpPr>
        <p:spPr>
          <a:xfrm>
            <a:off x="8229600" y="3352800"/>
            <a:ext cx="762000" cy="38100"/>
          </a:xfrm>
          <a:prstGeom prst="rect">
            <a:avLst/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5F9975-45B8-4E34-BE4D-27780281BD44}"/>
              </a:ext>
            </a:extLst>
          </p:cNvPr>
          <p:cNvSpPr>
            <a:spLocks noGrp="1"/>
          </p:cNvSpPr>
          <p:nvPr/>
        </p:nvSpPr>
        <p:spPr>
          <a:xfrm>
            <a:off x="8229600" y="3676650"/>
            <a:ext cx="31432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5B6670"/>
                </a:solidFill>
                <a:latin typeface="Segoe UI"/>
                <a:ea typeface="Segoe UI"/>
                <a:cs typeface="Segoe UI"/>
              </a:rPr>
              <a:t>A Go1 gallop, a Valkyrie walking policy, an agent-assisted workflow and saved evidence for every run.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E47C784-3C29-4B0B-8CEE-AF1353C9DD6A}"/>
              </a:ext>
            </a:extLst>
          </p:cNvPr>
          <p:cNvSpPr>
            <a:spLocks noGrp="1"/>
          </p:cNvSpPr>
          <p:nvPr/>
        </p:nvSpPr>
        <p:spPr>
          <a:xfrm>
            <a:off x="1066800" y="5334000"/>
            <a:ext cx="10058400" cy="723900"/>
          </a:xfrm>
          <a:prstGeom prst="roundRect">
            <a:avLst>
              <a:gd name="adj" fmla="val 26316"/>
            </a:avLst>
          </a:prstGeom>
          <a:solidFill>
            <a:srgbClr val="0B6B64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E4E1D3-64A4-42DB-9CEC-EBCDFBCBD948}"/>
              </a:ext>
            </a:extLst>
          </p:cNvPr>
          <p:cNvSpPr>
            <a:spLocks noGrp="1"/>
          </p:cNvSpPr>
          <p:nvPr/>
        </p:nvSpPr>
        <p:spPr>
          <a:xfrm>
            <a:off x="1409700" y="5505450"/>
            <a:ext cx="9372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0826"/>
          </a:bodyPr>
          <a:lstStyle/>
          <a:p>
            <a:pPr algn="ctr">
              <a:lnSpc>
                <a:spcPct val="98000"/>
              </a:lnSpc>
              <a:buNone/>
              <a:defRPr sz="2175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175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EasyRTG turns robot learning from a stack of tools into a usable process.</a:t>
            </a:r>
          </a:p>
        </p:txBody>
      </p:sp>
    </p:spTree>
    <p:extLst>
      <p:ext uri="{BB962C8B-B14F-4D97-AF65-F5344CB8AC3E}">
        <p14:creationId xmlns:p14="http://schemas.microsoft.com/office/powerpoint/2010/main" val="89555872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992</Words>
  <Application>Microsoft Office PowerPoint</Application>
  <DocSecurity>0</DocSecurity>
  <PresentationFormat>Widescreen</PresentationFormat>
  <Paragraphs>218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Georgia</vt:lpstr>
      <vt:lpstr>Segoe UI</vt:lpstr>
      <vt:lpstr>Segoe UI Semibold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Shivam Chavan (MSc Art Int + Comp Sc FT (Dub))</cp:lastModifiedBy>
  <cp:revision>1</cp:revision>
  <dcterms:created xsi:type="dcterms:W3CDTF">2026-08-06T19:20:54Z</dcterms:created>
  <dcterms:modified xsi:type="dcterms:W3CDTF">2026-08-07T05:57:52Z</dcterms:modified>
</cp:coreProperties>
</file>