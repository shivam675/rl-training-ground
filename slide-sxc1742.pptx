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72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8B83D-8B6B-422A-A34A-C53CD5301FB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597E2-7008-4694-9E00-C34CEE728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5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597E2-7008-4694-9E00-C34CEE728A7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11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media" Target="../media/media2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15.png"/><Relationship Id="rId4" Type="http://schemas.openxmlformats.org/officeDocument/2006/relationships/video" Target="../media/media2.mp4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media" Target="../media/media5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video" Target="../media/media6.mp4"/><Relationship Id="rId5" Type="http://schemas.microsoft.com/office/2007/relationships/media" Target="../media/media6.mp4"/><Relationship Id="rId10" Type="http://schemas.openxmlformats.org/officeDocument/2006/relationships/image" Target="../media/image18.png"/><Relationship Id="rId4" Type="http://schemas.openxmlformats.org/officeDocument/2006/relationships/video" Target="../media/media5.mp4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8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video" Target="../media/media9.mp4"/><Relationship Id="rId5" Type="http://schemas.microsoft.com/office/2007/relationships/media" Target="../media/media9.mp4"/><Relationship Id="rId10" Type="http://schemas.openxmlformats.org/officeDocument/2006/relationships/image" Target="../media/image21.png"/><Relationship Id="rId4" Type="http://schemas.openxmlformats.org/officeDocument/2006/relationships/video" Target="../media/media8.mp4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08E943E-BEB0-46A4-9CB4-C5B1097C3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79E7F-2388-4DF4-85D9-D4D982FF6A83}"/>
              </a:ext>
            </a:extLst>
          </p:cNvPr>
          <p:cNvSpPr>
            <a:spLocks noGrp="1"/>
          </p:cNvSpPr>
          <p:nvPr/>
        </p:nvSpPr>
        <p:spPr>
          <a:xfrm>
            <a:off x="723900" y="6286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FINAL PROJECT SUBMISSION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2C6489-6AD7-4C55-ADCB-657F9A7C366C}"/>
              </a:ext>
            </a:extLst>
          </p:cNvPr>
          <p:cNvSpPr>
            <a:spLocks noGrp="1"/>
          </p:cNvSpPr>
          <p:nvPr/>
        </p:nvSpPr>
        <p:spPr>
          <a:xfrm>
            <a:off x="723900" y="1276350"/>
            <a:ext cx="590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54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54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EasyRTG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A632A-E5EE-42E2-870A-F99596F8915C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5143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27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no-code training ground</a:t>
            </a:r>
          </a:p>
          <a:p>
            <a:pPr algn="l">
              <a:lnSpc>
                <a:spcPct val="95000"/>
              </a:lnSpc>
              <a:buNone/>
              <a:defRPr sz="27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27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for robot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FE3A8-D464-4713-9669-28716DD12BC9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1485900" cy="5715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1D188-DEE1-4B16-B681-0F4C4A410406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6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Shivam Chavan  ·  3053682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91A15-8400-4A29-B1FC-DF28D2AE1849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Supervisor: Shraddha Naik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2C1AD1-F867-4722-BC1E-A70257354C72}"/>
              </a:ext>
            </a:extLst>
          </p:cNvPr>
          <p:cNvSpPr>
            <a:spLocks noGrp="1"/>
          </p:cNvSpPr>
          <p:nvPr/>
        </p:nvSpPr>
        <p:spPr>
          <a:xfrm>
            <a:off x="6867525" y="695325"/>
            <a:ext cx="4667250" cy="527685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 l="25160" r="25160"/>
          <a:stretch>
            <a:fillRect/>
          </a:stretch>
        </p:blipFill>
        <p:spPr>
          <a:xfrm>
            <a:off x="6896100" y="723900"/>
            <a:ext cx="4610100" cy="5219700"/>
          </a:xfrm>
          <a:prstGeom prst="roundRect">
            <a:avLst>
              <a:gd name="adj" fmla="val 3719"/>
            </a:avLst>
          </a:prstGeom>
        </p:spPr>
      </p:pic>
    </p:spTree>
    <p:extLst>
      <p:ext uri="{BB962C8B-B14F-4D97-AF65-F5344CB8AC3E}">
        <p14:creationId xmlns:p14="http://schemas.microsoft.com/office/powerpoint/2010/main" val="67070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Rectangle 55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02</a:t>
            </a:r>
          </a:p>
        </p:txBody>
      </p:sp>
      <p:sp>
        <p:nvSpPr>
          <p:cNvPr id="559" name="Rectangle 56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Project Motivation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61" name="Shape 56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3" name="Shape 564"/>
          <p:cNvSpPr>
            <a:spLocks noGrp="1"/>
          </p:cNvSpPr>
          <p:nvPr/>
        </p:nvSpPr>
        <p:spPr>
          <a:xfrm>
            <a:off x="722376" y="19202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5" name="Rectangle 566"/>
          <p:cNvSpPr>
            <a:spLocks noGrp="1"/>
          </p:cNvSpPr>
          <p:nvPr/>
        </p:nvSpPr>
        <p:spPr>
          <a:xfrm>
            <a:off x="1051560" y="182880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In my final year of engineering</a:t>
            </a:r>
          </a:p>
        </p:txBody>
      </p:sp>
      <p:sp>
        <p:nvSpPr>
          <p:cNvPr id="567" name="Rectangle 568"/>
          <p:cNvSpPr>
            <a:spLocks noGrp="1"/>
          </p:cNvSpPr>
          <p:nvPr/>
        </p:nvSpPr>
        <p:spPr>
          <a:xfrm>
            <a:off x="4983480" y="181051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 set myself a harder project than I needed to: build a physical robot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while also</a:t>
            </a:r>
            <a:r>
              <a:rPr lang="en-US" sz="1425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train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ing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the simulated version of it with reinforcement learning.</a:t>
            </a:r>
          </a:p>
        </p:txBody>
      </p:sp>
      <p:sp>
        <p:nvSpPr>
          <p:cNvPr id="569" name="Shape 570"/>
          <p:cNvSpPr>
            <a:spLocks noGrp="1"/>
          </p:cNvSpPr>
          <p:nvPr/>
        </p:nvSpPr>
        <p:spPr>
          <a:xfrm>
            <a:off x="722376" y="29260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1" name="Rectangle 572"/>
          <p:cNvSpPr>
            <a:spLocks noGrp="1"/>
          </p:cNvSpPr>
          <p:nvPr/>
        </p:nvSpPr>
        <p:spPr>
          <a:xfrm>
            <a:off x="1051560" y="283464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It took three months</a:t>
            </a:r>
          </a:p>
        </p:txBody>
      </p:sp>
      <p:sp>
        <p:nvSpPr>
          <p:cNvPr id="573" name="Rectangle 574"/>
          <p:cNvSpPr>
            <a:spLocks noGrp="1"/>
          </p:cNvSpPr>
          <p:nvPr/>
        </p:nvSpPr>
        <p:spPr>
          <a:xfrm>
            <a:off x="4983480" y="281635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Three months of work before I had something I could show anyone. Almost 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all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of that time went into the robot behavior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and</a:t>
            </a: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into wiring the tools together.</a:t>
            </a:r>
          </a:p>
        </p:txBody>
      </p:sp>
      <p:sp>
        <p:nvSpPr>
          <p:cNvPr id="575" name="Shape 576"/>
          <p:cNvSpPr>
            <a:spLocks noGrp="1"/>
          </p:cNvSpPr>
          <p:nvPr/>
        </p:nvSpPr>
        <p:spPr>
          <a:xfrm>
            <a:off x="722376" y="39319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8232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7" name="Rectangle 578"/>
          <p:cNvSpPr>
            <a:spLocks noGrp="1"/>
          </p:cNvSpPr>
          <p:nvPr/>
        </p:nvSpPr>
        <p:spPr>
          <a:xfrm>
            <a:off x="1051560" y="384048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The project worked</a:t>
            </a:r>
          </a:p>
        </p:txBody>
      </p:sp>
      <p:sp>
        <p:nvSpPr>
          <p:cNvPr id="579" name="Rectangle 580"/>
          <p:cNvSpPr>
            <a:spLocks noGrp="1"/>
          </p:cNvSpPr>
          <p:nvPr/>
        </p:nvSpPr>
        <p:spPr>
          <a:xfrm>
            <a:off x="4983480" y="382219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 finished it, and the robot learned what I wanted. But I could see what the three months had really been spent on.</a:t>
            </a:r>
          </a:p>
        </p:txBody>
      </p:sp>
      <p:sp>
        <p:nvSpPr>
          <p:cNvPr id="581" name="Shape 582"/>
          <p:cNvSpPr>
            <a:spLocks noGrp="1"/>
          </p:cNvSpPr>
          <p:nvPr/>
        </p:nvSpPr>
        <p:spPr>
          <a:xfrm>
            <a:off x="722376" y="49377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3" name="Rectangle 584"/>
          <p:cNvSpPr>
            <a:spLocks noGrp="1"/>
          </p:cNvSpPr>
          <p:nvPr/>
        </p:nvSpPr>
        <p:spPr>
          <a:xfrm>
            <a:off x="1051560" y="4846320"/>
            <a:ext cx="37033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725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That is the gap</a:t>
            </a:r>
          </a:p>
        </p:txBody>
      </p:sp>
      <p:sp>
        <p:nvSpPr>
          <p:cNvPr id="585" name="Rectangle 586"/>
          <p:cNvSpPr>
            <a:spLocks noGrp="1"/>
          </p:cNvSpPr>
          <p:nvPr/>
        </p:nvSpPr>
        <p:spPr>
          <a:xfrm>
            <a:off x="4983480" y="4828032"/>
            <a:ext cx="649224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Anyone new to this cannot get started at all unless they already understand the algorithms and can write the code. The knowledge needed to begin is the barrier, </a:t>
            </a:r>
            <a:r>
              <a:rPr lang="en-US" sz="14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here</a:t>
            </a:r>
            <a:endParaRPr sz="1425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87" name="Shape 588"/>
          <p:cNvSpPr>
            <a:spLocks noGrp="1"/>
          </p:cNvSpPr>
          <p:nvPr/>
        </p:nvSpPr>
        <p:spPr>
          <a:xfrm>
            <a:off x="722376" y="5742432"/>
            <a:ext cx="10780776" cy="640080"/>
          </a:xfrm>
          <a:prstGeom prst="roundRect">
            <a:avLst>
              <a:gd name="adj" fmla="val 10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589" name="Rectangle 590"/>
          <p:cNvSpPr>
            <a:spLocks noGrp="1"/>
          </p:cNvSpPr>
          <p:nvPr/>
        </p:nvSpPr>
        <p:spPr>
          <a:xfrm>
            <a:off x="1051560" y="5907024"/>
            <a:ext cx="101498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5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So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,</a:t>
            </a: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I built the application I 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would’ve </a:t>
            </a:r>
            <a:r>
              <a:rPr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wanted when I started</a:t>
            </a:r>
            <a:r>
              <a:rPr lang="en-IN" sz="15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</a:t>
            </a:r>
            <a:endParaRPr sz="15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Rectangle 59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03</a:t>
            </a:r>
          </a:p>
        </p:txBody>
      </p:sp>
      <p:sp>
        <p:nvSpPr>
          <p:cNvPr id="593" name="Rectangle 594"/>
          <p:cNvSpPr>
            <a:spLocks noGrp="1"/>
          </p:cNvSpPr>
          <p:nvPr/>
        </p:nvSpPr>
        <p:spPr>
          <a:xfrm>
            <a:off x="685800" y="713232"/>
            <a:ext cx="10716768" cy="8661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Literature Survey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97" name="Rectangle 598"/>
          <p:cNvSpPr>
            <a:spLocks noGrp="1"/>
          </p:cNvSpPr>
          <p:nvPr/>
        </p:nvSpPr>
        <p:spPr>
          <a:xfrm>
            <a:off x="786384" y="1579350"/>
            <a:ext cx="210312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Area</a:t>
            </a:r>
          </a:p>
        </p:txBody>
      </p:sp>
      <p:sp>
        <p:nvSpPr>
          <p:cNvPr id="599" name="Rectangle 600"/>
          <p:cNvSpPr>
            <a:spLocks noGrp="1"/>
          </p:cNvSpPr>
          <p:nvPr/>
        </p:nvSpPr>
        <p:spPr>
          <a:xfrm>
            <a:off x="3090672" y="1579350"/>
            <a:ext cx="416052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5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What already exists</a:t>
            </a:r>
            <a:endParaRPr sz="15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01" name="Rectangle 602"/>
          <p:cNvSpPr>
            <a:spLocks noGrp="1"/>
          </p:cNvSpPr>
          <p:nvPr/>
        </p:nvSpPr>
        <p:spPr>
          <a:xfrm>
            <a:off x="7479792" y="1579350"/>
            <a:ext cx="4023360" cy="3017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5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Project application</a:t>
            </a:r>
            <a:endParaRPr sz="15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603" name="Rectangle 604"/>
          <p:cNvSpPr>
            <a:spLocks noGrp="1"/>
          </p:cNvSpPr>
          <p:nvPr/>
        </p:nvSpPr>
        <p:spPr>
          <a:xfrm>
            <a:off x="786384" y="2018262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Algorithms</a:t>
            </a:r>
          </a:p>
        </p:txBody>
      </p:sp>
      <p:sp>
        <p:nvSpPr>
          <p:cNvPr id="605" name="Rectangle 606"/>
          <p:cNvSpPr>
            <a:spLocks noGrp="1"/>
          </p:cNvSpPr>
          <p:nvPr/>
        </p:nvSpPr>
        <p:spPr>
          <a:xfrm>
            <a:off x="3090672" y="1999974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PPO (Schulman et al., 2017), SAC (Haarnoja et al., ICML 2018), TD3 (Fujimoto et al., ICML 2018)</a:t>
            </a:r>
          </a:p>
        </p:txBody>
      </p:sp>
      <p:sp>
        <p:nvSpPr>
          <p:cNvPr id="607" name="Rectangle 608"/>
          <p:cNvSpPr>
            <a:spLocks noGrp="1"/>
          </p:cNvSpPr>
          <p:nvPr/>
        </p:nvSpPr>
        <p:spPr>
          <a:xfrm>
            <a:off x="7479792" y="1999974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Reliable published methods. All three are in this project.</a:t>
            </a:r>
          </a:p>
        </p:txBody>
      </p:sp>
      <p:sp>
        <p:nvSpPr>
          <p:cNvPr id="609" name="Shape 610"/>
          <p:cNvSpPr>
            <a:spLocks noGrp="1"/>
          </p:cNvSpPr>
          <p:nvPr/>
        </p:nvSpPr>
        <p:spPr>
          <a:xfrm>
            <a:off x="786384" y="2621766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1" name="Rectangle 612"/>
          <p:cNvSpPr>
            <a:spLocks noGrp="1"/>
          </p:cNvSpPr>
          <p:nvPr/>
        </p:nvSpPr>
        <p:spPr>
          <a:xfrm>
            <a:off x="786384" y="2768070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GPU simulation</a:t>
            </a:r>
          </a:p>
        </p:txBody>
      </p:sp>
      <p:sp>
        <p:nvSpPr>
          <p:cNvPr id="613" name="Rectangle 614"/>
          <p:cNvSpPr>
            <a:spLocks noGrp="1"/>
          </p:cNvSpPr>
          <p:nvPr/>
        </p:nvSpPr>
        <p:spPr>
          <a:xfrm>
            <a:off x="3090672" y="2749782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Isaac Gym (Makoviychuk et al., NeurIPS Datasets 2021), Isaac Lab / Orbit (Mittal et al., RA-L 2023)</a:t>
            </a:r>
          </a:p>
        </p:txBody>
      </p:sp>
      <p:sp>
        <p:nvSpPr>
          <p:cNvPr id="615" name="Rectangle 616"/>
          <p:cNvSpPr>
            <a:spLocks noGrp="1"/>
          </p:cNvSpPr>
          <p:nvPr/>
        </p:nvSpPr>
        <p:spPr>
          <a:xfrm>
            <a:off x="7479792" y="2749782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Thousands of robots on one GPU. This is the engine we train on.</a:t>
            </a:r>
          </a:p>
        </p:txBody>
      </p:sp>
      <p:sp>
        <p:nvSpPr>
          <p:cNvPr id="617" name="Shape 618"/>
          <p:cNvSpPr>
            <a:spLocks noGrp="1"/>
          </p:cNvSpPr>
          <p:nvPr/>
        </p:nvSpPr>
        <p:spPr>
          <a:xfrm>
            <a:off x="786384" y="3371574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9" name="Rectangle 620"/>
          <p:cNvSpPr>
            <a:spLocks noGrp="1"/>
          </p:cNvSpPr>
          <p:nvPr/>
        </p:nvSpPr>
        <p:spPr>
          <a:xfrm>
            <a:off x="786384" y="3517878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Legged locomotion</a:t>
            </a:r>
          </a:p>
        </p:txBody>
      </p:sp>
      <p:sp>
        <p:nvSpPr>
          <p:cNvPr id="621" name="Rectangle 622"/>
          <p:cNvSpPr>
            <a:spLocks noGrp="1"/>
          </p:cNvSpPr>
          <p:nvPr/>
        </p:nvSpPr>
        <p:spPr>
          <a:xfrm>
            <a:off x="3090672" y="3499590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Rudin, Hoeller, Reist &amp; Hutter (</a:t>
            </a:r>
            <a:r>
              <a:rPr sz="1275" b="0" i="0" dirty="0" err="1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CoRL</a:t>
            </a: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2022)</a:t>
            </a:r>
          </a:p>
        </p:txBody>
      </p:sp>
      <p:sp>
        <p:nvSpPr>
          <p:cNvPr id="623" name="Rectangle 624"/>
          <p:cNvSpPr>
            <a:spLocks noGrp="1"/>
          </p:cNvSpPr>
          <p:nvPr/>
        </p:nvSpPr>
        <p:spPr>
          <a:xfrm>
            <a:off x="7479792" y="3499590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Showed a quadruped can be trained in minutes with massively parallel simulation.</a:t>
            </a:r>
          </a:p>
        </p:txBody>
      </p:sp>
      <p:sp>
        <p:nvSpPr>
          <p:cNvPr id="625" name="Shape 626"/>
          <p:cNvSpPr>
            <a:spLocks noGrp="1"/>
          </p:cNvSpPr>
          <p:nvPr/>
        </p:nvSpPr>
        <p:spPr>
          <a:xfrm>
            <a:off x="786384" y="4121382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7" name="Rectangle 628"/>
          <p:cNvSpPr>
            <a:spLocks noGrp="1"/>
          </p:cNvSpPr>
          <p:nvPr/>
        </p:nvSpPr>
        <p:spPr>
          <a:xfrm>
            <a:off x="786384" y="4267686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Differentiable physics</a:t>
            </a:r>
          </a:p>
        </p:txBody>
      </p:sp>
      <p:sp>
        <p:nvSpPr>
          <p:cNvPr id="629" name="Rectangle 630"/>
          <p:cNvSpPr>
            <a:spLocks noGrp="1"/>
          </p:cNvSpPr>
          <p:nvPr/>
        </p:nvSpPr>
        <p:spPr>
          <a:xfrm>
            <a:off x="3090672" y="4249398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Brax (Freeman et al., 2021)</a:t>
            </a:r>
          </a:p>
        </p:txBody>
      </p:sp>
      <p:sp>
        <p:nvSpPr>
          <p:cNvPr id="631" name="Rectangle 632"/>
          <p:cNvSpPr>
            <a:spLocks noGrp="1"/>
          </p:cNvSpPr>
          <p:nvPr/>
        </p:nvSpPr>
        <p:spPr>
          <a:xfrm>
            <a:off x="7479792" y="4249398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Fast, but our own attempt with it did not produce a usable robot</a:t>
            </a:r>
            <a:r>
              <a:rPr lang="en-US" sz="127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, very rigid</a:t>
            </a:r>
            <a:r>
              <a:rPr sz="127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33" name="Shape 634"/>
          <p:cNvSpPr>
            <a:spLocks noGrp="1"/>
          </p:cNvSpPr>
          <p:nvPr/>
        </p:nvSpPr>
        <p:spPr>
          <a:xfrm>
            <a:off x="786384" y="4871190"/>
            <a:ext cx="10716768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5" name="Rectangle 636"/>
          <p:cNvSpPr>
            <a:spLocks noGrp="1"/>
          </p:cNvSpPr>
          <p:nvPr/>
        </p:nvSpPr>
        <p:spPr>
          <a:xfrm>
            <a:off x="786384" y="5017494"/>
            <a:ext cx="21031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Libraries</a:t>
            </a:r>
          </a:p>
        </p:txBody>
      </p:sp>
      <p:sp>
        <p:nvSpPr>
          <p:cNvPr id="637" name="Rectangle 638"/>
          <p:cNvSpPr>
            <a:spLocks noGrp="1"/>
          </p:cNvSpPr>
          <p:nvPr/>
        </p:nvSpPr>
        <p:spPr>
          <a:xfrm>
            <a:off x="3090672" y="4999206"/>
            <a:ext cx="416052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Stable-Baselines3 (Raffin et al., JMLR 2021), PyBullet (Coumans &amp; Bai)</a:t>
            </a:r>
          </a:p>
        </p:txBody>
      </p:sp>
      <p:sp>
        <p:nvSpPr>
          <p:cNvPr id="639" name="Rectangle 640"/>
          <p:cNvSpPr>
            <a:spLocks noGrp="1"/>
          </p:cNvSpPr>
          <p:nvPr/>
        </p:nvSpPr>
        <p:spPr>
          <a:xfrm>
            <a:off x="7479792" y="4999206"/>
            <a:ext cx="402336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Well-tested implementations, all written for people who already code.</a:t>
            </a:r>
          </a:p>
        </p:txBody>
      </p:sp>
      <p:sp>
        <p:nvSpPr>
          <p:cNvPr id="641" name="Shape 642"/>
          <p:cNvSpPr>
            <a:spLocks noGrp="1"/>
          </p:cNvSpPr>
          <p:nvPr/>
        </p:nvSpPr>
        <p:spPr>
          <a:xfrm>
            <a:off x="722376" y="5787786"/>
            <a:ext cx="10780776" cy="603504"/>
          </a:xfrm>
          <a:prstGeom prst="roundRect">
            <a:avLst>
              <a:gd name="adj" fmla="val 10000"/>
            </a:avLst>
          </a:prstGeom>
          <a:solidFill>
            <a:srgbClr val="F2E2D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3" name="Rectangle 644"/>
          <p:cNvSpPr>
            <a:spLocks noGrp="1"/>
          </p:cNvSpPr>
          <p:nvPr/>
        </p:nvSpPr>
        <p:spPr>
          <a:xfrm>
            <a:off x="1051560" y="5961888"/>
            <a:ext cx="1014984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50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The gap is that using them still requires an expert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understanding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4BF18E-0F30-47ED-B3F9-C86E497C5961}"/>
              </a:ext>
            </a:extLst>
          </p:cNvPr>
          <p:cNvSpPr>
            <a:spLocks noGrp="1"/>
          </p:cNvSpPr>
          <p:nvPr/>
        </p:nvSpPr>
        <p:spPr>
          <a:xfrm>
            <a:off x="383602" y="2714625"/>
            <a:ext cx="11503598" cy="1724025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D9DE1-17E3-4365-90F3-E839A9A11F49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5A17B-F3E4-48DC-8021-0A4FFA5F336F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EasyRTG turns a robot file and a goal</a:t>
            </a:r>
          </a:p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into a trained robot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906D6-F6B0-48FE-B228-3CC2063140B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2E0C4-4051-4B18-BE47-746623E6D82F}"/>
              </a:ext>
            </a:extLst>
          </p:cNvPr>
          <p:cNvSpPr>
            <a:spLocks noGrp="1"/>
          </p:cNvSpPr>
          <p:nvPr/>
        </p:nvSpPr>
        <p:spPr>
          <a:xfrm>
            <a:off x="857250" y="3028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19F3B3-F807-41AD-BB57-7E61BDA75CFA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User can load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any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universal robot description file (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.</a:t>
            </a:r>
            <a:r>
              <a:rPr lang="en-IN" sz="1350" dirty="0" err="1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urdf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) 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file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.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DE7A2-6619-400A-B9FA-F01BFF9BDD85}"/>
              </a:ext>
            </a:extLst>
          </p:cNvPr>
          <p:cNvSpPr>
            <a:spLocks noGrp="1"/>
          </p:cNvSpPr>
          <p:nvPr/>
        </p:nvSpPr>
        <p:spPr>
          <a:xfrm>
            <a:off x="2496851" y="301942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CD63B-3D62-40CD-BB49-E662DDE8F473}"/>
              </a:ext>
            </a:extLst>
          </p:cNvPr>
          <p:cNvSpPr>
            <a:spLocks noGrp="1"/>
          </p:cNvSpPr>
          <p:nvPr/>
        </p:nvSpPr>
        <p:spPr>
          <a:xfrm>
            <a:off x="3162300" y="3028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C00000"/>
                </a:solidFill>
                <a:latin typeface="Segoe UI Semibold"/>
                <a:ea typeface="Segoe UI Semibold"/>
                <a:cs typeface="Segoe UI Semibold"/>
              </a:rPr>
              <a:t>Describe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02E703-1FDD-4610-A3C1-89BA5AA6D040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User mentions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what 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this loaded robot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should do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/train itself on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930C09-4C6B-43A5-931E-2ACB6F358CBB}"/>
              </a:ext>
            </a:extLst>
          </p:cNvPr>
          <p:cNvSpPr>
            <a:spLocks noGrp="1"/>
          </p:cNvSpPr>
          <p:nvPr/>
        </p:nvSpPr>
        <p:spPr>
          <a:xfrm>
            <a:off x="4877450" y="301942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00079D-D18F-4313-A929-04192C6A5C8E}"/>
              </a:ext>
            </a:extLst>
          </p:cNvPr>
          <p:cNvSpPr>
            <a:spLocks noGrp="1"/>
          </p:cNvSpPr>
          <p:nvPr/>
        </p:nvSpPr>
        <p:spPr>
          <a:xfrm>
            <a:off x="5467350" y="3028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95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Auto </a:t>
            </a:r>
            <a:r>
              <a:rPr sz="195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Configure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2831AC-5C95-45D7-8DFE-5C31AEF36C74}"/>
              </a:ext>
            </a:extLst>
          </p:cNvPr>
          <p:cNvSpPr>
            <a:spLocks noGrp="1"/>
          </p:cNvSpPr>
          <p:nvPr/>
        </p:nvSpPr>
        <p:spPr>
          <a:xfrm>
            <a:off x="5448300" y="35433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The 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AI 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assistant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in the app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suggests a setup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A7ABD-B5F4-4B9A-A1B2-92CFF2718BE1}"/>
              </a:ext>
            </a:extLst>
          </p:cNvPr>
          <p:cNvSpPr>
            <a:spLocks noGrp="1"/>
          </p:cNvSpPr>
          <p:nvPr/>
        </p:nvSpPr>
        <p:spPr>
          <a:xfrm>
            <a:off x="7258050" y="303164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61D6C0-5811-43E0-8DCD-446705C49900}"/>
              </a:ext>
            </a:extLst>
          </p:cNvPr>
          <p:cNvSpPr>
            <a:spLocks noGrp="1"/>
          </p:cNvSpPr>
          <p:nvPr/>
        </p:nvSpPr>
        <p:spPr>
          <a:xfrm>
            <a:off x="7772400" y="3028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Train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5D028C-DF87-4A75-9B87-811555B219D6}"/>
              </a:ext>
            </a:extLst>
          </p:cNvPr>
          <p:cNvSpPr>
            <a:spLocks noGrp="1"/>
          </p:cNvSpPr>
          <p:nvPr/>
        </p:nvSpPr>
        <p:spPr>
          <a:xfrm>
            <a:off x="7753350" y="35433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User can t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rain thousands of copies at once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. True Parallelis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m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90A833-E75C-4090-A1D8-E13349A238CF}"/>
              </a:ext>
            </a:extLst>
          </p:cNvPr>
          <p:cNvSpPr>
            <a:spLocks noGrp="1"/>
          </p:cNvSpPr>
          <p:nvPr/>
        </p:nvSpPr>
        <p:spPr>
          <a:xfrm>
            <a:off x="9315450" y="301942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9992DC-6F99-4E77-83C0-66547D253B3B}"/>
              </a:ext>
            </a:extLst>
          </p:cNvPr>
          <p:cNvSpPr>
            <a:spLocks noGrp="1"/>
          </p:cNvSpPr>
          <p:nvPr/>
        </p:nvSpPr>
        <p:spPr>
          <a:xfrm>
            <a:off x="10077450" y="3028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95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 i="0" dirty="0" err="1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Evaluat</a:t>
            </a:r>
            <a:r>
              <a:rPr lang="en-IN" sz="195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</a:t>
            </a:r>
            <a:endParaRPr sz="1950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DEBFA4-101F-4BA5-8743-4712043D5416}"/>
              </a:ext>
            </a:extLst>
          </p:cNvPr>
          <p:cNvSpPr>
            <a:spLocks noGrp="1"/>
          </p:cNvSpPr>
          <p:nvPr/>
        </p:nvSpPr>
        <p:spPr>
          <a:xfrm>
            <a:off x="10058400" y="35433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Watch it 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train live 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and compare results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4AC5F6-B658-4D6B-BA29-C3B79B59C888}"/>
              </a:ext>
            </a:extLst>
          </p:cNvPr>
          <p:cNvSpPr>
            <a:spLocks noGrp="1"/>
          </p:cNvSpPr>
          <p:nvPr/>
        </p:nvSpPr>
        <p:spPr>
          <a:xfrm>
            <a:off x="2133600" y="5143500"/>
            <a:ext cx="792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28" lnSpcReduction="10000"/>
          </a:bodyPr>
          <a:lstStyle/>
          <a:p>
            <a:pPr algn="ctr">
              <a:lnSpc>
                <a:spcPct val="98000"/>
              </a:lnSpc>
              <a:buNone/>
              <a:defRPr sz="172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You can check and approve every important change</a:t>
            </a:r>
            <a: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</a:t>
            </a:r>
            <a:b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</a:br>
            <a:r>
              <a:rPr lang="en-US" sz="172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(human in the loop)</a:t>
            </a:r>
            <a:endParaRPr sz="1725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2647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6236C34-2B2A-9152-EAC2-C62C53E7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714" y="1186558"/>
            <a:ext cx="3407111" cy="49570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904A87-00D9-4F1F-8246-3EC89849529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0A23C-5EA5-4906-BBE6-2C98A901648E}"/>
              </a:ext>
            </a:extLst>
          </p:cNvPr>
          <p:cNvSpPr>
            <a:spLocks noGrp="1"/>
          </p:cNvSpPr>
          <p:nvPr/>
        </p:nvSpPr>
        <p:spPr>
          <a:xfrm>
            <a:off x="360461" y="562415"/>
            <a:ext cx="10340526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AI Assistant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91E7B-D017-4686-8D7F-552B8193CFB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3FF41B-D88F-40E7-B900-860CEA2FA6A6}"/>
              </a:ext>
            </a:extLst>
          </p:cNvPr>
          <p:cNvSpPr>
            <a:spLocks noGrp="1"/>
          </p:cNvSpPr>
          <p:nvPr/>
        </p:nvSpPr>
        <p:spPr>
          <a:xfrm>
            <a:off x="393823" y="1630957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B1B359-AEAB-438D-BC70-65C31120CE7D}"/>
              </a:ext>
            </a:extLst>
          </p:cNvPr>
          <p:cNvSpPr>
            <a:spLocks noGrp="1"/>
          </p:cNvSpPr>
          <p:nvPr/>
        </p:nvSpPr>
        <p:spPr>
          <a:xfrm>
            <a:off x="603373" y="1853331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Inspect</a:t>
            </a:r>
            <a:r>
              <a:rPr lang="en-IN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89BCCE-9475-4B3A-84CD-021C33F2D8C7}"/>
              </a:ext>
            </a:extLst>
          </p:cNvPr>
          <p:cNvSpPr>
            <a:spLocks noGrp="1"/>
          </p:cNvSpPr>
          <p:nvPr/>
        </p:nvSpPr>
        <p:spPr>
          <a:xfrm>
            <a:off x="603373" y="2310530"/>
            <a:ext cx="2045276" cy="699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Reads the robot's joints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its geometry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and limits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.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B1858B-8B25-48CA-A6A9-B004753EFC91}"/>
              </a:ext>
            </a:extLst>
          </p:cNvPr>
          <p:cNvSpPr>
            <a:spLocks noGrp="1"/>
          </p:cNvSpPr>
          <p:nvPr/>
        </p:nvSpPr>
        <p:spPr>
          <a:xfrm>
            <a:off x="2790823" y="2223156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defRPr>
            </a:pPr>
            <a:r>
              <a: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3698F4-72F4-47C6-A632-0029D61ACBF7}"/>
              </a:ext>
            </a:extLst>
          </p:cNvPr>
          <p:cNvSpPr>
            <a:spLocks noGrp="1"/>
          </p:cNvSpPr>
          <p:nvPr/>
        </p:nvSpPr>
        <p:spPr>
          <a:xfrm>
            <a:off x="3213223" y="1630957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1C9B5C-066C-49DC-8ECF-B8CBA6971531}"/>
              </a:ext>
            </a:extLst>
          </p:cNvPr>
          <p:cNvSpPr>
            <a:spLocks noGrp="1"/>
          </p:cNvSpPr>
          <p:nvPr/>
        </p:nvSpPr>
        <p:spPr>
          <a:xfrm>
            <a:off x="3422773" y="1853331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Translate</a:t>
            </a:r>
            <a:r>
              <a:rPr lang="en-IN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s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D4716-6602-4420-996C-FD628A47120C}"/>
              </a:ext>
            </a:extLst>
          </p:cNvPr>
          <p:cNvSpPr>
            <a:spLocks noGrp="1"/>
          </p:cNvSpPr>
          <p:nvPr/>
        </p:nvSpPr>
        <p:spPr>
          <a:xfrm>
            <a:off x="3404649" y="2223156"/>
            <a:ext cx="2126075" cy="913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98000"/>
              </a:lnSpc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Turns your goal into a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3 stages </a:t>
            </a:r>
            <a:b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</a:b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1. 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Environment Observations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</a:t>
            </a:r>
            <a:b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</a:b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2. Performable Actions</a:t>
            </a:r>
          </a:p>
          <a:p>
            <a:pPr algn="l">
              <a:lnSpc>
                <a:spcPct val="98000"/>
              </a:lnSpc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reward</a:t>
            </a: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 function 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2F077-7CD8-456B-9448-30710ADFD4F8}"/>
              </a:ext>
            </a:extLst>
          </p:cNvPr>
          <p:cNvSpPr>
            <a:spLocks noGrp="1"/>
          </p:cNvSpPr>
          <p:nvPr/>
        </p:nvSpPr>
        <p:spPr>
          <a:xfrm>
            <a:off x="5610223" y="2223156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defRPr>
            </a:pPr>
            <a:r>
              <a:rPr sz="1950" b="0" i="0">
                <a:solidFill>
                  <a:srgbClr val="0B6B64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45BBB7-F537-40A1-8939-91EE1C60C195}"/>
              </a:ext>
            </a:extLst>
          </p:cNvPr>
          <p:cNvSpPr>
            <a:spLocks noGrp="1"/>
          </p:cNvSpPr>
          <p:nvPr/>
        </p:nvSpPr>
        <p:spPr>
          <a:xfrm>
            <a:off x="6032623" y="1630957"/>
            <a:ext cx="2381250" cy="1562100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7484CE-D23B-4A88-BF7B-B94709B95386}"/>
              </a:ext>
            </a:extLst>
          </p:cNvPr>
          <p:cNvSpPr>
            <a:spLocks noGrp="1"/>
          </p:cNvSpPr>
          <p:nvPr/>
        </p:nvSpPr>
        <p:spPr>
          <a:xfrm>
            <a:off x="6242173" y="1853331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Runs &amp; watches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FA9EF9-27C6-4897-9C47-FB9AB56CDA49}"/>
              </a:ext>
            </a:extLst>
          </p:cNvPr>
          <p:cNvSpPr>
            <a:spLocks noGrp="1"/>
          </p:cNvSpPr>
          <p:nvPr/>
        </p:nvSpPr>
        <p:spPr>
          <a:xfrm>
            <a:off x="6242173" y="2320056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Starts training and reports progress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C7176-4D4E-0B6D-ADD7-4A7082C80C1B}"/>
              </a:ext>
            </a:extLst>
          </p:cNvPr>
          <p:cNvSpPr>
            <a:spLocks noGrp="1"/>
          </p:cNvSpPr>
          <p:nvPr/>
        </p:nvSpPr>
        <p:spPr>
          <a:xfrm>
            <a:off x="393192" y="3547872"/>
            <a:ext cx="54864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Two models, routed per message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" name="ModelCard 0">
            <a:extLst>
              <a:ext uri="{FF2B5EF4-FFF2-40B4-BE49-F238E27FC236}">
                <a16:creationId xmlns:a16="http://schemas.microsoft.com/office/drawing/2014/main" id="{F23FF41B-D88F-40E7-B900-860CEA2FA6A6}"/>
              </a:ext>
            </a:extLst>
          </p:cNvPr>
          <p:cNvSpPr>
            <a:spLocks noGrp="1"/>
          </p:cNvSpPr>
          <p:nvPr/>
        </p:nvSpPr>
        <p:spPr>
          <a:xfrm>
            <a:off x="393192" y="4023360"/>
            <a:ext cx="3794760" cy="1874519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ModelChipBg 0"/>
          <p:cNvSpPr>
            <a:spLocks noGrp="1"/>
          </p:cNvSpPr>
          <p:nvPr/>
        </p:nvSpPr>
        <p:spPr>
          <a:xfrm>
            <a:off x="603504" y="4224528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ModelChip 0"/>
          <p:cNvSpPr>
            <a:spLocks noGrp="1"/>
          </p:cNvSpPr>
          <p:nvPr/>
        </p:nvSpPr>
        <p:spPr>
          <a:xfrm>
            <a:off x="603504" y="4261104"/>
            <a:ext cx="265176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SIMPLE COMMANDS  ·  OLLAMA</a:t>
            </a:r>
          </a:p>
        </p:txBody>
      </p:sp>
      <p:sp>
        <p:nvSpPr>
          <p:cNvPr id="6" name="ModelName 0">
            <a:extLst>
              <a:ext uri="{FF2B5EF4-FFF2-40B4-BE49-F238E27FC236}">
                <a16:creationId xmlns:a16="http://schemas.microsoft.com/office/drawing/2014/main" id="{FCB1B359-AEAB-438D-BC70-65C31120CE7D}"/>
              </a:ext>
            </a:extLst>
          </p:cNvPr>
          <p:cNvSpPr>
            <a:spLocks noGrp="1"/>
          </p:cNvSpPr>
          <p:nvPr/>
        </p:nvSpPr>
        <p:spPr>
          <a:xfrm>
            <a:off x="603504" y="4590288"/>
            <a:ext cx="33832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US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Ministral-3:8b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7" name="ModelBody 0">
            <a:extLst>
              <a:ext uri="{FF2B5EF4-FFF2-40B4-BE49-F238E27FC236}">
                <a16:creationId xmlns:a16="http://schemas.microsoft.com/office/drawing/2014/main" id="{8889BCCE-9475-4B3A-84CD-021C33F2D8C7}"/>
              </a:ext>
            </a:extLst>
          </p:cNvPr>
          <p:cNvSpPr>
            <a:spLocks noGrp="1"/>
          </p:cNvSpPr>
          <p:nvPr/>
        </p:nvSpPr>
        <p:spPr>
          <a:xfrm>
            <a:off x="603504" y="4983480"/>
            <a:ext cx="338328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show, list, load, start, stop. Temperature 0.2, short replies, thinking on.</a:t>
            </a:r>
          </a:p>
        </p:txBody>
      </p:sp>
      <p:sp>
        <p:nvSpPr>
          <p:cNvPr id="8" name="ModelCard 1">
            <a:extLst>
              <a:ext uri="{FF2B5EF4-FFF2-40B4-BE49-F238E27FC236}">
                <a16:creationId xmlns:a16="http://schemas.microsoft.com/office/drawing/2014/main" id="{F23FF41B-D88F-40E7-B900-860CEA2FA6A6}"/>
              </a:ext>
            </a:extLst>
          </p:cNvPr>
          <p:cNvSpPr>
            <a:spLocks noGrp="1"/>
          </p:cNvSpPr>
          <p:nvPr/>
        </p:nvSpPr>
        <p:spPr>
          <a:xfrm>
            <a:off x="4434840" y="4023360"/>
            <a:ext cx="3794760" cy="1874519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ModelChipBg 1"/>
          <p:cNvSpPr>
            <a:spLocks noGrp="1"/>
          </p:cNvSpPr>
          <p:nvPr/>
        </p:nvSpPr>
        <p:spPr>
          <a:xfrm>
            <a:off x="4645152" y="4224528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ModelChip 1"/>
          <p:cNvSpPr>
            <a:spLocks noGrp="1"/>
          </p:cNvSpPr>
          <p:nvPr/>
        </p:nvSpPr>
        <p:spPr>
          <a:xfrm>
            <a:off x="4645152" y="4261104"/>
            <a:ext cx="265176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GOALS &amp; DIAGNOSIS  ·  NVIDIA NIM</a:t>
            </a:r>
          </a:p>
        </p:txBody>
      </p:sp>
      <p:sp>
        <p:nvSpPr>
          <p:cNvPr id="23" name="ModelName 1">
            <a:extLst>
              <a:ext uri="{FF2B5EF4-FFF2-40B4-BE49-F238E27FC236}">
                <a16:creationId xmlns:a16="http://schemas.microsoft.com/office/drawing/2014/main" id="{FCB1B359-AEAB-438D-BC70-65C31120CE7D}"/>
              </a:ext>
            </a:extLst>
          </p:cNvPr>
          <p:cNvSpPr>
            <a:spLocks noGrp="1"/>
          </p:cNvSpPr>
          <p:nvPr/>
        </p:nvSpPr>
        <p:spPr>
          <a:xfrm>
            <a:off x="4645152" y="4590288"/>
            <a:ext cx="33832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llama-3.3-nemotron-super-49b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4" name="ModelBody 1">
            <a:extLst>
              <a:ext uri="{FF2B5EF4-FFF2-40B4-BE49-F238E27FC236}">
                <a16:creationId xmlns:a16="http://schemas.microsoft.com/office/drawing/2014/main" id="{8889BCCE-9475-4B3A-84CD-021C33F2D8C7}"/>
              </a:ext>
            </a:extLst>
          </p:cNvPr>
          <p:cNvSpPr>
            <a:spLocks noGrp="1"/>
          </p:cNvSpPr>
          <p:nvPr/>
        </p:nvSpPr>
        <p:spPr>
          <a:xfrm>
            <a:off x="4645152" y="4983480"/>
            <a:ext cx="3383280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"make it walk", reward design, why a run failed. Temperature 0.6, 16k reasoning budget, and it always asks before applying.</a:t>
            </a:r>
          </a:p>
        </p:txBody>
      </p:sp>
      <p:sp>
        <p:nvSpPr>
          <p:cNvPr id="283" name="ModelFooter"/>
          <p:cNvSpPr>
            <a:spLocks noGrp="1"/>
          </p:cNvSpPr>
          <p:nvPr/>
        </p:nvSpPr>
        <p:spPr>
          <a:xfrm>
            <a:off x="393192" y="5989320"/>
            <a:ext cx="7836408" cy="310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One assistant, 27 tools. The 11 that change state need </a:t>
            </a:r>
            <a:r>
              <a:rPr lang="en-US"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user</a:t>
            </a: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 approval first.</a:t>
            </a:r>
          </a:p>
        </p:txBody>
      </p:sp>
    </p:spTree>
    <p:extLst>
      <p:ext uri="{BB962C8B-B14F-4D97-AF65-F5344CB8AC3E}">
        <p14:creationId xmlns:p14="http://schemas.microsoft.com/office/powerpoint/2010/main" val="205013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315501-A71E-4269-8631-97A7D5257B5E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4E41B-A083-44BA-8274-BA0FEDA5D684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Underlaying Tech Stack &amp; Features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119981-4827-463C-A457-95278AEC7B6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538A48-F813-40E8-8C9A-13C76EFF7E76}"/>
              </a:ext>
            </a:extLst>
          </p:cNvPr>
          <p:cNvSpPr>
            <a:spLocks noGrp="1"/>
          </p:cNvSpPr>
          <p:nvPr/>
        </p:nvSpPr>
        <p:spPr>
          <a:xfrm>
            <a:off x="6048375" y="2428875"/>
            <a:ext cx="38100" cy="2571750"/>
          </a:xfrm>
          <a:prstGeom prst="rect">
            <a:avLst/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9D0DA-A199-4C93-89F3-4E67968865BE}"/>
              </a:ext>
            </a:extLst>
          </p:cNvPr>
          <p:cNvSpPr>
            <a:spLocks noGrp="1"/>
          </p:cNvSpPr>
          <p:nvPr/>
        </p:nvSpPr>
        <p:spPr>
          <a:xfrm>
            <a:off x="3028950" y="3676650"/>
            <a:ext cx="6096000" cy="38100"/>
          </a:xfrm>
          <a:prstGeom prst="rect">
            <a:avLst/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A686A9-1B16-412B-B258-0B0F94595CEA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62D916-301F-4539-8EBF-D14CA070C78D}"/>
              </a:ext>
            </a:extLst>
          </p:cNvPr>
          <p:cNvSpPr>
            <a:spLocks noGrp="1"/>
          </p:cNvSpPr>
          <p:nvPr/>
        </p:nvSpPr>
        <p:spPr>
          <a:xfrm>
            <a:off x="1790700" y="23431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Frontend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B02BE-7C82-44AA-9D2E-3320D96403BB}"/>
              </a:ext>
            </a:extLst>
          </p:cNvPr>
          <p:cNvSpPr>
            <a:spLocks noGrp="1"/>
          </p:cNvSpPr>
          <p:nvPr/>
        </p:nvSpPr>
        <p:spPr>
          <a:xfrm>
            <a:off x="1790700" y="276225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Flutter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3C8482-4F47-40FD-9252-EF1480D3B117}"/>
              </a:ext>
            </a:extLst>
          </p:cNvPr>
          <p:cNvSpPr>
            <a:spLocks noGrp="1"/>
          </p:cNvSpPr>
          <p:nvPr/>
        </p:nvSpPr>
        <p:spPr>
          <a:xfrm>
            <a:off x="6877050" y="213360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D7EB6-083B-43DA-B3D7-26089BA3452D}"/>
              </a:ext>
            </a:extLst>
          </p:cNvPr>
          <p:cNvSpPr>
            <a:spLocks noGrp="1"/>
          </p:cNvSpPr>
          <p:nvPr/>
        </p:nvSpPr>
        <p:spPr>
          <a:xfrm>
            <a:off x="7143750" y="23431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875" b="1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Backend</a:t>
            </a:r>
            <a:endParaRPr lang="en-IN"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2617B-D7A2-4422-ACF4-556B58CF6E46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64"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Fast Api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320496-8D51-4D29-A64B-F9AA8E3299BE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DDEBE7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DD98D-24D0-457E-80AC-A421DE2B5AC4}"/>
              </a:ext>
            </a:extLst>
          </p:cNvPr>
          <p:cNvSpPr>
            <a:spLocks noGrp="1"/>
          </p:cNvSpPr>
          <p:nvPr/>
        </p:nvSpPr>
        <p:spPr>
          <a:xfrm>
            <a:off x="1790700" y="43815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NVIDIA Isaac Sim + PPO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2D76C0-886D-4CD1-96BB-0D9494AFBF04}"/>
              </a:ext>
            </a:extLst>
          </p:cNvPr>
          <p:cNvSpPr>
            <a:spLocks noGrp="1"/>
          </p:cNvSpPr>
          <p:nvPr/>
        </p:nvSpPr>
        <p:spPr>
          <a:xfrm>
            <a:off x="1790700" y="480060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Thousands of robots training on the GPU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FF0E90-BC6B-4F20-B692-9BD085ED7A45}"/>
              </a:ext>
            </a:extLst>
          </p:cNvPr>
          <p:cNvSpPr>
            <a:spLocks noGrp="1"/>
          </p:cNvSpPr>
          <p:nvPr/>
        </p:nvSpPr>
        <p:spPr>
          <a:xfrm>
            <a:off x="6877050" y="4171950"/>
            <a:ext cx="3790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AC631-793E-436D-87FA-4AFF5F09BEEF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87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875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Agent</a:t>
            </a:r>
            <a:endParaRPr sz="1875" b="1" i="0" dirty="0">
              <a:solidFill>
                <a:srgbClr val="18232F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3E6EEC-A774-4377-86F7-7E2455796551}"/>
              </a:ext>
            </a:extLst>
          </p:cNvPr>
          <p:cNvSpPr>
            <a:spLocks noGrp="1"/>
          </p:cNvSpPr>
          <p:nvPr/>
        </p:nvSpPr>
        <p:spPr>
          <a:xfrm>
            <a:off x="7143750" y="4800600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3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lang="en-IN" sz="1350" b="0" i="0" dirty="0" err="1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Ollama</a:t>
            </a:r>
            <a:r>
              <a:rPr lang="en-IN" sz="135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/Nvidia custom agent</a:t>
            </a:r>
            <a:endParaRPr sz="1350" b="0" i="0" dirty="0">
              <a:solidFill>
                <a:srgbClr val="5B6670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7677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4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07</a:t>
            </a:r>
          </a:p>
        </p:txBody>
      </p:sp>
      <p:sp>
        <p:nvSpPr>
          <p:cNvPr id="235" name="Rectangle 236"/>
          <p:cNvSpPr>
            <a:spLocks noGrp="1"/>
          </p:cNvSpPr>
          <p:nvPr/>
        </p:nvSpPr>
        <p:spPr>
          <a:xfrm>
            <a:off x="627814" y="271030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 &amp; NASA Valkyrie</a:t>
            </a:r>
          </a:p>
        </p:txBody>
      </p:sp>
      <p:sp>
        <p:nvSpPr>
          <p:cNvPr id="237" name="Shape 238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40"/>
          <p:cNvSpPr>
            <a:spLocks noGrp="1"/>
          </p:cNvSpPr>
          <p:nvPr/>
        </p:nvSpPr>
        <p:spPr>
          <a:xfrm>
            <a:off x="694944" y="1339596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4"/>
          <p:cNvSpPr>
            <a:spLocks noGrp="1"/>
          </p:cNvSpPr>
          <p:nvPr/>
        </p:nvSpPr>
        <p:spPr>
          <a:xfrm>
            <a:off x="832104" y="3726180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Rectangle 246"/>
          <p:cNvSpPr>
            <a:spLocks noGrp="1"/>
          </p:cNvSpPr>
          <p:nvPr/>
        </p:nvSpPr>
        <p:spPr>
          <a:xfrm>
            <a:off x="832104" y="3762756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UNITREE GO1  ·  QUADRUPED</a:t>
            </a:r>
          </a:p>
        </p:txBody>
      </p:sp>
      <p:sp>
        <p:nvSpPr>
          <p:cNvPr id="247" name="Rectangle 248"/>
          <p:cNvSpPr>
            <a:spLocks noGrp="1"/>
          </p:cNvSpPr>
          <p:nvPr/>
        </p:nvSpPr>
        <p:spPr>
          <a:xfrm>
            <a:off x="3881955" y="1472184"/>
            <a:ext cx="1129611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12</a:t>
            </a:r>
          </a:p>
        </p:txBody>
      </p:sp>
      <p:sp>
        <p:nvSpPr>
          <p:cNvPr id="249" name="Rectangle 250"/>
          <p:cNvSpPr>
            <a:spLocks noGrp="1"/>
          </p:cNvSpPr>
          <p:nvPr/>
        </p:nvSpPr>
        <p:spPr>
          <a:xfrm>
            <a:off x="3881955" y="1911096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actuated joints</a:t>
            </a:r>
          </a:p>
        </p:txBody>
      </p:sp>
      <p:sp>
        <p:nvSpPr>
          <p:cNvPr id="251" name="Rectangle 252"/>
          <p:cNvSpPr>
            <a:spLocks noGrp="1"/>
          </p:cNvSpPr>
          <p:nvPr/>
        </p:nvSpPr>
        <p:spPr>
          <a:xfrm>
            <a:off x="3881955" y="2338578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 dirty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46</a:t>
            </a:r>
          </a:p>
        </p:txBody>
      </p:sp>
      <p:sp>
        <p:nvSpPr>
          <p:cNvPr id="253" name="Rectangle 254"/>
          <p:cNvSpPr>
            <a:spLocks noGrp="1"/>
          </p:cNvSpPr>
          <p:nvPr/>
        </p:nvSpPr>
        <p:spPr>
          <a:xfrm>
            <a:off x="3881955" y="2777490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links in the file</a:t>
            </a:r>
          </a:p>
        </p:txBody>
      </p:sp>
      <p:sp>
        <p:nvSpPr>
          <p:cNvPr id="255" name="Rectangle 256"/>
          <p:cNvSpPr>
            <a:spLocks noGrp="1"/>
          </p:cNvSpPr>
          <p:nvPr/>
        </p:nvSpPr>
        <p:spPr>
          <a:xfrm>
            <a:off x="3881955" y="3114675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13.3 kg</a:t>
            </a:r>
          </a:p>
        </p:txBody>
      </p:sp>
      <p:sp>
        <p:nvSpPr>
          <p:cNvPr id="257" name="Rectangle 258"/>
          <p:cNvSpPr>
            <a:spLocks noGrp="1"/>
          </p:cNvSpPr>
          <p:nvPr/>
        </p:nvSpPr>
        <p:spPr>
          <a:xfrm>
            <a:off x="3881955" y="3553587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total mass</a:t>
            </a:r>
          </a:p>
        </p:txBody>
      </p:sp>
      <p:sp>
        <p:nvSpPr>
          <p:cNvPr id="259" name="Rectangle 260"/>
          <p:cNvSpPr>
            <a:spLocks noGrp="1"/>
          </p:cNvSpPr>
          <p:nvPr/>
        </p:nvSpPr>
        <p:spPr>
          <a:xfrm>
            <a:off x="1496717" y="4264533"/>
            <a:ext cx="3396661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0.43 m at the hip. Three joints per leg; the four feet are the only ground contacts.</a:t>
            </a:r>
          </a:p>
        </p:txBody>
      </p:sp>
      <p:sp>
        <p:nvSpPr>
          <p:cNvPr id="261" name="Shape 262"/>
          <p:cNvSpPr>
            <a:spLocks noGrp="1"/>
          </p:cNvSpPr>
          <p:nvPr/>
        </p:nvSpPr>
        <p:spPr>
          <a:xfrm>
            <a:off x="5939355" y="1339596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6"/>
          <p:cNvSpPr>
            <a:spLocks noGrp="1"/>
          </p:cNvSpPr>
          <p:nvPr/>
        </p:nvSpPr>
        <p:spPr>
          <a:xfrm>
            <a:off x="6076515" y="3726180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Rectangle 268"/>
          <p:cNvSpPr>
            <a:spLocks noGrp="1"/>
          </p:cNvSpPr>
          <p:nvPr/>
        </p:nvSpPr>
        <p:spPr>
          <a:xfrm>
            <a:off x="6076515" y="3762756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NASA VALKYRIE  ·  HUMANOID</a:t>
            </a:r>
          </a:p>
        </p:txBody>
      </p:sp>
      <p:sp>
        <p:nvSpPr>
          <p:cNvPr id="269" name="Rectangle 270"/>
          <p:cNvSpPr>
            <a:spLocks noGrp="1"/>
          </p:cNvSpPr>
          <p:nvPr/>
        </p:nvSpPr>
        <p:spPr>
          <a:xfrm>
            <a:off x="9107751" y="1444752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58</a:t>
            </a:r>
          </a:p>
        </p:txBody>
      </p:sp>
      <p:sp>
        <p:nvSpPr>
          <p:cNvPr id="271" name="Rectangle 272"/>
          <p:cNvSpPr>
            <a:spLocks noGrp="1"/>
          </p:cNvSpPr>
          <p:nvPr/>
        </p:nvSpPr>
        <p:spPr>
          <a:xfrm>
            <a:off x="9107751" y="1883664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actuated joints</a:t>
            </a:r>
          </a:p>
        </p:txBody>
      </p:sp>
      <p:sp>
        <p:nvSpPr>
          <p:cNvPr id="273" name="Rectangle 274"/>
          <p:cNvSpPr>
            <a:spLocks noGrp="1"/>
          </p:cNvSpPr>
          <p:nvPr/>
        </p:nvSpPr>
        <p:spPr>
          <a:xfrm>
            <a:off x="9107751" y="223883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69</a:t>
            </a:r>
          </a:p>
        </p:txBody>
      </p:sp>
      <p:sp>
        <p:nvSpPr>
          <p:cNvPr id="275" name="Rectangle 276"/>
          <p:cNvSpPr>
            <a:spLocks noGrp="1"/>
          </p:cNvSpPr>
          <p:nvPr/>
        </p:nvSpPr>
        <p:spPr>
          <a:xfrm>
            <a:off x="9107751" y="267774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links in the file</a:t>
            </a:r>
          </a:p>
        </p:txBody>
      </p:sp>
      <p:sp>
        <p:nvSpPr>
          <p:cNvPr id="277" name="Rectangle 278"/>
          <p:cNvSpPr>
            <a:spLocks noGrp="1"/>
          </p:cNvSpPr>
          <p:nvPr/>
        </p:nvSpPr>
        <p:spPr>
          <a:xfrm>
            <a:off x="9094035" y="3026664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134.4 kg</a:t>
            </a:r>
          </a:p>
        </p:txBody>
      </p:sp>
      <p:sp>
        <p:nvSpPr>
          <p:cNvPr id="279" name="Rectangle 280"/>
          <p:cNvSpPr>
            <a:spLocks noGrp="1"/>
          </p:cNvSpPr>
          <p:nvPr/>
        </p:nvSpPr>
        <p:spPr>
          <a:xfrm>
            <a:off x="9094035" y="3465576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total mass</a:t>
            </a:r>
          </a:p>
        </p:txBody>
      </p:sp>
      <p:sp>
        <p:nvSpPr>
          <p:cNvPr id="281" name="Rectangle 282"/>
          <p:cNvSpPr>
            <a:spLocks noGrp="1"/>
          </p:cNvSpPr>
          <p:nvPr/>
        </p:nvSpPr>
        <p:spPr>
          <a:xfrm>
            <a:off x="6897810" y="4224528"/>
            <a:ext cx="3116208" cy="5760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1.16 m at the pelvis. Two feet on the ground, plus arms, torso and neck.</a:t>
            </a:r>
          </a:p>
        </p:txBody>
      </p:sp>
      <p:sp>
        <p:nvSpPr>
          <p:cNvPr id="283" name="Rectangle 284"/>
          <p:cNvSpPr>
            <a:spLocks noGrp="1"/>
          </p:cNvSpPr>
          <p:nvPr/>
        </p:nvSpPr>
        <p:spPr>
          <a:xfrm>
            <a:off x="1868052" y="5517261"/>
            <a:ext cx="836430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Both are loaded as plain .urdf files. Nothing in the app is</a:t>
            </a:r>
            <a:r>
              <a:rPr lang="en-IN"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 specially</a:t>
            </a: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 written for either robot.</a:t>
            </a:r>
          </a:p>
        </p:txBody>
      </p:sp>
      <p:pic>
        <p:nvPicPr>
          <p:cNvPr id="284" name="Picture 283" descr="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472184"/>
            <a:ext cx="2825496" cy="2121408"/>
          </a:xfrm>
          <a:prstGeom prst="rect">
            <a:avLst/>
          </a:prstGeom>
        </p:spPr>
      </p:pic>
      <p:pic>
        <p:nvPicPr>
          <p:cNvPr id="285" name="Picture 284" descr="v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64" y="1458468"/>
            <a:ext cx="2825496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4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08</a:t>
            </a:r>
          </a:p>
        </p:txBody>
      </p:sp>
      <p:sp>
        <p:nvSpPr>
          <p:cNvPr id="235" name="Rectangle 236"/>
          <p:cNvSpPr>
            <a:spLocks noGrp="1"/>
          </p:cNvSpPr>
          <p:nvPr/>
        </p:nvSpPr>
        <p:spPr>
          <a:xfrm>
            <a:off x="685800" y="713232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What walking and galloping mean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37" name="Shape 238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40"/>
          <p:cNvSpPr>
            <a:spLocks noGrp="1"/>
          </p:cNvSpPr>
          <p:nvPr/>
        </p:nvSpPr>
        <p:spPr>
          <a:xfrm>
            <a:off x="851589" y="15316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4"/>
          <p:cNvSpPr>
            <a:spLocks noGrp="1"/>
          </p:cNvSpPr>
          <p:nvPr/>
        </p:nvSpPr>
        <p:spPr>
          <a:xfrm>
            <a:off x="987552" y="1673352"/>
            <a:ext cx="3017520" cy="292608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Rectangle 246"/>
          <p:cNvSpPr>
            <a:spLocks noGrp="1"/>
          </p:cNvSpPr>
          <p:nvPr/>
        </p:nvSpPr>
        <p:spPr>
          <a:xfrm>
            <a:off x="987552" y="1709928"/>
            <a:ext cx="30175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WALK  ·  A FOOT IS ALWAYS DOWN</a:t>
            </a:r>
          </a:p>
        </p:txBody>
      </p:sp>
      <p:sp>
        <p:nvSpPr>
          <p:cNvPr id="259" name="Rectangle 260"/>
          <p:cNvSpPr>
            <a:spLocks noGrp="1"/>
          </p:cNvSpPr>
          <p:nvPr/>
        </p:nvSpPr>
        <p:spPr>
          <a:xfrm>
            <a:off x="1033272" y="4828032"/>
            <a:ext cx="46634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One hoof lifts at a time and the ground is never empty. The reward pays whenever ANY foot is up, so the robot has to step.</a:t>
            </a:r>
          </a:p>
        </p:txBody>
      </p:sp>
      <p:sp>
        <p:nvSpPr>
          <p:cNvPr id="261" name="Shape 262"/>
          <p:cNvSpPr>
            <a:spLocks noGrp="1"/>
          </p:cNvSpPr>
          <p:nvPr/>
        </p:nvSpPr>
        <p:spPr>
          <a:xfrm>
            <a:off x="6096000" y="15316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6"/>
          <p:cNvSpPr>
            <a:spLocks noGrp="1"/>
          </p:cNvSpPr>
          <p:nvPr/>
        </p:nvSpPr>
        <p:spPr>
          <a:xfrm>
            <a:off x="6236208" y="1673352"/>
            <a:ext cx="3017520" cy="292608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Rectangle 268"/>
          <p:cNvSpPr>
            <a:spLocks noGrp="1"/>
          </p:cNvSpPr>
          <p:nvPr/>
        </p:nvSpPr>
        <p:spPr>
          <a:xfrm>
            <a:off x="6236208" y="1709928"/>
            <a:ext cx="30175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GALLOP  ·  ALL FOUR LEAVE THE GROUND</a:t>
            </a:r>
          </a:p>
        </p:txBody>
      </p:sp>
      <p:sp>
        <p:nvSpPr>
          <p:cNvPr id="281" name="Rectangle 282"/>
          <p:cNvSpPr>
            <a:spLocks noGrp="1"/>
          </p:cNvSpPr>
          <p:nvPr/>
        </p:nvSpPr>
        <p:spPr>
          <a:xfrm>
            <a:off x="6281928" y="4828032"/>
            <a:ext cx="466344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All four hooves leave the ground together — the flight phase. The reward pays only then. Our Go1 gallop is airborne 43% of the stride.</a:t>
            </a:r>
          </a:p>
        </p:txBody>
      </p:sp>
      <p:sp>
        <p:nvSpPr>
          <p:cNvPr id="283" name="Rectangle 284"/>
          <p:cNvSpPr>
            <a:spLocks noGrp="1"/>
          </p:cNvSpPr>
          <p:nvPr/>
        </p:nvSpPr>
        <p:spPr>
          <a:xfrm>
            <a:off x="694944" y="5980176"/>
            <a:ext cx="108173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Same robot, same per-foot contact signal. min asks "is any foot up?", max asks "is every foot up?"</a:t>
            </a:r>
          </a:p>
        </p:txBody>
      </p:sp>
      <p:pic>
        <p:nvPicPr>
          <p:cNvPr id="284" name="Picture 283" descr="original-d4389174b0d56719c0f74f4360779cd7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2048256"/>
            <a:ext cx="3108960" cy="2331720"/>
          </a:xfrm>
          <a:prstGeom prst="rect">
            <a:avLst/>
          </a:prstGeom>
        </p:spPr>
      </p:pic>
      <p:pic>
        <p:nvPicPr>
          <p:cNvPr id="286" name="Picture 285" descr="original-5e344de07b6ecd30e55f00dc85d6ef5a.gif"/>
          <p:cNvPicPr>
            <a:picLocks noChangeAspect="1"/>
          </p:cNvPicPr>
          <p:nvPr/>
        </p:nvPicPr>
        <p:blipFill>
          <a:blip r:embed="rId3"/>
          <a:srcRect l="3000" t="12000" r="10000" b="9800"/>
          <a:stretch>
            <a:fillRect/>
          </a:stretch>
        </p:blipFill>
        <p:spPr>
          <a:xfrm>
            <a:off x="7086600" y="2167128"/>
            <a:ext cx="31089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4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09</a:t>
            </a:r>
          </a:p>
        </p:txBody>
      </p:sp>
      <p:sp>
        <p:nvSpPr>
          <p:cNvPr id="235" name="Rectangle 236"/>
          <p:cNvSpPr>
            <a:spLocks noGrp="1"/>
          </p:cNvSpPr>
          <p:nvPr/>
        </p:nvSpPr>
        <p:spPr>
          <a:xfrm>
            <a:off x="685800" y="713232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GO1 Robot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37" name="Shape 238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40"/>
          <p:cNvSpPr>
            <a:spLocks noGrp="1"/>
          </p:cNvSpPr>
          <p:nvPr/>
        </p:nvSpPr>
        <p:spPr>
          <a:xfrm>
            <a:off x="851589" y="15316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1" name="Picture 242"/>
          <p:cNvPicPr>
            <a:picLocks noChangeAspect="1"/>
          </p:cNvPicPr>
          <p:nvPr/>
        </p:nvPicPr>
        <p:blipFill>
          <a:blip r:embed="rId2"/>
          <a:srcRect t="8000" b="8000"/>
          <a:stretch>
            <a:fillRect/>
          </a:stretch>
        </p:blipFill>
        <p:spPr>
          <a:xfrm>
            <a:off x="988749" y="1668780"/>
            <a:ext cx="4800600" cy="2121408"/>
          </a:xfrm>
          <a:prstGeom prst="roundRect">
            <a:avLst>
              <a:gd name="adj" fmla="val 5085"/>
            </a:avLst>
          </a:prstGeom>
        </p:spPr>
      </p:pic>
      <p:sp>
        <p:nvSpPr>
          <p:cNvPr id="243" name="Shape 244"/>
          <p:cNvSpPr>
            <a:spLocks noGrp="1"/>
          </p:cNvSpPr>
          <p:nvPr/>
        </p:nvSpPr>
        <p:spPr>
          <a:xfrm>
            <a:off x="988749" y="3918204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Rectangle 246"/>
          <p:cNvSpPr>
            <a:spLocks noGrp="1"/>
          </p:cNvSpPr>
          <p:nvPr/>
        </p:nvSpPr>
        <p:spPr>
          <a:xfrm>
            <a:off x="988749" y="3954780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WALKING REWARD  ·  11 RULES</a:t>
            </a:r>
          </a:p>
        </p:txBody>
      </p:sp>
      <p:sp>
        <p:nvSpPr>
          <p:cNvPr id="247" name="Rectangle 248"/>
          <p:cNvSpPr>
            <a:spLocks noGrp="1"/>
          </p:cNvSpPr>
          <p:nvPr/>
        </p:nvSpPr>
        <p:spPr>
          <a:xfrm>
            <a:off x="988749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0.98</a:t>
            </a:r>
          </a:p>
        </p:txBody>
      </p:sp>
      <p:sp>
        <p:nvSpPr>
          <p:cNvPr id="249" name="Rectangle 250"/>
          <p:cNvSpPr>
            <a:spLocks noGrp="1"/>
          </p:cNvSpPr>
          <p:nvPr/>
        </p:nvSpPr>
        <p:spPr>
          <a:xfrm>
            <a:off x="988749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metres/second</a:t>
            </a:r>
          </a:p>
        </p:txBody>
      </p:sp>
      <p:sp>
        <p:nvSpPr>
          <p:cNvPr id="251" name="Rectangle 252"/>
          <p:cNvSpPr>
            <a:spLocks noGrp="1"/>
          </p:cNvSpPr>
          <p:nvPr/>
        </p:nvSpPr>
        <p:spPr>
          <a:xfrm>
            <a:off x="2616381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963</a:t>
            </a:r>
          </a:p>
        </p:txBody>
      </p:sp>
      <p:sp>
        <p:nvSpPr>
          <p:cNvPr id="253" name="Rectangle 254"/>
          <p:cNvSpPr>
            <a:spLocks noGrp="1"/>
          </p:cNvSpPr>
          <p:nvPr/>
        </p:nvSpPr>
        <p:spPr>
          <a:xfrm>
            <a:off x="2616381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per attempt</a:t>
            </a:r>
          </a:p>
        </p:txBody>
      </p:sp>
      <p:sp>
        <p:nvSpPr>
          <p:cNvPr id="255" name="Rectangle 256"/>
          <p:cNvSpPr>
            <a:spLocks noGrp="1"/>
          </p:cNvSpPr>
          <p:nvPr/>
        </p:nvSpPr>
        <p:spPr>
          <a:xfrm>
            <a:off x="4244013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0.99</a:t>
            </a:r>
          </a:p>
        </p:txBody>
      </p:sp>
      <p:sp>
        <p:nvSpPr>
          <p:cNvPr id="257" name="Rectangle 258"/>
          <p:cNvSpPr>
            <a:spLocks noGrp="1"/>
          </p:cNvSpPr>
          <p:nvPr/>
        </p:nvSpPr>
        <p:spPr>
          <a:xfrm>
            <a:off x="4244013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how upright</a:t>
            </a:r>
          </a:p>
        </p:txBody>
      </p:sp>
      <p:sp>
        <p:nvSpPr>
          <p:cNvPr id="259" name="Rectangle 260"/>
          <p:cNvSpPr>
            <a:spLocks noGrp="1"/>
          </p:cNvSpPr>
          <p:nvPr/>
        </p:nvSpPr>
        <p:spPr>
          <a:xfrm>
            <a:off x="988749" y="5106924"/>
            <a:ext cx="48006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This reward punishes bouncing, so the robot keeps its feet on the ground.</a:t>
            </a:r>
          </a:p>
        </p:txBody>
      </p:sp>
      <p:sp>
        <p:nvSpPr>
          <p:cNvPr id="261" name="Shape 262"/>
          <p:cNvSpPr>
            <a:spLocks noGrp="1"/>
          </p:cNvSpPr>
          <p:nvPr/>
        </p:nvSpPr>
        <p:spPr>
          <a:xfrm>
            <a:off x="6096000" y="1531620"/>
            <a:ext cx="50749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3" name="Picture 264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6233160" y="1668780"/>
            <a:ext cx="4800600" cy="2121408"/>
          </a:xfrm>
          <a:prstGeom prst="roundRect">
            <a:avLst>
              <a:gd name="adj" fmla="val 5085"/>
            </a:avLst>
          </a:prstGeom>
        </p:spPr>
      </p:pic>
      <p:sp>
        <p:nvSpPr>
          <p:cNvPr id="265" name="Shape 266"/>
          <p:cNvSpPr>
            <a:spLocks noGrp="1"/>
          </p:cNvSpPr>
          <p:nvPr/>
        </p:nvSpPr>
        <p:spPr>
          <a:xfrm>
            <a:off x="6233160" y="3918204"/>
            <a:ext cx="288036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Rectangle 268"/>
          <p:cNvSpPr>
            <a:spLocks noGrp="1"/>
          </p:cNvSpPr>
          <p:nvPr/>
        </p:nvSpPr>
        <p:spPr>
          <a:xfrm>
            <a:off x="6233160" y="3954780"/>
            <a:ext cx="288036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95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GA</a:t>
            </a:r>
            <a:r>
              <a:rPr lang="en-US"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LLOP</a:t>
            </a:r>
            <a:r>
              <a:rPr sz="95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 REWARD  ·  7 RULES</a:t>
            </a:r>
          </a:p>
        </p:txBody>
      </p:sp>
      <p:sp>
        <p:nvSpPr>
          <p:cNvPr id="269" name="Rectangle 270"/>
          <p:cNvSpPr>
            <a:spLocks noGrp="1"/>
          </p:cNvSpPr>
          <p:nvPr/>
        </p:nvSpPr>
        <p:spPr>
          <a:xfrm>
            <a:off x="6233160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1.38</a:t>
            </a:r>
          </a:p>
        </p:txBody>
      </p:sp>
      <p:sp>
        <p:nvSpPr>
          <p:cNvPr id="271" name="Rectangle 272"/>
          <p:cNvSpPr>
            <a:spLocks noGrp="1"/>
          </p:cNvSpPr>
          <p:nvPr/>
        </p:nvSpPr>
        <p:spPr>
          <a:xfrm>
            <a:off x="6233160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metres/second</a:t>
            </a:r>
          </a:p>
        </p:txBody>
      </p:sp>
      <p:sp>
        <p:nvSpPr>
          <p:cNvPr id="273" name="Rectangle 274"/>
          <p:cNvSpPr>
            <a:spLocks noGrp="1"/>
          </p:cNvSpPr>
          <p:nvPr/>
        </p:nvSpPr>
        <p:spPr>
          <a:xfrm>
            <a:off x="7860792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1,000</a:t>
            </a:r>
          </a:p>
        </p:txBody>
      </p:sp>
      <p:sp>
        <p:nvSpPr>
          <p:cNvPr id="275" name="Rectangle 276"/>
          <p:cNvSpPr>
            <a:spLocks noGrp="1"/>
          </p:cNvSpPr>
          <p:nvPr/>
        </p:nvSpPr>
        <p:spPr>
          <a:xfrm>
            <a:off x="7860792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per attempt</a:t>
            </a:r>
          </a:p>
        </p:txBody>
      </p:sp>
      <p:sp>
        <p:nvSpPr>
          <p:cNvPr id="277" name="Rectangle 278"/>
          <p:cNvSpPr>
            <a:spLocks noGrp="1"/>
          </p:cNvSpPr>
          <p:nvPr/>
        </p:nvSpPr>
        <p:spPr>
          <a:xfrm>
            <a:off x="9488424" y="4366260"/>
            <a:ext cx="159105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4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43%</a:t>
            </a:r>
          </a:p>
        </p:txBody>
      </p:sp>
      <p:sp>
        <p:nvSpPr>
          <p:cNvPr id="279" name="Rectangle 280"/>
          <p:cNvSpPr>
            <a:spLocks noGrp="1"/>
          </p:cNvSpPr>
          <p:nvPr/>
        </p:nvSpPr>
        <p:spPr>
          <a:xfrm>
            <a:off x="9488424" y="4805172"/>
            <a:ext cx="1591056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of time in the air</a:t>
            </a:r>
          </a:p>
        </p:txBody>
      </p:sp>
      <p:sp>
        <p:nvSpPr>
          <p:cNvPr id="281" name="Rectangle 282"/>
          <p:cNvSpPr>
            <a:spLocks noGrp="1"/>
          </p:cNvSpPr>
          <p:nvPr/>
        </p:nvSpPr>
        <p:spPr>
          <a:xfrm>
            <a:off x="6233160" y="5106924"/>
            <a:ext cx="48006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This reward pays the robot for leaving the ground, and drops the rules against it.</a:t>
            </a:r>
          </a:p>
        </p:txBody>
      </p:sp>
      <p:sp>
        <p:nvSpPr>
          <p:cNvPr id="283" name="Rectangle 284"/>
          <p:cNvSpPr>
            <a:spLocks noGrp="1"/>
          </p:cNvSpPr>
          <p:nvPr/>
        </p:nvSpPr>
        <p:spPr>
          <a:xfrm>
            <a:off x="694944" y="5980176"/>
            <a:ext cx="1081735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5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same Unitree Go1 robot and the same 40 million training steps. Only the reward 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490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10</a:t>
            </a:r>
          </a:p>
        </p:txBody>
      </p:sp>
      <p:sp>
        <p:nvSpPr>
          <p:cNvPr id="491" name="Rectangle 492"/>
          <p:cNvSpPr>
            <a:spLocks noGrp="1"/>
          </p:cNvSpPr>
          <p:nvPr/>
        </p:nvSpPr>
        <p:spPr>
          <a:xfrm>
            <a:off x="418171" y="342677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Improvement</a:t>
            </a:r>
            <a:r>
              <a:rPr lang="en-IN" sz="3600" b="1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s </a:t>
            </a: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Over Time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93" name="Shape 494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5" name="Rectangle 496"/>
          <p:cNvSpPr>
            <a:spLocks noGrp="1"/>
          </p:cNvSpPr>
          <p:nvPr/>
        </p:nvSpPr>
        <p:spPr>
          <a:xfrm>
            <a:off x="758952" y="184708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latin typeface="Segoe UI Semibold"/>
                <a:ea typeface="Segoe UI Semibold"/>
                <a:cs typeface="Segoe UI Semibold"/>
              </a:rPr>
              <a:t>Writing the reward</a:t>
            </a:r>
          </a:p>
        </p:txBody>
      </p:sp>
      <p:sp>
        <p:nvSpPr>
          <p:cNvPr id="497" name="Rectangle 498"/>
          <p:cNvSpPr>
            <a:spLocks noGrp="1"/>
          </p:cNvSpPr>
          <p:nvPr/>
        </p:nvSpPr>
        <p:spPr>
          <a:xfrm>
            <a:off x="3502152" y="182880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Users picked from a list of rewards we had written.</a:t>
            </a:r>
          </a:p>
        </p:txBody>
      </p:sp>
      <p:sp>
        <p:nvSpPr>
          <p:cNvPr id="499" name="Rectangle 500"/>
          <p:cNvSpPr>
            <a:spLocks noGrp="1"/>
          </p:cNvSpPr>
          <p:nvPr/>
        </p:nvSpPr>
        <p:spPr>
          <a:xfrm>
            <a:off x="6382512" y="182880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agent writes the reward as one short line of maths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Any behaviour is possible, not only the ones we shipped</a:t>
            </a:r>
          </a:p>
        </p:txBody>
      </p:sp>
      <p:sp>
        <p:nvSpPr>
          <p:cNvPr id="501" name="Shape 502"/>
          <p:cNvSpPr>
            <a:spLocks noGrp="1"/>
          </p:cNvSpPr>
          <p:nvPr/>
        </p:nvSpPr>
        <p:spPr>
          <a:xfrm>
            <a:off x="758952" y="259689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" name="Rectangle 504"/>
          <p:cNvSpPr>
            <a:spLocks noGrp="1"/>
          </p:cNvSpPr>
          <p:nvPr/>
        </p:nvSpPr>
        <p:spPr>
          <a:xfrm>
            <a:off x="758952" y="267004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Reading the robot</a:t>
            </a:r>
          </a:p>
        </p:txBody>
      </p:sp>
      <p:sp>
        <p:nvSpPr>
          <p:cNvPr id="505" name="Rectangle 506"/>
          <p:cNvSpPr>
            <a:spLocks noGrp="1"/>
          </p:cNvSpPr>
          <p:nvPr/>
        </p:nvSpPr>
        <p:spPr>
          <a:xfrm>
            <a:off x="3502152" y="265176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We guessed the moving parts from words in their names.</a:t>
            </a:r>
          </a:p>
        </p:txBody>
      </p:sp>
      <p:sp>
        <p:nvSpPr>
          <p:cNvPr id="507" name="Rectangle 508"/>
          <p:cNvSpPr>
            <a:spLocks noGrp="1"/>
          </p:cNvSpPr>
          <p:nvPr/>
        </p:nvSpPr>
        <p:spPr>
          <a:xfrm>
            <a:off x="6382512" y="265176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 read the robot's own shape: body, limbs, and which limbs touch the ground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Legs, wheels, arms and humanoids all work</a:t>
            </a:r>
            <a:r>
              <a:rPr lang="en-IN" sz="120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.</a:t>
            </a:r>
            <a:endParaRPr sz="1200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09" name="Shape 510"/>
          <p:cNvSpPr>
            <a:spLocks noGrp="1"/>
          </p:cNvSpPr>
          <p:nvPr/>
        </p:nvSpPr>
        <p:spPr>
          <a:xfrm>
            <a:off x="758952" y="341985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Rectangle 512"/>
          <p:cNvSpPr>
            <a:spLocks noGrp="1"/>
          </p:cNvSpPr>
          <p:nvPr/>
        </p:nvSpPr>
        <p:spPr>
          <a:xfrm>
            <a:off x="758952" y="349300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 dirty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Standing pose and height</a:t>
            </a:r>
          </a:p>
        </p:txBody>
      </p:sp>
      <p:sp>
        <p:nvSpPr>
          <p:cNvPr id="513" name="Rectangle 514"/>
          <p:cNvSpPr>
            <a:spLocks noGrp="1"/>
          </p:cNvSpPr>
          <p:nvPr/>
        </p:nvSpPr>
        <p:spPr>
          <a:xfrm>
            <a:off x="3502152" y="347472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One pose and one height for every robot, copied from a sample.</a:t>
            </a:r>
          </a:p>
        </p:txBody>
      </p:sp>
      <p:sp>
        <p:nvSpPr>
          <p:cNvPr id="515" name="Rectangle 516"/>
          <p:cNvSpPr>
            <a:spLocks noGrp="1"/>
          </p:cNvSpPr>
          <p:nvPr/>
        </p:nvSpPr>
        <p:spPr>
          <a:xfrm>
            <a:off x="6382512" y="347472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We measure each robot's standing pose and height before training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Falling is judged against its own height, not a fixed number</a:t>
            </a:r>
          </a:p>
        </p:txBody>
      </p:sp>
      <p:sp>
        <p:nvSpPr>
          <p:cNvPr id="517" name="Shape 518"/>
          <p:cNvSpPr>
            <a:spLocks noGrp="1"/>
          </p:cNvSpPr>
          <p:nvPr/>
        </p:nvSpPr>
        <p:spPr>
          <a:xfrm>
            <a:off x="758952" y="424281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Rectangle 520"/>
          <p:cNvSpPr>
            <a:spLocks noGrp="1"/>
          </p:cNvSpPr>
          <p:nvPr/>
        </p:nvSpPr>
        <p:spPr>
          <a:xfrm>
            <a:off x="758952" y="431596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What the reward can see</a:t>
            </a:r>
          </a:p>
        </p:txBody>
      </p:sp>
      <p:sp>
        <p:nvSpPr>
          <p:cNvPr id="521" name="Rectangle 522"/>
          <p:cNvSpPr>
            <a:spLocks noGrp="1"/>
          </p:cNvSpPr>
          <p:nvPr/>
        </p:nvSpPr>
        <p:spPr>
          <a:xfrm>
            <a:off x="3502152" y="429768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Only speed, height and how upright the robot was.</a:t>
            </a:r>
          </a:p>
        </p:txBody>
      </p:sp>
      <p:sp>
        <p:nvSpPr>
          <p:cNvPr id="523" name="Rectangle 524"/>
          <p:cNvSpPr>
            <a:spLocks noGrp="1"/>
          </p:cNvSpPr>
          <p:nvPr/>
        </p:nvSpPr>
        <p:spPr>
          <a:xfrm>
            <a:off x="6382512" y="429768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It now feels ground contact for each limb, and time spent in the air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The same reward line works on two legs, four legs or six</a:t>
            </a:r>
          </a:p>
        </p:txBody>
      </p:sp>
      <p:sp>
        <p:nvSpPr>
          <p:cNvPr id="525" name="Rectangle 526"/>
          <p:cNvSpPr>
            <a:spLocks noGrp="1"/>
          </p:cNvSpPr>
          <p:nvPr/>
        </p:nvSpPr>
        <p:spPr>
          <a:xfrm>
            <a:off x="3502152" y="1572768"/>
            <a:ext cx="260604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lang="en-IN" sz="112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Initial stages</a:t>
            </a:r>
            <a:endParaRPr sz="1125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527" name="Rectangle 528"/>
          <p:cNvSpPr>
            <a:spLocks noGrp="1"/>
          </p:cNvSpPr>
          <p:nvPr/>
        </p:nvSpPr>
        <p:spPr>
          <a:xfrm>
            <a:off x="6382512" y="1572768"/>
            <a:ext cx="5093208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Now</a:t>
            </a:r>
          </a:p>
        </p:txBody>
      </p:sp>
      <p:sp>
        <p:nvSpPr>
          <p:cNvPr id="529" name="Rectangle 530"/>
          <p:cNvSpPr>
            <a:spLocks noGrp="1"/>
          </p:cNvSpPr>
          <p:nvPr/>
        </p:nvSpPr>
        <p:spPr>
          <a:xfrm>
            <a:off x="758952" y="6035040"/>
            <a:ext cx="10716768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25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Each change moved work out of our code, so the app fits more robots and more tasks without us writing more.</a:t>
            </a:r>
          </a:p>
        </p:txBody>
      </p:sp>
      <p:sp>
        <p:nvSpPr>
          <p:cNvPr id="619" name="Rectangle 620"/>
          <p:cNvSpPr>
            <a:spLocks noGrp="1"/>
          </p:cNvSpPr>
          <p:nvPr/>
        </p:nvSpPr>
        <p:spPr>
          <a:xfrm>
            <a:off x="758952" y="5138928"/>
            <a:ext cx="2514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Checking a setup</a:t>
            </a:r>
          </a:p>
        </p:txBody>
      </p:sp>
      <p:sp>
        <p:nvSpPr>
          <p:cNvPr id="621" name="Rectangle 622"/>
          <p:cNvSpPr>
            <a:spLocks noGrp="1"/>
          </p:cNvSpPr>
          <p:nvPr/>
        </p:nvSpPr>
        <p:spPr>
          <a:xfrm>
            <a:off x="3502152" y="5120640"/>
            <a:ext cx="2606040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bad setup only showed up after millions of steps.</a:t>
            </a:r>
          </a:p>
        </p:txBody>
      </p:sp>
      <p:sp>
        <p:nvSpPr>
          <p:cNvPr id="623" name="Rectangle 624"/>
          <p:cNvSpPr>
            <a:spLocks noGrp="1"/>
          </p:cNvSpPr>
          <p:nvPr/>
        </p:nvSpPr>
        <p:spPr>
          <a:xfrm>
            <a:off x="6382512" y="5120640"/>
            <a:ext cx="5093208" cy="658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Every setup is checked the moment it is saved</a:t>
            </a:r>
          </a:p>
          <a:p>
            <a:pPr marL="171450" indent="-171450" algn="l">
              <a:lnSpc>
                <a:spcPct val="98000"/>
              </a:lnSpc>
              <a:spcBef>
                <a:spcPts val="300"/>
              </a:spcBef>
              <a:buFont typeface="Arial"/>
              <a:buChar char="•"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A broken reward fails in seconds instead of after a whole run</a:t>
            </a:r>
          </a:p>
        </p:txBody>
      </p:sp>
      <p:sp>
        <p:nvSpPr>
          <p:cNvPr id="617" name="Shape 618"/>
          <p:cNvSpPr>
            <a:spLocks noGrp="1"/>
          </p:cNvSpPr>
          <p:nvPr/>
        </p:nvSpPr>
        <p:spPr>
          <a:xfrm>
            <a:off x="758952" y="5065776"/>
            <a:ext cx="10716768" cy="9144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5" name="Rectangle 626"/>
          <p:cNvSpPr>
            <a:spLocks noGrp="1"/>
          </p:cNvSpPr>
          <p:nvPr/>
        </p:nvSpPr>
        <p:spPr>
          <a:xfrm>
            <a:off x="758952" y="1572768"/>
            <a:ext cx="25146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12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46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11</a:t>
            </a:r>
          </a:p>
        </p:txBody>
      </p:sp>
      <p:sp>
        <p:nvSpPr>
          <p:cNvPr id="463" name="Rectangle 464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Most of our training runs did not work</a:t>
            </a:r>
          </a:p>
        </p:txBody>
      </p:sp>
      <p:sp>
        <p:nvSpPr>
          <p:cNvPr id="465" name="Shape 466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Rectangle 468"/>
          <p:cNvSpPr>
            <a:spLocks noGrp="1"/>
          </p:cNvSpPr>
          <p:nvPr/>
        </p:nvSpPr>
        <p:spPr>
          <a:xfrm>
            <a:off x="731520" y="1755648"/>
            <a:ext cx="74980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Longest attempt each run managed, in date order</a:t>
            </a:r>
          </a:p>
        </p:txBody>
      </p:sp>
      <p:pic>
        <p:nvPicPr>
          <p:cNvPr id="469" name="Chart 4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48256"/>
            <a:ext cx="7955280" cy="2916936"/>
          </a:xfrm>
          <a:prstGeom prst="rect">
            <a:avLst/>
          </a:prstGeom>
        </p:spPr>
      </p:pic>
      <p:sp>
        <p:nvSpPr>
          <p:cNvPr id="471" name="Rectangle 472"/>
          <p:cNvSpPr>
            <a:spLocks noGrp="1"/>
          </p:cNvSpPr>
          <p:nvPr/>
        </p:nvSpPr>
        <p:spPr>
          <a:xfrm>
            <a:off x="731520" y="5230368"/>
            <a:ext cx="1042416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Each column is one run. Green finished full 1,000-step attempts, grey learned a little, red fell over quickly.</a:t>
            </a:r>
          </a:p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Six columns sit at zero: those runs crashed before training started.</a:t>
            </a:r>
          </a:p>
        </p:txBody>
      </p:sp>
      <p:sp>
        <p:nvSpPr>
          <p:cNvPr id="473" name="Shape 474"/>
          <p:cNvSpPr>
            <a:spLocks noGrp="1"/>
          </p:cNvSpPr>
          <p:nvPr/>
        </p:nvSpPr>
        <p:spPr>
          <a:xfrm>
            <a:off x="8732520" y="1920240"/>
            <a:ext cx="2423160" cy="3337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Rectangle 476"/>
          <p:cNvSpPr>
            <a:spLocks noGrp="1"/>
          </p:cNvSpPr>
          <p:nvPr/>
        </p:nvSpPr>
        <p:spPr>
          <a:xfrm>
            <a:off x="8961120" y="2011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30</a:t>
            </a:r>
          </a:p>
        </p:txBody>
      </p:sp>
      <p:sp>
        <p:nvSpPr>
          <p:cNvPr id="477" name="Rectangle 478"/>
          <p:cNvSpPr>
            <a:spLocks noGrp="1"/>
          </p:cNvSpPr>
          <p:nvPr/>
        </p:nvSpPr>
        <p:spPr>
          <a:xfrm>
            <a:off x="8961120" y="2578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training runs</a:t>
            </a:r>
          </a:p>
        </p:txBody>
      </p:sp>
      <p:sp>
        <p:nvSpPr>
          <p:cNvPr id="479" name="Rectangle 480"/>
          <p:cNvSpPr>
            <a:spLocks noGrp="1"/>
          </p:cNvSpPr>
          <p:nvPr/>
        </p:nvSpPr>
        <p:spPr>
          <a:xfrm>
            <a:off x="8961120" y="3154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9</a:t>
            </a:r>
          </a:p>
        </p:txBody>
      </p:sp>
      <p:sp>
        <p:nvSpPr>
          <p:cNvPr id="481" name="Rectangle 482"/>
          <p:cNvSpPr>
            <a:spLocks noGrp="1"/>
          </p:cNvSpPr>
          <p:nvPr/>
        </p:nvSpPr>
        <p:spPr>
          <a:xfrm>
            <a:off x="8961120" y="3721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gave a usable robot</a:t>
            </a:r>
          </a:p>
        </p:txBody>
      </p:sp>
      <p:sp>
        <p:nvSpPr>
          <p:cNvPr id="483" name="Rectangle 484"/>
          <p:cNvSpPr>
            <a:spLocks noGrp="1"/>
          </p:cNvSpPr>
          <p:nvPr/>
        </p:nvSpPr>
        <p:spPr>
          <a:xfrm>
            <a:off x="8961120" y="4297680"/>
            <a:ext cx="196596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0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0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485" name="Rectangle 486"/>
          <p:cNvSpPr>
            <a:spLocks noGrp="1"/>
          </p:cNvSpPr>
          <p:nvPr/>
        </p:nvSpPr>
        <p:spPr>
          <a:xfrm>
            <a:off x="8961120" y="4864608"/>
            <a:ext cx="19659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00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crashed at </a:t>
            </a:r>
            <a:r>
              <a:rPr lang="en-IN" sz="1200" b="1" i="0" dirty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initial stage</a:t>
            </a:r>
            <a:endParaRPr sz="1200" b="1" i="0" dirty="0">
              <a:solidFill>
                <a:srgbClr val="5B6670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487" name="Rectangle 488"/>
          <p:cNvSpPr>
            <a:spLocks noGrp="1"/>
          </p:cNvSpPr>
          <p:nvPr/>
        </p:nvSpPr>
        <p:spPr>
          <a:xfrm>
            <a:off x="731520" y="5961888"/>
            <a:ext cx="1042416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Between 13 July and 3 August. The failures </a:t>
            </a:r>
            <a:r>
              <a:rPr lang="en-US"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depict how the helping agent is not always accurate.</a:t>
            </a:r>
            <a:endParaRPr sz="1425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532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12</a:t>
            </a:r>
          </a:p>
        </p:txBody>
      </p:sp>
      <p:sp>
        <p:nvSpPr>
          <p:cNvPr id="533" name="Rectangle 534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GPU changed how fast we could </a:t>
            </a:r>
            <a:r>
              <a:rPr lang="en-US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train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35" name="Shape 536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7" name="Rectangle 538"/>
          <p:cNvSpPr>
            <a:spLocks noGrp="1"/>
          </p:cNvSpPr>
          <p:nvPr/>
        </p:nvSpPr>
        <p:spPr>
          <a:xfrm>
            <a:off x="731520" y="1755648"/>
            <a:ext cx="74980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Steps of simulation per second</a:t>
            </a:r>
          </a:p>
        </p:txBody>
      </p:sp>
      <p:pic>
        <p:nvPicPr>
          <p:cNvPr id="539" name="Chart 5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66544"/>
            <a:ext cx="7589520" cy="2999232"/>
          </a:xfrm>
          <a:prstGeom prst="rect">
            <a:avLst/>
          </a:prstGeom>
        </p:spPr>
      </p:pic>
      <p:sp>
        <p:nvSpPr>
          <p:cNvPr id="541" name="Shape 542"/>
          <p:cNvSpPr>
            <a:spLocks noGrp="1"/>
          </p:cNvSpPr>
          <p:nvPr/>
        </p:nvSpPr>
        <p:spPr>
          <a:xfrm>
            <a:off x="8613648" y="2011680"/>
            <a:ext cx="2889504" cy="1463040"/>
          </a:xfrm>
          <a:prstGeom prst="roundRect">
            <a:avLst>
              <a:gd name="adj" fmla="val 9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Rectangle 544"/>
          <p:cNvSpPr>
            <a:spLocks noGrp="1"/>
          </p:cNvSpPr>
          <p:nvPr/>
        </p:nvSpPr>
        <p:spPr>
          <a:xfrm>
            <a:off x="8833104" y="2231136"/>
            <a:ext cx="245059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27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 i="0">
                <a:solidFill>
                  <a:srgbClr val="0B6B64"/>
                </a:solidFill>
                <a:latin typeface="Segoe UI Semibold"/>
                <a:ea typeface="Segoe UI Semibold"/>
                <a:cs typeface="Segoe UI Semibold"/>
              </a:rPr>
              <a:t>30,138</a:t>
            </a:r>
          </a:p>
        </p:txBody>
      </p:sp>
      <p:sp>
        <p:nvSpPr>
          <p:cNvPr id="545" name="Rectangle 546"/>
          <p:cNvSpPr>
            <a:spLocks noGrp="1"/>
          </p:cNvSpPr>
          <p:nvPr/>
        </p:nvSpPr>
        <p:spPr>
          <a:xfrm>
            <a:off x="8833104" y="2852928"/>
            <a:ext cx="24505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steps a second</a:t>
            </a:r>
          </a:p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in our best run</a:t>
            </a:r>
          </a:p>
        </p:txBody>
      </p:sp>
      <p:sp>
        <p:nvSpPr>
          <p:cNvPr id="547" name="Shape 548"/>
          <p:cNvSpPr>
            <a:spLocks noGrp="1"/>
          </p:cNvSpPr>
          <p:nvPr/>
        </p:nvSpPr>
        <p:spPr>
          <a:xfrm>
            <a:off x="8613648" y="3657600"/>
            <a:ext cx="2889504" cy="1463040"/>
          </a:xfrm>
          <a:prstGeom prst="roundRect">
            <a:avLst>
              <a:gd name="adj" fmla="val 9000"/>
            </a:avLst>
          </a:prstGeom>
          <a:solidFill>
            <a:srgbClr val="F2E2D9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Rectangle 550"/>
          <p:cNvSpPr>
            <a:spLocks noGrp="1"/>
          </p:cNvSpPr>
          <p:nvPr/>
        </p:nvSpPr>
        <p:spPr>
          <a:xfrm>
            <a:off x="8833104" y="3877056"/>
            <a:ext cx="245059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27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700" b="1" i="0">
                <a:solidFill>
                  <a:srgbClr val="B8502A"/>
                </a:solidFill>
                <a:latin typeface="Segoe UI Semibold"/>
                <a:ea typeface="Segoe UI Semibold"/>
                <a:cs typeface="Segoe UI Semibold"/>
              </a:rPr>
              <a:t>22.7 min</a:t>
            </a:r>
          </a:p>
        </p:txBody>
      </p:sp>
      <p:sp>
        <p:nvSpPr>
          <p:cNvPr id="551" name="Rectangle 552"/>
          <p:cNvSpPr>
            <a:spLocks noGrp="1"/>
          </p:cNvSpPr>
          <p:nvPr/>
        </p:nvSpPr>
        <p:spPr>
          <a:xfrm>
            <a:off x="8833104" y="4498848"/>
            <a:ext cx="2450592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to train the Go1</a:t>
            </a:r>
          </a:p>
          <a:p>
            <a:pPr algn="ctr">
              <a:lnSpc>
                <a:spcPct val="98000"/>
              </a:lnSpc>
              <a:buNone/>
              <a:def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for 40 million steps</a:t>
            </a:r>
          </a:p>
        </p:txBody>
      </p:sp>
      <p:sp>
        <p:nvSpPr>
          <p:cNvPr id="553" name="Rectangle 554"/>
          <p:cNvSpPr>
            <a:spLocks noGrp="1"/>
          </p:cNvSpPr>
          <p:nvPr/>
        </p:nvSpPr>
        <p:spPr>
          <a:xfrm>
            <a:off x="731520" y="5248656"/>
            <a:ext cx="1042416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 longer bar is better. The GPU simulates about a hundred times more steps per second than the CPU did,</a:t>
            </a:r>
          </a:p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and better setups took us from 18,000 to 30,138 steps a second across the GPU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646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13</a:t>
            </a:r>
          </a:p>
        </p:txBody>
      </p:sp>
      <p:sp>
        <p:nvSpPr>
          <p:cNvPr id="647" name="Rectangle 648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All three algorithms on all three tasks</a:t>
            </a:r>
          </a:p>
        </p:txBody>
      </p:sp>
      <p:sp>
        <p:nvSpPr>
          <p:cNvPr id="649" name="Shape 650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51" name="Chart 6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11064240" cy="2980944"/>
          </a:xfrm>
          <a:prstGeom prst="rect">
            <a:avLst/>
          </a:prstGeom>
        </p:spPr>
      </p:pic>
      <p:sp>
        <p:nvSpPr>
          <p:cNvPr id="653" name="Shape 654"/>
          <p:cNvSpPr>
            <a:spLocks noGrp="1"/>
          </p:cNvSpPr>
          <p:nvPr/>
        </p:nvSpPr>
        <p:spPr>
          <a:xfrm>
            <a:off x="722376" y="4956048"/>
            <a:ext cx="10780776" cy="841248"/>
          </a:xfrm>
          <a:prstGeom prst="roundRect">
            <a:avLst>
              <a:gd name="adj" fmla="val 9000"/>
            </a:avLst>
          </a:prstGeom>
          <a:solidFill>
            <a:srgbClr val="DDEBE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5" name="Rectangle 656"/>
          <p:cNvSpPr>
            <a:spLocks noGrp="1"/>
          </p:cNvSpPr>
          <p:nvPr/>
        </p:nvSpPr>
        <p:spPr>
          <a:xfrm>
            <a:off x="1051560" y="5120640"/>
            <a:ext cx="101498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200000"/>
              </a:lnSpc>
              <a:buNone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Every task has its own reward, so the three heights are not comparable across the panels.</a:t>
            </a:r>
          </a:p>
        </p:txBody>
      </p:sp>
      <p:sp>
        <p:nvSpPr>
          <p:cNvPr id="657" name="Rectangle 658"/>
          <p:cNvSpPr>
            <a:spLocks noGrp="1"/>
          </p:cNvSpPr>
          <p:nvPr/>
        </p:nvSpPr>
        <p:spPr>
          <a:xfrm>
            <a:off x="722376" y="5961888"/>
            <a:ext cx="10780776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On the two Go1 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robot 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tasks all three algorithms learn. </a:t>
            </a:r>
            <a:r>
              <a:rPr lang="en-IN" sz="1500" b="1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But on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 the humanoid </a:t>
            </a:r>
            <a:r>
              <a:rPr lang="en-IN"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robot </a:t>
            </a:r>
            <a:r>
              <a:rPr sz="1500" b="1" i="0" dirty="0">
                <a:solidFill>
                  <a:srgbClr val="18232F"/>
                </a:solidFill>
                <a:latin typeface="Segoe UI Semibold"/>
                <a:ea typeface="Segoe UI Semibold"/>
                <a:cs typeface="Segoe UI Semibold"/>
              </a:rPr>
              <a:t>only SAC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Rectangle 750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14</a:t>
            </a:r>
          </a:p>
        </p:txBody>
      </p:sp>
      <p:sp>
        <p:nvSpPr>
          <p:cNvPr id="751" name="Rectangle 752"/>
          <p:cNvSpPr>
            <a:spLocks noGrp="1"/>
          </p:cNvSpPr>
          <p:nvPr/>
        </p:nvSpPr>
        <p:spPr>
          <a:xfrm>
            <a:off x="685800" y="713232"/>
            <a:ext cx="10817352" cy="1161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 similar score does not mean</a:t>
            </a:r>
          </a:p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the robot did the same thing</a:t>
            </a:r>
          </a:p>
        </p:txBody>
      </p:sp>
      <p:sp>
        <p:nvSpPr>
          <p:cNvPr id="753" name="Shape 754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55" name="Chart 7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10835640" cy="3364992"/>
          </a:xfrm>
          <a:prstGeom prst="rect">
            <a:avLst/>
          </a:prstGeom>
        </p:spPr>
      </p:pic>
      <p:sp>
        <p:nvSpPr>
          <p:cNvPr id="757" name="Rectangle 758"/>
          <p:cNvSpPr>
            <a:spLocks noGrp="1"/>
          </p:cNvSpPr>
          <p:nvPr/>
        </p:nvSpPr>
        <p:spPr>
          <a:xfrm>
            <a:off x="722376" y="5358384"/>
            <a:ext cx="10780776" cy="822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marL="285750" indent="-285750" algn="l">
              <a:lnSpc>
                <a:spcPct val="98000"/>
              </a:lnSpc>
              <a:buFont typeface="Arial" panose="020B0604020202020204" pitchFamily="34" charset="0"/>
              <a:buChar char="•"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On the galloping task TD3 scored within </a:t>
            </a:r>
            <a:r>
              <a:rPr lang="en-IN"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% of SAC, and it moves faster, yet it is airborne for 29% of the stride against SAC's 52%: it found a quick trot rather than a gallop.</a:t>
            </a:r>
            <a:endParaRPr lang="en-US" sz="1425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  <a:p>
            <a:pPr algn="l">
              <a:lnSpc>
                <a:spcPct val="98000"/>
              </a:lnSpc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endParaRPr sz="1425" b="0" i="0" dirty="0">
              <a:solidFill>
                <a:srgbClr val="18232F"/>
              </a:solidFill>
              <a:latin typeface="Segoe UI"/>
              <a:ea typeface="Segoe UI"/>
              <a:cs typeface="Segoe UI"/>
            </a:endParaRPr>
          </a:p>
          <a:p>
            <a:pPr marL="285750" indent="-285750" algn="l">
              <a:lnSpc>
                <a:spcPct val="98000"/>
              </a:lnSpc>
              <a:buFont typeface="Arial" panose="020B0604020202020204" pitchFamily="34" charset="0"/>
              <a:buChar char="•"/>
              <a:defRPr sz="1425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425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On the humanoid PPO drifts sideways almost as fast as it walks forward, so its score comes partly from movement that is not the task at 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Rectangle 81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15</a:t>
            </a:r>
          </a:p>
        </p:txBody>
      </p:sp>
      <p:sp>
        <p:nvSpPr>
          <p:cNvPr id="819" name="Rectangle 82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Go1, walking reward</a:t>
            </a:r>
          </a:p>
        </p:txBody>
      </p:sp>
      <p:sp>
        <p:nvSpPr>
          <p:cNvPr id="821" name="Shape 82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3" name="Rectangle 82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task is to walk forward and keep its feet on the ground.</a:t>
            </a:r>
          </a:p>
        </p:txBody>
      </p:sp>
      <p:sp>
        <p:nvSpPr>
          <p:cNvPr id="825" name="Shape 82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7" name="Video 8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2376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29" name="Shape 83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1" name="Rectangle 83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 dirty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33" name="Rectangle 83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818 steps per attempt. Steady, but stops short of the full attempt.</a:t>
            </a:r>
          </a:p>
        </p:txBody>
      </p:sp>
      <p:sp>
        <p:nvSpPr>
          <p:cNvPr id="835" name="Shape 83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7" name="Video 83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39" name="Shape 84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1" name="Rectangle 84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43" name="Rectangle 84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995 steps of the 1,000. </a:t>
            </a:r>
            <a:r>
              <a:rPr lang="en-IN"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Most Reward</a:t>
            </a:r>
            <a:r>
              <a:rPr sz="1350" b="0" i="0" dirty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845" name="Shape 84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7" name="Video 84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49" name="Shape 85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1" name="Rectangle 85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53" name="Rectangle 85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809 steps per attempt, level with PPO.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Rectangle 81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16</a:t>
            </a:r>
          </a:p>
        </p:txBody>
      </p:sp>
      <p:sp>
        <p:nvSpPr>
          <p:cNvPr id="819" name="Rectangle 82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Unitree Go1, galloping reward</a:t>
            </a:r>
          </a:p>
        </p:txBody>
      </p:sp>
      <p:sp>
        <p:nvSpPr>
          <p:cNvPr id="821" name="Shape 82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3" name="Rectangle 82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task is to leave the ground, not simply to move fast.</a:t>
            </a:r>
          </a:p>
        </p:txBody>
      </p:sp>
      <p:sp>
        <p:nvSpPr>
          <p:cNvPr id="825" name="Shape 82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27" name="Video 8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664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29" name="Shape 83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1" name="Rectangle 83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33" name="Rectangle 83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1.38 m/s with 43% of the stride airborne. A real gallop.</a:t>
            </a:r>
          </a:p>
        </p:txBody>
      </p:sp>
      <p:sp>
        <p:nvSpPr>
          <p:cNvPr id="835" name="Shape 83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7" name="Video 83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39" name="Shape 84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1" name="Rectangle 84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43" name="Rectangle 84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1.52 m/s and 52% airborne: the clearest gallop we trained.</a:t>
            </a:r>
          </a:p>
        </p:txBody>
      </p:sp>
      <p:sp>
        <p:nvSpPr>
          <p:cNvPr id="845" name="Shape 84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7" name="Video 84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49" name="Shape 85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1" name="Rectangle 85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53" name="Rectangle 85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Fastest at 1.65 m/s, but only 29% airborne. This is a quick trot.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Rectangle 858"/>
          <p:cNvSpPr>
            <a:spLocks noGrp="1"/>
          </p:cNvSpPr>
          <p:nvPr/>
        </p:nvSpPr>
        <p:spPr>
          <a:xfrm>
            <a:off x="11109960" y="265176"/>
            <a:ext cx="4023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17</a:t>
            </a:r>
          </a:p>
        </p:txBody>
      </p:sp>
      <p:sp>
        <p:nvSpPr>
          <p:cNvPr id="859" name="Rectangle 860"/>
          <p:cNvSpPr>
            <a:spLocks noGrp="1"/>
          </p:cNvSpPr>
          <p:nvPr/>
        </p:nvSpPr>
        <p:spPr>
          <a:xfrm>
            <a:off x="685800" y="713232"/>
            <a:ext cx="10817352" cy="8046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Valkyrie humanoid, walking forward</a:t>
            </a:r>
          </a:p>
        </p:txBody>
      </p:sp>
      <p:sp>
        <p:nvSpPr>
          <p:cNvPr id="861" name="Shape 862"/>
          <p:cNvSpPr>
            <a:spLocks noGrp="1"/>
          </p:cNvSpPr>
          <p:nvPr/>
        </p:nvSpPr>
        <p:spPr>
          <a:xfrm>
            <a:off x="685800" y="6455664"/>
            <a:ext cx="10817352" cy="9510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3" name="Rectangle 864"/>
          <p:cNvSpPr>
            <a:spLocks noGrp="1"/>
          </p:cNvSpPr>
          <p:nvPr/>
        </p:nvSpPr>
        <p:spPr>
          <a:xfrm>
            <a:off x="722376" y="1700784"/>
            <a:ext cx="10780776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The hardest of the three tasks, and the one that separates the algorithms.</a:t>
            </a:r>
          </a:p>
        </p:txBody>
      </p:sp>
      <p:sp>
        <p:nvSpPr>
          <p:cNvPr id="865" name="Shape 866"/>
          <p:cNvSpPr>
            <a:spLocks noGrp="1"/>
          </p:cNvSpPr>
          <p:nvPr/>
        </p:nvSpPr>
        <p:spPr>
          <a:xfrm>
            <a:off x="685800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67" name="Video 86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664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69" name="Shape 870"/>
          <p:cNvSpPr>
            <a:spLocks noGrp="1"/>
          </p:cNvSpPr>
          <p:nvPr/>
        </p:nvSpPr>
        <p:spPr>
          <a:xfrm>
            <a:off x="685800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5B667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1" name="Rectangle 872"/>
          <p:cNvSpPr>
            <a:spLocks noGrp="1"/>
          </p:cNvSpPr>
          <p:nvPr/>
        </p:nvSpPr>
        <p:spPr>
          <a:xfrm>
            <a:off x="685800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PPO</a:t>
            </a:r>
          </a:p>
        </p:txBody>
      </p:sp>
      <p:sp>
        <p:nvSpPr>
          <p:cNvPr id="873" name="Rectangle 874"/>
          <p:cNvSpPr>
            <a:spLocks noGrp="1"/>
          </p:cNvSpPr>
          <p:nvPr/>
        </p:nvSpPr>
        <p:spPr>
          <a:xfrm>
            <a:off x="685800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Stalls at 204-step attempts and drifts sideways almost as fast as it walks.</a:t>
            </a:r>
          </a:p>
        </p:txBody>
      </p:sp>
      <p:sp>
        <p:nvSpPr>
          <p:cNvPr id="875" name="Shape 876"/>
          <p:cNvSpPr>
            <a:spLocks noGrp="1"/>
          </p:cNvSpPr>
          <p:nvPr/>
        </p:nvSpPr>
        <p:spPr>
          <a:xfrm>
            <a:off x="4315968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77" name="Video 87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70832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79" name="Shape 880"/>
          <p:cNvSpPr>
            <a:spLocks noGrp="1"/>
          </p:cNvSpPr>
          <p:nvPr/>
        </p:nvSpPr>
        <p:spPr>
          <a:xfrm>
            <a:off x="4315968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1" name="Rectangle 882"/>
          <p:cNvSpPr>
            <a:spLocks noGrp="1"/>
          </p:cNvSpPr>
          <p:nvPr/>
        </p:nvSpPr>
        <p:spPr>
          <a:xfrm>
            <a:off x="4315968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SAC</a:t>
            </a:r>
          </a:p>
        </p:txBody>
      </p:sp>
      <p:sp>
        <p:nvSpPr>
          <p:cNvPr id="883" name="Rectangle 884"/>
          <p:cNvSpPr>
            <a:spLocks noGrp="1"/>
          </p:cNvSpPr>
          <p:nvPr/>
        </p:nvSpPr>
        <p:spPr>
          <a:xfrm>
            <a:off x="4315968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Walks 821 steps at 0.96 m/s. The only humanoid result worth showing.</a:t>
            </a:r>
          </a:p>
        </p:txBody>
      </p:sp>
      <p:sp>
        <p:nvSpPr>
          <p:cNvPr id="885" name="Shape 886"/>
          <p:cNvSpPr>
            <a:spLocks noGrp="1"/>
          </p:cNvSpPr>
          <p:nvPr/>
        </p:nvSpPr>
        <p:spPr>
          <a:xfrm>
            <a:off x="7946136" y="2048256"/>
            <a:ext cx="3474720" cy="2157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87" name="Video 88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2103120"/>
            <a:ext cx="3364992" cy="1892808"/>
          </a:xfrm>
          <a:prstGeom prst="roundRect">
            <a:avLst>
              <a:gd name="adj" fmla="val 4000"/>
            </a:avLst>
          </a:prstGeom>
        </p:spPr>
      </p:pic>
      <p:sp>
        <p:nvSpPr>
          <p:cNvPr id="889" name="Shape 890"/>
          <p:cNvSpPr>
            <a:spLocks noGrp="1"/>
          </p:cNvSpPr>
          <p:nvPr/>
        </p:nvSpPr>
        <p:spPr>
          <a:xfrm>
            <a:off x="7946136" y="4315968"/>
            <a:ext cx="1188720" cy="301752"/>
          </a:xfrm>
          <a:prstGeom prst="roundRect">
            <a:avLst>
              <a:gd name="adj" fmla="val 20000"/>
            </a:avLst>
          </a:prstGeom>
          <a:solidFill>
            <a:srgbClr val="B8502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1" name="Rectangle 892"/>
          <p:cNvSpPr>
            <a:spLocks noGrp="1"/>
          </p:cNvSpPr>
          <p:nvPr/>
        </p:nvSpPr>
        <p:spPr>
          <a:xfrm>
            <a:off x="7946136" y="4352544"/>
            <a:ext cx="11887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98000"/>
              </a:lnSpc>
              <a:buNone/>
              <a:def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TD3</a:t>
            </a:r>
          </a:p>
        </p:txBody>
      </p:sp>
      <p:sp>
        <p:nvSpPr>
          <p:cNvPr id="893" name="Rectangle 894"/>
          <p:cNvSpPr>
            <a:spLocks noGrp="1"/>
          </p:cNvSpPr>
          <p:nvPr/>
        </p:nvSpPr>
        <p:spPr>
          <a:xfrm>
            <a:off x="7946136" y="4773168"/>
            <a:ext cx="347472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18232F"/>
                </a:solidFill>
                <a:latin typeface="Segoe UI"/>
                <a:ea typeface="Segoe UI"/>
                <a:cs typeface="Segoe UI"/>
              </a:rPr>
              <a:t>Reaches 206 steps, then the run breaks down numerically.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327C71-89E5-4DC0-9D56-A02B3DE16FFC}"/>
              </a:ext>
            </a:extLst>
          </p:cNvPr>
          <p:cNvSpPr>
            <a:spLocks noGrp="1"/>
          </p:cNvSpPr>
          <p:nvPr/>
        </p:nvSpPr>
        <p:spPr>
          <a:xfrm>
            <a:off x="11106150" y="266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98000"/>
              </a:lnSpc>
              <a:buNone/>
              <a:def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050" b="0" i="0">
                <a:solidFill>
                  <a:srgbClr val="5B6670"/>
                </a:solidFill>
                <a:latin typeface="Segoe UI Semibold"/>
                <a:ea typeface="Segoe UI Semibold"/>
                <a:cs typeface="Segoe UI Semibold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D91FB-1787-4C67-859E-017588FDDAB6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600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lang="en-IN" sz="3600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Conclusion</a:t>
            </a:r>
            <a:endParaRPr sz="3600" b="1" i="0" dirty="0">
              <a:solidFill>
                <a:srgbClr val="18232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A21A2-13B6-4926-ABBD-69138BA7BF1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5DA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FB8E4-18FA-43D0-AE80-A34CFF8B5AB2}"/>
              </a:ext>
            </a:extLst>
          </p:cNvPr>
          <p:cNvSpPr>
            <a:spLocks noGrp="1"/>
          </p:cNvSpPr>
          <p:nvPr/>
        </p:nvSpPr>
        <p:spPr>
          <a:xfrm>
            <a:off x="68580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 dirty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Academic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199F9-3474-4EC1-A0AD-84FB456CC3C7}"/>
              </a:ext>
            </a:extLst>
          </p:cNvPr>
          <p:cNvSpPr>
            <a:spLocks noGrp="1"/>
          </p:cNvSpPr>
          <p:nvPr/>
        </p:nvSpPr>
        <p:spPr>
          <a:xfrm>
            <a:off x="68580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3B12A-A179-4C4C-BE11-C088DC524B7B}"/>
              </a:ext>
            </a:extLst>
          </p:cNvPr>
          <p:cNvSpPr>
            <a:spLocks noGrp="1"/>
          </p:cNvSpPr>
          <p:nvPr/>
        </p:nvSpPr>
        <p:spPr>
          <a:xfrm>
            <a:off x="68580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repeatable way to teach reward design and compare training runs, without spending the class on setting tools up.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F95D3E-F5E0-46EA-84CC-5803B483C0DA}"/>
              </a:ext>
            </a:extLst>
          </p:cNvPr>
          <p:cNvSpPr>
            <a:spLocks noGrp="1"/>
          </p:cNvSpPr>
          <p:nvPr/>
        </p:nvSpPr>
        <p:spPr>
          <a:xfrm>
            <a:off x="443865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Commercial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5373A1-EB23-4E65-A3CD-03769954B67C}"/>
              </a:ext>
            </a:extLst>
          </p:cNvPr>
          <p:cNvSpPr>
            <a:spLocks noGrp="1"/>
          </p:cNvSpPr>
          <p:nvPr/>
        </p:nvSpPr>
        <p:spPr>
          <a:xfrm>
            <a:off x="443865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7D7BC-86B2-44D2-A1FF-C9C2D6668AAF}"/>
              </a:ext>
            </a:extLst>
          </p:cNvPr>
          <p:cNvSpPr>
            <a:spLocks noGrp="1"/>
          </p:cNvSpPr>
          <p:nvPr/>
        </p:nvSpPr>
        <p:spPr>
          <a:xfrm>
            <a:off x="443865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faster way to get from a robot file to a working robot, before spending time on real hardware.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B55FCB-27A1-4D06-97F7-957B9B4FA6A2}"/>
              </a:ext>
            </a:extLst>
          </p:cNvPr>
          <p:cNvSpPr>
            <a:spLocks noGrp="1"/>
          </p:cNvSpPr>
          <p:nvPr/>
        </p:nvSpPr>
        <p:spPr>
          <a:xfrm>
            <a:off x="8191500" y="1995488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8232F"/>
                </a:solidFill>
                <a:latin typeface="Georgia"/>
                <a:ea typeface="Georgia"/>
                <a:cs typeface="Georgia"/>
              </a:rPr>
              <a:t>Project proof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39CFEB-E24E-4680-82D4-90AEBE7AF924}"/>
              </a:ext>
            </a:extLst>
          </p:cNvPr>
          <p:cNvSpPr>
            <a:spLocks noGrp="1"/>
          </p:cNvSpPr>
          <p:nvPr/>
        </p:nvSpPr>
        <p:spPr>
          <a:xfrm>
            <a:off x="8191500" y="2547938"/>
            <a:ext cx="762000" cy="38100"/>
          </a:xfrm>
          <a:prstGeom prst="rect">
            <a:avLst/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F9975-45B8-4E34-BE4D-27780281BD44}"/>
              </a:ext>
            </a:extLst>
          </p:cNvPr>
          <p:cNvSpPr>
            <a:spLocks noGrp="1"/>
          </p:cNvSpPr>
          <p:nvPr/>
        </p:nvSpPr>
        <p:spPr>
          <a:xfrm>
            <a:off x="8191500" y="2871788"/>
            <a:ext cx="3143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75" b="0" i="0">
                <a:solidFill>
                  <a:srgbClr val="5B6670"/>
                </a:solidFill>
                <a:latin typeface="Segoe UI"/>
                <a:ea typeface="Segoe UI"/>
                <a:cs typeface="Segoe UI"/>
              </a:defRPr>
            </a:pPr>
            <a:r>
              <a:rPr sz="1575" b="0" i="0" dirty="0">
                <a:solidFill>
                  <a:srgbClr val="5B6670"/>
                </a:solidFill>
                <a:latin typeface="Segoe UI"/>
                <a:ea typeface="Segoe UI"/>
                <a:cs typeface="Segoe UI"/>
              </a:rPr>
              <a:t>A galloping Go1, a walking Go1, early humanoid walking, and a comparison of three algorithms that made SAC our default.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47C784-3C29-4B0B-8CEE-AF1353C9DD6A}"/>
              </a:ext>
            </a:extLst>
          </p:cNvPr>
          <p:cNvSpPr>
            <a:spLocks noGrp="1"/>
          </p:cNvSpPr>
          <p:nvPr/>
        </p:nvSpPr>
        <p:spPr>
          <a:xfrm>
            <a:off x="685800" y="4481513"/>
            <a:ext cx="10058400" cy="723900"/>
          </a:xfrm>
          <a:prstGeom prst="roundRect">
            <a:avLst>
              <a:gd name="adj" fmla="val 26316"/>
            </a:avLst>
          </a:prstGeom>
          <a:solidFill>
            <a:srgbClr val="0B6B6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4E1D3-64A4-42DB-9CEC-EBCDFBCBD948}"/>
              </a:ext>
            </a:extLst>
          </p:cNvPr>
          <p:cNvSpPr>
            <a:spLocks noGrp="1"/>
          </p:cNvSpPr>
          <p:nvPr/>
        </p:nvSpPr>
        <p:spPr>
          <a:xfrm>
            <a:off x="1028700" y="4652963"/>
            <a:ext cx="937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5826" lnSpcReduction="20000"/>
          </a:bodyPr>
          <a:lstStyle/>
          <a:p>
            <a:pPr algn="ctr">
              <a:lnSpc>
                <a:spcPct val="98000"/>
              </a:lnSpc>
              <a:buNone/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EasyRTG turns robot training from a pile of tools into a </a:t>
            </a:r>
            <a:r>
              <a:rPr lang="en-IN"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simple </a:t>
            </a:r>
            <a:r>
              <a:rPr sz="2175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process you can follow.</a:t>
            </a:r>
          </a:p>
        </p:txBody>
      </p:sp>
    </p:spTree>
    <p:extLst>
      <p:ext uri="{BB962C8B-B14F-4D97-AF65-F5344CB8AC3E}">
        <p14:creationId xmlns:p14="http://schemas.microsoft.com/office/powerpoint/2010/main" val="8955587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</TotalTime>
  <Words>1686</Words>
  <Application>Microsoft Office PowerPoint</Application>
  <DocSecurity>0</DocSecurity>
  <PresentationFormat>Widescreen</PresentationFormat>
  <Paragraphs>226</Paragraphs>
  <Slides>18</Slides>
  <Notes>1</Notes>
  <HiddenSlides>0</HiddenSlides>
  <MMClips>9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Georgia</vt:lpstr>
      <vt:lpstr>Segoe UI</vt:lpstr>
      <vt:lpstr>Segoe UI Semibold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EasyRTG — Final Project Submission</dc:title>
  <dc:creator>Shivam Chavan</dc:creator>
  <cp:lastModifiedBy>Shivam Chavan (MSc Art Int + Comp Sc FT (Dub))</cp:lastModifiedBy>
  <cp:revision>84</cp:revision>
  <dcterms:created xsi:type="dcterms:W3CDTF">2026-08-06T19:20:54Z</dcterms:created>
  <dcterms:modified xsi:type="dcterms:W3CDTF">2026-08-18T10:22:52Z</dcterms:modified>
</cp:coreProperties>
</file>